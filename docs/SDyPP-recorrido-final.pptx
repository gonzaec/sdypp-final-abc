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Calibri"/>
              </a:defRPr>
            </a:pPr>
            <a:r>
              <a:rPr sz="1200" b="0" i="0" u="none" strike="noStrike">
                <a:solidFill>
                  <a:srgbClr val="1F2933"/>
                </a:solidFill>
                <a:latin typeface="Calibri"/>
              </a:rPr>
              <a:t>Mismo test: 10 transacciones, dificultad 6, 4 workers</a:t>
            </a:r>
          </a:p>
        </c:rich>
      </c:tx>
      <c:layout/>
      <c:overlay val="0"/>
    </c:title>
    <c:autoTitleDeleted val="0"/>
    <c:plotArea>
      <c:layout/>
      <c:barChart>
        <c:barDir val="col"/>
        <c:grouping val="clustered"/>
        <c:varyColors val="0"/>
        <c:ser>
          <c:idx val="0"/>
          <c:order val="0"/>
          <c:tx>
            <c:strRef>
              <c:f>Sheet1!$B$1</c:f>
              <c:strCache>
                <c:ptCount val="1"/>
                <c:pt idx="0">
                  <c:v>Antes del arreglo</c:v>
                </c:pt>
              </c:strCache>
            </c:strRef>
          </c:tx>
          <c:spPr>
            <a:solidFill>
              <a:srgbClr val="E8871E"/>
            </a:solidFill>
            <a:effectLst/>
          </c:spPr>
          <c:invertIfNegative val="0"/>
          <c:dLbls>
            <c:numFmt formatCode="#,##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Tiempo total (s)</c:v>
                  </c:pt>
                  <c:pt idx="1">
                    <c:v>Tiempo promedio (s)</c:v>
                  </c:pt>
                </c:lvl>
              </c:multiLvlStrCache>
            </c:multiLvlStrRef>
          </c:cat>
          <c:val>
            <c:numRef>
              <c:f>Sheet1!$B$2:$B$3</c:f>
              <c:numCache>
                <c:formatCode>General</c:formatCode>
                <c:ptCount val="2"/>
                <c:pt idx="0">
                  <c:v>250.9</c:v>
                </c:pt>
                <c:pt idx="1">
                  <c:v>236.9</c:v>
                </c:pt>
              </c:numCache>
            </c:numRef>
          </c:val>
        </c:ser>
        <c:ser>
          <c:idx val="1"/>
          <c:order val="1"/>
          <c:tx>
            <c:strRef>
              <c:f>Sheet1!$C$1</c:f>
              <c:strCache>
                <c:ptCount val="1"/>
                <c:pt idx="0">
                  <c:v>Después del arreglo</c:v>
                </c:pt>
              </c:strCache>
            </c:strRef>
          </c:tx>
          <c:spPr>
            <a:solidFill>
              <a:srgbClr val="2FBF71"/>
            </a:solidFill>
            <a:effectLst/>
          </c:spPr>
          <c:invertIfNegative val="0"/>
          <c:dLbls>
            <c:numFmt formatCode="#,##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Tiempo total (s)</c:v>
                  </c:pt>
                  <c:pt idx="1">
                    <c:v>Tiempo promedio (s)</c:v>
                  </c:pt>
                </c:lvl>
              </c:multiLvlStrCache>
            </c:multiLvlStrRef>
          </c:cat>
          <c:val>
            <c:numRef>
              <c:f>Sheet1!$C$2:$C$3</c:f>
              <c:numCache>
                <c:formatCode>General</c:formatCode>
                <c:ptCount val="2"/>
                <c:pt idx="0">
                  <c:v>37.6</c:v>
                </c:pt>
                <c:pt idx="1">
                  <c:v>37.4</c:v>
                </c:pt>
              </c:numCache>
            </c:numRef>
          </c:val>
        </c:ser>
        <c:dLbls>
          <c:numFmt formatCode="#,##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606D"/>
                </a:solidFill>
                <a:latin typeface="Arial"/>
              </a:defRPr>
            </a:pPr>
            <a:endParaRPr lang="en-US"/>
          </a:p>
        </c:txPr>
        <c:crossAx val="2094734552"/>
        <c:crosses val="autoZero"/>
        <c:auto val="1"/>
        <c:lblAlgn val="ctr"/>
        <c:noMultiLvlLbl val="1"/>
      </c:catAx>
      <c:valAx>
        <c:axId val="2094734552"/>
        <c:scaling>
          <c:orientation val="minMax"/>
          <c:max val="290"/>
        </c:scaling>
        <c:delete val="0"/>
        <c:axPos val="l"/>
        <c:majorGridlines>
          <c:spPr>
            <a:ln w="1270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606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606D"/>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Calibri"/>
              </a:defRPr>
            </a:pPr>
            <a:r>
              <a:rPr sz="1200" b="0" i="0" u="none" strike="noStrike">
                <a:solidFill>
                  <a:srgbClr val="1F2933"/>
                </a:solidFill>
                <a:latin typeface="Calibri"/>
              </a:rPr>
              <a:t>10 transacciones, dificultad 5, 4 workers, 3 repeticiones</a:t>
            </a:r>
          </a:p>
        </c:rich>
      </c:tx>
      <c:layout/>
      <c:overlay val="0"/>
    </c:title>
    <c:autoTitleDeleted val="0"/>
    <c:plotArea>
      <c:layout/>
      <c:barChart>
        <c:barDir val="col"/>
        <c:grouping val="clustered"/>
        <c:varyColors val="0"/>
        <c:ser>
          <c:idx val="0"/>
          <c:order val="0"/>
          <c:tx>
            <c:strRef>
              <c:f>Sheet1!$B$1</c:f>
              <c:strCache>
                <c:ptCount val="1"/>
                <c:pt idx="0">
                  <c:v>Cooperativo</c:v>
                </c:pt>
              </c:strCache>
            </c:strRef>
          </c:tx>
          <c:spPr>
            <a:solidFill>
              <a:srgbClr val="2FBF71"/>
            </a:solidFill>
            <a:effectLst/>
          </c:spPr>
          <c:invertIfNegative val="0"/>
          <c:dLbls>
            <c:numFmt formatCode="#,##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Tiempo promedio (s)</c:v>
                  </c:pt>
                  <c:pt idx="1">
                    <c:v>Millones de hashes</c:v>
                  </c:pt>
                </c:lvl>
              </c:multiLvlStrCache>
            </c:multiLvlStrRef>
          </c:cat>
          <c:val>
            <c:numRef>
              <c:f>Sheet1!$B$2:$B$3</c:f>
              <c:numCache>
                <c:formatCode>General</c:formatCode>
                <c:ptCount val="2"/>
                <c:pt idx="0">
                  <c:v>4.57</c:v>
                </c:pt>
                <c:pt idx="1">
                  <c:v>2.28</c:v>
                </c:pt>
              </c:numCache>
            </c:numRef>
          </c:val>
        </c:ser>
        <c:ser>
          <c:idx val="1"/>
          <c:order val="1"/>
          <c:tx>
            <c:strRef>
              <c:f>Sheet1!$C$1</c:f>
              <c:strCache>
                <c:ptCount val="1"/>
                <c:pt idx="0">
                  <c:v>Competitivo</c:v>
                </c:pt>
              </c:strCache>
            </c:strRef>
          </c:tx>
          <c:spPr>
            <a:solidFill>
              <a:srgbClr val="E8871E"/>
            </a:solidFill>
            <a:effectLst/>
          </c:spPr>
          <c:invertIfNegative val="0"/>
          <c:dLbls>
            <c:numFmt formatCode="#,##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Tiempo promedio (s)</c:v>
                  </c:pt>
                  <c:pt idx="1">
                    <c:v>Millones de hashes</c:v>
                  </c:pt>
                </c:lvl>
              </c:multiLvlStrCache>
            </c:multiLvlStrRef>
          </c:cat>
          <c:val>
            <c:numRef>
              <c:f>Sheet1!$C$2:$C$3</c:f>
              <c:numCache>
                <c:formatCode>General</c:formatCode>
                <c:ptCount val="2"/>
                <c:pt idx="0">
                  <c:v>10.04</c:v>
                </c:pt>
                <c:pt idx="1">
                  <c:v>4.32</c:v>
                </c:pt>
              </c:numCache>
            </c:numRef>
          </c:val>
        </c:ser>
        <c:dLbls>
          <c:numFmt formatCode="#,##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606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606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606D"/>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Calibri"/>
              </a:defRPr>
            </a:pPr>
            <a:r>
              <a:rPr sz="1200" b="0" i="0" u="none" strike="noStrike">
                <a:solidFill>
                  <a:srgbClr val="1F2933"/>
                </a:solidFill>
                <a:latin typeface="Calibri"/>
              </a:rPr>
              <a:t>El tiempo total crece con el volumen</a:t>
            </a:r>
          </a:p>
        </c:rich>
      </c:tx>
      <c:layout/>
      <c:overlay val="0"/>
    </c:title>
    <c:autoTitleDeleted val="0"/>
    <c:plotArea>
      <c:layout/>
      <c:barChart>
        <c:barDir val="col"/>
        <c:grouping val="clustered"/>
        <c:varyColors val="0"/>
        <c:ser>
          <c:idx val="0"/>
          <c:order val="0"/>
          <c:tx>
            <c:strRef>
              <c:f>Sheet1!$B$1</c:f>
              <c:strCache>
                <c:ptCount val="1"/>
                <c:pt idx="0">
                  <c:v>Tiempo total (s)</c:v>
                </c:pt>
              </c:strCache>
            </c:strRef>
          </c:tx>
          <c:spPr>
            <a:solidFill>
              <a:srgbClr val="1F2933"/>
            </a:solidFill>
            <a:effectLst/>
          </c:spPr>
          <c:invertIfNegative val="0"/>
          <c:dLbls>
            <c:numFmt formatCode="#,##0" sourceLinked="0"/>
            <c:txPr>
              <a:bodyPr/>
              <a:lstStyle/>
              <a:p>
                <a:pPr>
                  <a:defRPr b="0" i="0" strike="noStrike" sz="1200" u="none">
                    <a:solidFill>
                      <a:srgbClr val="1F29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1.000 transacciones</c:v>
                  </c:pt>
                  <c:pt idx="1">
                    <c:v>10.000 transacciones</c:v>
                  </c:pt>
                </c:lvl>
              </c:multiLvlStrCache>
            </c:multiLvlStrRef>
          </c:cat>
          <c:val>
            <c:numRef>
              <c:f>Sheet1!$B$2:$B$3</c:f>
              <c:numCache>
                <c:formatCode>General</c:formatCode>
                <c:ptCount val="2"/>
                <c:pt idx="0">
                  <c:v>46.4</c:v>
                </c:pt>
                <c:pt idx="1">
                  <c:v>266.6</c:v>
                </c:pt>
              </c:numCache>
            </c:numRef>
          </c:val>
        </c:ser>
        <c:dLbls>
          <c:numFmt formatCode="#,##0" sourceLinked="0"/>
          <c:txPr>
            <a:bodyPr/>
            <a:lstStyle/>
            <a:p>
              <a:pPr>
                <a:defRPr b="0" i="0" strike="noStrike" sz="1200" u="none">
                  <a:solidFill>
                    <a:srgbClr val="1F29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606D"/>
                </a:solidFill>
                <a:latin typeface="Arial"/>
              </a:defRPr>
            </a:pPr>
            <a:endParaRPr lang="en-US"/>
          </a:p>
        </c:txPr>
        <c:crossAx val="2094734552"/>
        <c:crosses val="autoZero"/>
        <c:auto val="1"/>
        <c:lblAlgn val="ctr"/>
        <c:noMultiLvlLbl val="1"/>
      </c:catAx>
      <c:valAx>
        <c:axId val="2094734552"/>
        <c:scaling>
          <c:orientation val="minMax"/>
          <c:max val="310"/>
        </c:scaling>
        <c:delete val="0"/>
        <c:axPos val="l"/>
        <c:majorGridlines>
          <c:spPr>
            <a:ln w="1270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606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Calibri"/>
              </a:defRPr>
            </a:pPr>
            <a:r>
              <a:rPr sz="1200" b="0" i="0" u="none" strike="noStrike">
                <a:solidFill>
                  <a:srgbClr val="1F2933"/>
                </a:solidFill>
                <a:latin typeface="Calibri"/>
              </a:rPr>
              <a:t>La latencia individual, casi no</a:t>
            </a:r>
          </a:p>
        </c:rich>
      </c:tx>
      <c:layout/>
      <c:overlay val="0"/>
    </c:title>
    <c:autoTitleDeleted val="0"/>
    <c:plotArea>
      <c:layout/>
      <c:barChart>
        <c:barDir val="col"/>
        <c:grouping val="clustered"/>
        <c:varyColors val="0"/>
        <c:ser>
          <c:idx val="0"/>
          <c:order val="0"/>
          <c:tx>
            <c:strRef>
              <c:f>Sheet1!$B$1</c:f>
              <c:strCache>
                <c:ptCount val="1"/>
                <c:pt idx="0">
                  <c:v>Latencia promedio (s)</c:v>
                </c:pt>
              </c:strCache>
            </c:strRef>
          </c:tx>
          <c:spPr>
            <a:solidFill>
              <a:srgbClr val="2FBF71"/>
            </a:solidFill>
            <a:effectLst/>
          </c:spPr>
          <c:invertIfNegative val="0"/>
          <c:dLbls>
            <c:numFmt formatCode="#,##0" sourceLinked="0"/>
            <c:txPr>
              <a:bodyPr/>
              <a:lstStyle/>
              <a:p>
                <a:pPr>
                  <a:defRPr b="0" i="0" strike="noStrike" sz="1200" u="none">
                    <a:solidFill>
                      <a:srgbClr val="1F29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1.000 transacciones</c:v>
                  </c:pt>
                  <c:pt idx="1">
                    <c:v>10.000 transacciones</c:v>
                  </c:pt>
                </c:lvl>
              </c:multiLvlStrCache>
            </c:multiLvlStrRef>
          </c:cat>
          <c:val>
            <c:numRef>
              <c:f>Sheet1!$B$2:$B$3</c:f>
              <c:numCache>
                <c:formatCode>General</c:formatCode>
                <c:ptCount val="2"/>
                <c:pt idx="0">
                  <c:v>3.41</c:v>
                </c:pt>
                <c:pt idx="1">
                  <c:v>6.61</c:v>
                </c:pt>
              </c:numCache>
            </c:numRef>
          </c:val>
        </c:ser>
        <c:dLbls>
          <c:numFmt formatCode="#,##0" sourceLinked="0"/>
          <c:txPr>
            <a:bodyPr/>
            <a:lstStyle/>
            <a:p>
              <a:pPr>
                <a:defRPr b="0" i="0" strike="noStrike" sz="1200" u="none">
                  <a:solidFill>
                    <a:srgbClr val="1F29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606D"/>
                </a:solidFill>
                <a:latin typeface="Arial"/>
              </a:defRPr>
            </a:pPr>
            <a:endParaRPr lang="en-US"/>
          </a:p>
        </c:txPr>
        <c:crossAx val="2094734552"/>
        <c:crosses val="autoZero"/>
        <c:auto val="1"/>
        <c:lblAlgn val="ctr"/>
        <c:noMultiLvlLbl val="1"/>
      </c:catAx>
      <c:valAx>
        <c:axId val="2094734552"/>
        <c:scaling>
          <c:orientation val="minMax"/>
          <c:max val="9"/>
        </c:scaling>
        <c:delete val="0"/>
        <c:axPos val="l"/>
        <c:majorGridlines>
          <c:spPr>
            <a:ln w="1270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606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3"/>
                </a:solidFill>
                <a:latin typeface="Calibri"/>
              </a:defRPr>
            </a:pPr>
            <a:r>
              <a:rPr sz="1200" b="0" i="0" u="none" strike="noStrike">
                <a:solidFill>
                  <a:srgbClr val="1F2933"/>
                </a:solidFill>
                <a:latin typeface="Calibri"/>
              </a:rPr>
              <a:t>Tiempo de confirmación (s) — 30 transacciones, dificultad 4</a:t>
            </a:r>
          </a:p>
        </c:rich>
      </c:tx>
      <c:layout/>
      <c:overlay val="0"/>
    </c:title>
    <c:autoTitleDeleted val="0"/>
    <c:plotArea>
      <c:layout/>
      <c:barChart>
        <c:barDir val="col"/>
        <c:grouping val="clustered"/>
        <c:varyColors val="0"/>
        <c:ser>
          <c:idx val="0"/>
          <c:order val="0"/>
          <c:tx>
            <c:strRef>
              <c:f>Sheet1!$B$1</c:f>
              <c:strCache>
                <c:ptCount val="1"/>
                <c:pt idx="0">
                  <c:v>1 worker</c:v>
                </c:pt>
              </c:strCache>
            </c:strRef>
          </c:tx>
          <c:spPr>
            <a:solidFill>
              <a:srgbClr val="1F2933"/>
            </a:solidFill>
            <a:effectLst/>
          </c:spPr>
          <c:invertIfNegative val="0"/>
          <c:dLbls>
            <c:numFmt formatCode="#,##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Fragmento grande (25%)</c:v>
                  </c:pt>
                  <c:pt idx="1">
                    <c:v>Fragmento chico (10%)</c:v>
                  </c:pt>
                </c:lvl>
              </c:multiLvlStrCache>
            </c:multiLvlStrRef>
          </c:cat>
          <c:val>
            <c:numRef>
              <c:f>Sheet1!$B$2:$B$3</c:f>
              <c:numCache>
                <c:formatCode>General</c:formatCode>
                <c:ptCount val="2"/>
                <c:pt idx="0">
                  <c:v>17.74</c:v>
                </c:pt>
                <c:pt idx="1">
                  <c:v>3.51</c:v>
                </c:pt>
              </c:numCache>
            </c:numRef>
          </c:val>
        </c:ser>
        <c:ser>
          <c:idx val="1"/>
          <c:order val="1"/>
          <c:tx>
            <c:strRef>
              <c:f>Sheet1!$C$1</c:f>
              <c:strCache>
                <c:ptCount val="1"/>
                <c:pt idx="0">
                  <c:v>2 workers</c:v>
                </c:pt>
              </c:strCache>
            </c:strRef>
          </c:tx>
          <c:spPr>
            <a:solidFill>
              <a:srgbClr val="2FBF71"/>
            </a:solidFill>
            <a:effectLst/>
          </c:spPr>
          <c:invertIfNegative val="0"/>
          <c:dLbls>
            <c:numFmt formatCode="#,##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cat>
            <c:multiLvlStrRef>
              <c:f>Sheet1!$A$2:$A$3</c:f>
              <c:multiLvlStrCache>
                <c:ptCount val="2"/>
                <c:lvl>
                  <c:pt idx="0">
                    <c:v>Fragmento grande (25%)</c:v>
                  </c:pt>
                  <c:pt idx="1">
                    <c:v>Fragmento chico (10%)</c:v>
                  </c:pt>
                </c:lvl>
              </c:multiLvlStrCache>
            </c:multiLvlStrRef>
          </c:cat>
          <c:val>
            <c:numRef>
              <c:f>Sheet1!$C$2:$C$3</c:f>
              <c:numCache>
                <c:formatCode>General</c:formatCode>
                <c:ptCount val="2"/>
                <c:pt idx="0">
                  <c:v>8.32</c:v>
                </c:pt>
                <c:pt idx="1">
                  <c:v>4.37</c:v>
                </c:pt>
              </c:numCache>
            </c:numRef>
          </c:val>
        </c:ser>
        <c:dLbls>
          <c:numFmt formatCode="#,##0" sourceLinked="0"/>
          <c:txPr>
            <a:bodyPr/>
            <a:lstStyle/>
            <a:p>
              <a:pPr>
                <a:defRPr b="0" i="0" strike="noStrike" sz="1100" u="none">
                  <a:solidFill>
                    <a:srgbClr val="1F29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606D"/>
                </a:solidFill>
                <a:latin typeface="Arial"/>
              </a:defRPr>
            </a:pPr>
            <a:endParaRPr lang="en-US"/>
          </a:p>
        </c:txPr>
        <c:crossAx val="2094734552"/>
        <c:crosses val="autoZero"/>
        <c:auto val="1"/>
        <c:lblAlgn val="ctr"/>
        <c:noMultiLvlLbl val="1"/>
      </c:catAx>
      <c:valAx>
        <c:axId val="2094734552"/>
        <c:scaling>
          <c:orientation val="minMax"/>
          <c:max val="21"/>
        </c:scaling>
        <c:delete val="0"/>
        <c:axPos val="l"/>
        <c:majorGridlines>
          <c:spPr>
            <a:ln w="1270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606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606D"/>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trabajo realizado desde el commit c80d715 hasta el último. El objetivo es mostrar no solo qué se agregó, sino qué se midió y qué se aprendió midiendo.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checklist se volvió el instrumento de trabajo: cada ítem con su evidencia verificable en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grueso del volumen no es código nuevo de features sino evidencia: mediciones, tests y documentación.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fue el desbloqueo: sin entorno reproducible no había forma de medir ni de demostrar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tests corriendo en verde. Los de Python tardan 3 segundos y no necesitan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métricas nuevas más cuatro paneles de Grafana. La decisión sobre cardinalidad es la que un evaluador puede preguntar.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esto está escrito y validado, pero no aplicado: la cuenta de GCP se dio de baja. Se verifica en el próximo despliegue.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era un límite de cómputo sino una constante mal dimensionada. Medir la velocidad primero fue lo que lo reveló.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arreglo fue chico: el NCT ya purgaba una cola, faltaba hacer lo mismo con la otra antes de publicar un intento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hizo falta tocar el NCT: el mecanismo que descarta soluciones tardías ya existía y sirve de árbitro.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distinción medido / calculado es deliberada y está declarada en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100.000 del enunciado no se corrieron: al ritmo medido son 44 minutos y el throughput ya está caracterizado.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síntesis de los dos pilares: optimizar el componente más llamativo no sirve si el cuello está en otro 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qué no funciona y por qué suma más credibilidad que presentar todo como un éxito.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valor del trabajo no fue solo construir, fue medir lo construido y corregir lo que la medición mostró.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323F4B"/>
          </a:solidFill>
          <a:ln w="12700">
            <a:solidFill>
              <a:srgbClr val="323F4B"/>
            </a:solidFill>
            <a:prstDash val="solid"/>
          </a:ln>
        </p:spPr>
      </p:sp>
      <p:sp>
        <p:nvSpPr>
          <p:cNvPr id="3" name="Text 1"/>
          <p:cNvSpPr/>
          <p:nvPr/>
        </p:nvSpPr>
        <p:spPr>
          <a:xfrm>
            <a:off x="640080" y="1737360"/>
            <a:ext cx="10058400" cy="274320"/>
          </a:xfrm>
          <a:prstGeom prst="rect">
            <a:avLst/>
          </a:prstGeom>
          <a:noFill/>
          <a:ln/>
        </p:spPr>
        <p:txBody>
          <a:bodyPr wrap="square" lIns="0" tIns="0" rIns="0" bIns="0" rtlCol="0" anchor="ctr"/>
          <a:lstStyle/>
          <a:p>
            <a:pPr indent="0" marL="0">
              <a:buNone/>
            </a:pPr>
            <a:r>
              <a:rPr lang="en-US" sz="1200" b="1" spc="200" kern="0" dirty="0">
                <a:solidFill>
                  <a:srgbClr val="2FBF71"/>
                </a:solidFill>
                <a:latin typeface="Calibri" pitchFamily="34" charset="0"/>
                <a:ea typeface="Calibri" pitchFamily="34" charset="-122"/>
                <a:cs typeface="Calibri" pitchFamily="34" charset="-120"/>
              </a:rPr>
              <a:t>SISTEMAS DISTRIBUIDOS Y PROGRAMACIÓN PARALELA — UNLU</a:t>
            </a:r>
            <a:endParaRPr lang="en-US" sz="1200" dirty="0"/>
          </a:p>
        </p:txBody>
      </p:sp>
      <p:sp>
        <p:nvSpPr>
          <p:cNvPr id="4" name="Text 2"/>
          <p:cNvSpPr/>
          <p:nvPr/>
        </p:nvSpPr>
        <p:spPr>
          <a:xfrm>
            <a:off x="640080" y="2148840"/>
            <a:ext cx="1051560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Trabajo Final: Tesera</a:t>
            </a:r>
            <a:endParaRPr lang="en-US" sz="4600" dirty="0"/>
          </a:p>
        </p:txBody>
      </p:sp>
      <p:sp>
        <p:nvSpPr>
          <p:cNvPr id="5" name="Text 3"/>
          <p:cNvSpPr/>
          <p:nvPr/>
        </p:nvSpPr>
        <p:spPr>
          <a:xfrm>
            <a:off x="640080" y="3017520"/>
            <a:ext cx="10058400" cy="411480"/>
          </a:xfrm>
          <a:prstGeom prst="rect">
            <a:avLst/>
          </a:prstGeom>
          <a:noFill/>
          <a:ln/>
        </p:spPr>
        <p:txBody>
          <a:bodyPr wrap="square" lIns="0" tIns="0" rIns="0" bIns="0" rtlCol="0" anchor="ctr"/>
          <a:lstStyle/>
          <a:p>
            <a:pPr indent="0" marL="0">
              <a:buNone/>
            </a:pPr>
            <a:r>
              <a:rPr lang="en-US" sz="1900" dirty="0">
                <a:solidFill>
                  <a:srgbClr val="CBD2D9"/>
                </a:solidFill>
                <a:latin typeface="Calibri" pitchFamily="34" charset="0"/>
                <a:ea typeface="Calibri" pitchFamily="34" charset="-122"/>
                <a:cs typeface="Calibri" pitchFamily="34" charset="-120"/>
              </a:rPr>
              <a:t>Sistema de entradas con blockchain propia y Proof of Work</a:t>
            </a:r>
            <a:endParaRPr lang="en-US" sz="1900" dirty="0"/>
          </a:p>
        </p:txBody>
      </p:sp>
      <p:sp>
        <p:nvSpPr>
          <p:cNvPr id="6" name="Text 4"/>
          <p:cNvSpPr/>
          <p:nvPr/>
        </p:nvSpPr>
        <p:spPr>
          <a:xfrm>
            <a:off x="640080" y="3977640"/>
            <a:ext cx="100584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Recorrido de la última etapa de desarrollo</a:t>
            </a:r>
            <a:endParaRPr lang="en-US" sz="1500" dirty="0"/>
          </a:p>
        </p:txBody>
      </p:sp>
      <p:sp>
        <p:nvSpPr>
          <p:cNvPr id="7" name="Text 5"/>
          <p:cNvSpPr/>
          <p:nvPr/>
        </p:nvSpPr>
        <p:spPr>
          <a:xfrm>
            <a:off x="640080" y="4343400"/>
            <a:ext cx="10058400" cy="320040"/>
          </a:xfrm>
          <a:prstGeom prst="rect">
            <a:avLst/>
          </a:prstGeom>
          <a:noFill/>
          <a:ln/>
        </p:spPr>
        <p:txBody>
          <a:bodyPr wrap="square" lIns="0" tIns="0" rIns="0" bIns="0" rtlCol="0" anchor="ctr"/>
          <a:lstStyle/>
          <a:p>
            <a:pPr indent="0" marL="0">
              <a:buNone/>
            </a:pPr>
            <a:r>
              <a:rPr lang="en-US" sz="1300" dirty="0">
                <a:solidFill>
                  <a:srgbClr val="7B8794"/>
                </a:solidFill>
                <a:latin typeface="Calibri" pitchFamily="34" charset="0"/>
                <a:ea typeface="Calibri" pitchFamily="34" charset="-122"/>
                <a:cs typeface="Calibri" pitchFamily="34" charset="-120"/>
              </a:rPr>
              <a:t>34 commits · 106 archivos · +17.733 líneas · junio a agosto de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PANORAMA</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El punto de partida y el resultado</a:t>
            </a:r>
            <a:endParaRPr lang="en-US" sz="3200" dirty="0"/>
          </a:p>
        </p:txBody>
      </p:sp>
      <p:sp>
        <p:nvSpPr>
          <p:cNvPr id="4" name="Text 2"/>
          <p:cNvSpPr/>
          <p:nvPr/>
        </p:nvSpPr>
        <p:spPr>
          <a:xfrm>
            <a:off x="640080" y="1481328"/>
            <a:ext cx="10424160" cy="457200"/>
          </a:xfrm>
          <a:prstGeom prst="rect">
            <a:avLst/>
          </a:prstGeom>
          <a:noFill/>
          <a:ln/>
        </p:spPr>
        <p:txBody>
          <a:bodyPr wrap="square" lIns="0" tIns="0" rIns="0" bIns="0" rtlCol="0" anchor="ctr"/>
          <a:lstStyle/>
          <a:p>
            <a:pPr indent="0" marL="0">
              <a:buNone/>
            </a:pPr>
            <a:r>
              <a:rPr lang="en-US" sz="1400" dirty="0">
                <a:solidFill>
                  <a:srgbClr val="52606D"/>
                </a:solidFill>
                <a:latin typeface="Calibri" pitchFamily="34" charset="0"/>
                <a:ea typeface="Calibri" pitchFamily="34" charset="-122"/>
                <a:cs typeface="Calibri" pitchFamily="34" charset="-120"/>
              </a:rPr>
              <a:t>Auditamos el repositorio contra el checklist de la cátedra, ítem por ítem. Ese diagnóstico inicial ordenó todo el trabajo posterior.</a:t>
            </a:r>
            <a:endParaRPr lang="en-US" sz="1400" dirty="0"/>
          </a:p>
        </p:txBody>
      </p:sp>
      <p:sp>
        <p:nvSpPr>
          <p:cNvPr id="5" name="Shape 3"/>
          <p:cNvSpPr/>
          <p:nvPr/>
        </p:nvSpPr>
        <p:spPr>
          <a:xfrm>
            <a:off x="640080" y="2194560"/>
            <a:ext cx="3108960" cy="1783080"/>
          </a:xfrm>
          <a:prstGeom prst="roundRect">
            <a:avLst>
              <a:gd name="adj" fmla="val 4103"/>
            </a:avLst>
          </a:prstGeom>
          <a:solidFill>
            <a:srgbClr val="F0F4F8"/>
          </a:solidFill>
          <a:ln w="12700">
            <a:solidFill>
              <a:srgbClr val="F0F4F8"/>
            </a:solidFill>
            <a:prstDash val="solid"/>
          </a:ln>
        </p:spPr>
      </p:sp>
      <p:sp>
        <p:nvSpPr>
          <p:cNvPr id="6" name="Text 4"/>
          <p:cNvSpPr/>
          <p:nvPr/>
        </p:nvSpPr>
        <p:spPr>
          <a:xfrm>
            <a:off x="868680" y="2359152"/>
            <a:ext cx="2651760" cy="685800"/>
          </a:xfrm>
          <a:prstGeom prst="rect">
            <a:avLst/>
          </a:prstGeom>
          <a:noFill/>
          <a:ln/>
        </p:spPr>
        <p:txBody>
          <a:bodyPr wrap="square" lIns="0" tIns="0" rIns="0" bIns="0" rtlCol="0" anchor="ctr"/>
          <a:lstStyle/>
          <a:p>
            <a:pPr indent="0" marL="0">
              <a:buNone/>
            </a:pPr>
            <a:r>
              <a:rPr lang="en-US" sz="3800" b="1" dirty="0">
                <a:solidFill>
                  <a:srgbClr val="E8871E"/>
                </a:solidFill>
                <a:latin typeface="Cambria" pitchFamily="34" charset="0"/>
                <a:ea typeface="Cambria" pitchFamily="34" charset="-122"/>
                <a:cs typeface="Cambria" pitchFamily="34" charset="-120"/>
              </a:rPr>
              <a:t>32</a:t>
            </a:r>
            <a:endParaRPr lang="en-US" sz="3800" dirty="0"/>
          </a:p>
        </p:txBody>
      </p:sp>
      <p:sp>
        <p:nvSpPr>
          <p:cNvPr id="7" name="Text 5"/>
          <p:cNvSpPr/>
          <p:nvPr/>
        </p:nvSpPr>
        <p:spPr>
          <a:xfrm>
            <a:off x="868680" y="3035808"/>
            <a:ext cx="265176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Ítems cumplidos al inicio</a:t>
            </a:r>
            <a:endParaRPr lang="en-US" sz="1300" dirty="0"/>
          </a:p>
        </p:txBody>
      </p:sp>
      <p:sp>
        <p:nvSpPr>
          <p:cNvPr id="8" name="Text 6"/>
          <p:cNvSpPr/>
          <p:nvPr/>
        </p:nvSpPr>
        <p:spPr>
          <a:xfrm>
            <a:off x="868680" y="3291840"/>
            <a:ext cx="2651760"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sobre 61 del checklist</a:t>
            </a:r>
            <a:endParaRPr lang="en-US" sz="1100" dirty="0"/>
          </a:p>
        </p:txBody>
      </p:sp>
      <p:sp>
        <p:nvSpPr>
          <p:cNvPr id="9" name="Shape 7"/>
          <p:cNvSpPr/>
          <p:nvPr/>
        </p:nvSpPr>
        <p:spPr>
          <a:xfrm>
            <a:off x="4023360" y="2194560"/>
            <a:ext cx="3108960" cy="1783080"/>
          </a:xfrm>
          <a:prstGeom prst="roundRect">
            <a:avLst>
              <a:gd name="adj" fmla="val 4103"/>
            </a:avLst>
          </a:prstGeom>
          <a:solidFill>
            <a:srgbClr val="F0F4F8"/>
          </a:solidFill>
          <a:ln w="12700">
            <a:solidFill>
              <a:srgbClr val="F0F4F8"/>
            </a:solidFill>
            <a:prstDash val="solid"/>
          </a:ln>
        </p:spPr>
      </p:sp>
      <p:sp>
        <p:nvSpPr>
          <p:cNvPr id="10" name="Text 8"/>
          <p:cNvSpPr/>
          <p:nvPr/>
        </p:nvSpPr>
        <p:spPr>
          <a:xfrm>
            <a:off x="4251960" y="2359152"/>
            <a:ext cx="2651760" cy="685800"/>
          </a:xfrm>
          <a:prstGeom prst="rect">
            <a:avLst/>
          </a:prstGeom>
          <a:noFill/>
          <a:ln/>
        </p:spPr>
        <p:txBody>
          <a:bodyPr wrap="square" lIns="0" tIns="0" rIns="0" bIns="0" rtlCol="0" anchor="ctr"/>
          <a:lstStyle/>
          <a:p>
            <a:pPr indent="0" marL="0">
              <a:buNone/>
            </a:pPr>
            <a:r>
              <a:rPr lang="en-US" sz="3800" b="1" dirty="0">
                <a:solidFill>
                  <a:srgbClr val="C1442E"/>
                </a:solidFill>
                <a:latin typeface="Cambria" pitchFamily="34" charset="0"/>
                <a:ea typeface="Cambria" pitchFamily="34" charset="-122"/>
                <a:cs typeface="Cambria" pitchFamily="34" charset="-120"/>
              </a:rPr>
              <a:t>20</a:t>
            </a:r>
            <a:endParaRPr lang="en-US" sz="3800" dirty="0"/>
          </a:p>
        </p:txBody>
      </p:sp>
      <p:sp>
        <p:nvSpPr>
          <p:cNvPr id="11" name="Text 9"/>
          <p:cNvSpPr/>
          <p:nvPr/>
        </p:nvSpPr>
        <p:spPr>
          <a:xfrm>
            <a:off x="4251960" y="3035808"/>
            <a:ext cx="265176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Faltantes al inicio</a:t>
            </a:r>
            <a:endParaRPr lang="en-US" sz="1300" dirty="0"/>
          </a:p>
        </p:txBody>
      </p:sp>
      <p:sp>
        <p:nvSpPr>
          <p:cNvPr id="12" name="Text 10"/>
          <p:cNvSpPr/>
          <p:nvPr/>
        </p:nvSpPr>
        <p:spPr>
          <a:xfrm>
            <a:off x="4251960" y="3291840"/>
            <a:ext cx="2651760"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secciones enteras sin empezar</a:t>
            </a:r>
            <a:endParaRPr lang="en-US" sz="1100" dirty="0"/>
          </a:p>
        </p:txBody>
      </p:sp>
      <p:sp>
        <p:nvSpPr>
          <p:cNvPr id="13" name="Shape 11"/>
          <p:cNvSpPr/>
          <p:nvPr/>
        </p:nvSpPr>
        <p:spPr>
          <a:xfrm>
            <a:off x="7406640" y="2194560"/>
            <a:ext cx="3108960" cy="1783080"/>
          </a:xfrm>
          <a:prstGeom prst="roundRect">
            <a:avLst>
              <a:gd name="adj" fmla="val 4103"/>
            </a:avLst>
          </a:prstGeom>
          <a:solidFill>
            <a:srgbClr val="F0F4F8"/>
          </a:solidFill>
          <a:ln w="12700">
            <a:solidFill>
              <a:srgbClr val="F0F4F8"/>
            </a:solidFill>
            <a:prstDash val="solid"/>
          </a:ln>
        </p:spPr>
      </p:sp>
      <p:sp>
        <p:nvSpPr>
          <p:cNvPr id="14" name="Text 12"/>
          <p:cNvSpPr/>
          <p:nvPr/>
        </p:nvSpPr>
        <p:spPr>
          <a:xfrm>
            <a:off x="7635240" y="2359152"/>
            <a:ext cx="2651760" cy="685800"/>
          </a:xfrm>
          <a:prstGeom prst="rect">
            <a:avLst/>
          </a:prstGeom>
          <a:noFill/>
          <a:ln/>
        </p:spPr>
        <p:txBody>
          <a:bodyPr wrap="square" lIns="0" tIns="0" rIns="0" bIns="0" rtlCol="0" anchor="ctr"/>
          <a:lstStyle/>
          <a:p>
            <a:pPr indent="0" marL="0">
              <a:buNone/>
            </a:pPr>
            <a:r>
              <a:rPr lang="en-US" sz="3800" b="1" dirty="0">
                <a:solidFill>
                  <a:srgbClr val="2FBF71"/>
                </a:solidFill>
                <a:latin typeface="Cambria" pitchFamily="34" charset="0"/>
                <a:ea typeface="Cambria" pitchFamily="34" charset="-122"/>
                <a:cs typeface="Cambria" pitchFamily="34" charset="-120"/>
              </a:rPr>
              <a:t>59</a:t>
            </a:r>
            <a:endParaRPr lang="en-US" sz="3800" dirty="0"/>
          </a:p>
        </p:txBody>
      </p:sp>
      <p:sp>
        <p:nvSpPr>
          <p:cNvPr id="15" name="Text 13"/>
          <p:cNvSpPr/>
          <p:nvPr/>
        </p:nvSpPr>
        <p:spPr>
          <a:xfrm>
            <a:off x="7635240" y="3035808"/>
            <a:ext cx="265176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Ítems cumplidos hoy</a:t>
            </a:r>
            <a:endParaRPr lang="en-US" sz="1300" dirty="0"/>
          </a:p>
        </p:txBody>
      </p:sp>
      <p:sp>
        <p:nvSpPr>
          <p:cNvPr id="16" name="Text 14"/>
          <p:cNvSpPr/>
          <p:nvPr/>
        </p:nvSpPr>
        <p:spPr>
          <a:xfrm>
            <a:off x="7635240" y="3291840"/>
            <a:ext cx="2651760"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1 parcial y 1 faltante</a:t>
            </a:r>
            <a:endParaRPr lang="en-US" sz="1100" dirty="0"/>
          </a:p>
        </p:txBody>
      </p:sp>
      <p:sp>
        <p:nvSpPr>
          <p:cNvPr id="17" name="Text 15"/>
          <p:cNvSpPr/>
          <p:nvPr/>
        </p:nvSpPr>
        <p:spPr>
          <a:xfrm>
            <a:off x="640080" y="4343400"/>
            <a:ext cx="10424160" cy="64008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Las secciones de Pruebas, Pipelines, Plataforma K8s, Ambiente productivo e Informe quedaron completas. </a:t>
            </a:r>
            <a:pPr indent="0" marL="0">
              <a:buNone/>
            </a:pPr>
            <a:r>
              <a:rPr lang="en-US" sz="1400" dirty="0">
                <a:solidFill>
                  <a:srgbClr val="1F2933"/>
                </a:solidFill>
                <a:latin typeface="Calibri" pitchFamily="34" charset="0"/>
                <a:ea typeface="Calibri" pitchFamily="34" charset="-122"/>
                <a:cs typeface="Calibri" pitchFamily="34" charset="-120"/>
              </a:rPr>
              <a:t>Lo único abierto es el video explicativo y llegar a bulks de 100.000 transacciones.</a:t>
            </a:r>
            <a:endParaRPr lang="en-US" sz="1400" dirty="0"/>
          </a:p>
        </p:txBody>
      </p:sp>
      <p:sp>
        <p:nvSpPr>
          <p:cNvPr id="18" name="Text 1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Fuente: CHECKLIST.md — auditoría contra 2026_SDYPP_checklist-blockchain-v2.docx</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VOLUMEN</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El trabajo en números</a:t>
            </a:r>
            <a:endParaRPr lang="en-US" sz="3200" dirty="0"/>
          </a:p>
        </p:txBody>
      </p:sp>
      <p:sp>
        <p:nvSpPr>
          <p:cNvPr id="4" name="Shape 2"/>
          <p:cNvSpPr/>
          <p:nvPr/>
        </p:nvSpPr>
        <p:spPr>
          <a:xfrm>
            <a:off x="640080" y="1600200"/>
            <a:ext cx="2487168" cy="1737360"/>
          </a:xfrm>
          <a:prstGeom prst="roundRect">
            <a:avLst>
              <a:gd name="adj" fmla="val 4211"/>
            </a:avLst>
          </a:prstGeom>
          <a:solidFill>
            <a:srgbClr val="F0F4F8"/>
          </a:solidFill>
          <a:ln w="12700">
            <a:solidFill>
              <a:srgbClr val="F0F4F8"/>
            </a:solidFill>
            <a:prstDash val="solid"/>
          </a:ln>
        </p:spPr>
      </p:sp>
      <p:sp>
        <p:nvSpPr>
          <p:cNvPr id="5" name="Text 3"/>
          <p:cNvSpPr/>
          <p:nvPr/>
        </p:nvSpPr>
        <p:spPr>
          <a:xfrm>
            <a:off x="868680" y="1764792"/>
            <a:ext cx="2029968" cy="685800"/>
          </a:xfrm>
          <a:prstGeom prst="rect">
            <a:avLst/>
          </a:prstGeom>
          <a:noFill/>
          <a:ln/>
        </p:spPr>
        <p:txBody>
          <a:bodyPr wrap="square" lIns="0" tIns="0" rIns="0" bIns="0" rtlCol="0" anchor="ctr"/>
          <a:lstStyle/>
          <a:p>
            <a:pPr indent="0" marL="0">
              <a:buNone/>
            </a:pPr>
            <a:r>
              <a:rPr lang="en-US" sz="3800" b="1" dirty="0">
                <a:solidFill>
                  <a:srgbClr val="1F2933"/>
                </a:solidFill>
                <a:latin typeface="Cambria" pitchFamily="34" charset="0"/>
                <a:ea typeface="Cambria" pitchFamily="34" charset="-122"/>
                <a:cs typeface="Cambria" pitchFamily="34" charset="-120"/>
              </a:rPr>
              <a:t>34</a:t>
            </a:r>
            <a:endParaRPr lang="en-US" sz="3800" dirty="0"/>
          </a:p>
        </p:txBody>
      </p:sp>
      <p:sp>
        <p:nvSpPr>
          <p:cNvPr id="6" name="Text 4"/>
          <p:cNvSpPr/>
          <p:nvPr/>
        </p:nvSpPr>
        <p:spPr>
          <a:xfrm>
            <a:off x="868680" y="2441448"/>
            <a:ext cx="2029968"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Commits</a:t>
            </a:r>
            <a:endParaRPr lang="en-US" sz="1300" dirty="0"/>
          </a:p>
        </p:txBody>
      </p:sp>
      <p:sp>
        <p:nvSpPr>
          <p:cNvPr id="7" name="Text 5"/>
          <p:cNvSpPr/>
          <p:nvPr/>
        </p:nvSpPr>
        <p:spPr>
          <a:xfrm>
            <a:off x="868680" y="2697480"/>
            <a:ext cx="2029968"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24 y 10 entre los dos integrantes</a:t>
            </a:r>
            <a:endParaRPr lang="en-US" sz="1100" dirty="0"/>
          </a:p>
        </p:txBody>
      </p:sp>
      <p:sp>
        <p:nvSpPr>
          <p:cNvPr id="8" name="Shape 6"/>
          <p:cNvSpPr/>
          <p:nvPr/>
        </p:nvSpPr>
        <p:spPr>
          <a:xfrm>
            <a:off x="3383280" y="1600200"/>
            <a:ext cx="2487168" cy="1737360"/>
          </a:xfrm>
          <a:prstGeom prst="roundRect">
            <a:avLst>
              <a:gd name="adj" fmla="val 4211"/>
            </a:avLst>
          </a:prstGeom>
          <a:solidFill>
            <a:srgbClr val="F0F4F8"/>
          </a:solidFill>
          <a:ln w="12700">
            <a:solidFill>
              <a:srgbClr val="F0F4F8"/>
            </a:solidFill>
            <a:prstDash val="solid"/>
          </a:ln>
        </p:spPr>
      </p:sp>
      <p:sp>
        <p:nvSpPr>
          <p:cNvPr id="9" name="Text 7"/>
          <p:cNvSpPr/>
          <p:nvPr/>
        </p:nvSpPr>
        <p:spPr>
          <a:xfrm>
            <a:off x="3611880" y="1764792"/>
            <a:ext cx="2029968" cy="685800"/>
          </a:xfrm>
          <a:prstGeom prst="rect">
            <a:avLst/>
          </a:prstGeom>
          <a:noFill/>
          <a:ln/>
        </p:spPr>
        <p:txBody>
          <a:bodyPr wrap="square" lIns="0" tIns="0" rIns="0" bIns="0" rtlCol="0" anchor="ctr"/>
          <a:lstStyle/>
          <a:p>
            <a:pPr indent="0" marL="0">
              <a:buNone/>
            </a:pPr>
            <a:r>
              <a:rPr lang="en-US" sz="3800" b="1" dirty="0">
                <a:solidFill>
                  <a:srgbClr val="1F2933"/>
                </a:solidFill>
                <a:latin typeface="Cambria" pitchFamily="34" charset="0"/>
                <a:ea typeface="Cambria" pitchFamily="34" charset="-122"/>
                <a:cs typeface="Cambria" pitchFamily="34" charset="-120"/>
              </a:rPr>
              <a:t>106</a:t>
            </a:r>
            <a:endParaRPr lang="en-US" sz="3800" dirty="0"/>
          </a:p>
        </p:txBody>
      </p:sp>
      <p:sp>
        <p:nvSpPr>
          <p:cNvPr id="10" name="Text 8"/>
          <p:cNvSpPr/>
          <p:nvPr/>
        </p:nvSpPr>
        <p:spPr>
          <a:xfrm>
            <a:off x="3611880" y="2441448"/>
            <a:ext cx="2029968"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Archivos tocados</a:t>
            </a:r>
            <a:endParaRPr lang="en-US" sz="1300" dirty="0"/>
          </a:p>
        </p:txBody>
      </p:sp>
      <p:sp>
        <p:nvSpPr>
          <p:cNvPr id="11" name="Text 9"/>
          <p:cNvSpPr/>
          <p:nvPr/>
        </p:nvSpPr>
        <p:spPr>
          <a:xfrm>
            <a:off x="3611880" y="2697480"/>
            <a:ext cx="2029968"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código, infra y documentación</a:t>
            </a:r>
            <a:endParaRPr lang="en-US" sz="1100" dirty="0"/>
          </a:p>
        </p:txBody>
      </p:sp>
      <p:sp>
        <p:nvSpPr>
          <p:cNvPr id="12" name="Shape 10"/>
          <p:cNvSpPr/>
          <p:nvPr/>
        </p:nvSpPr>
        <p:spPr>
          <a:xfrm>
            <a:off x="6126480" y="1600200"/>
            <a:ext cx="2487168" cy="1737360"/>
          </a:xfrm>
          <a:prstGeom prst="roundRect">
            <a:avLst>
              <a:gd name="adj" fmla="val 4211"/>
            </a:avLst>
          </a:prstGeom>
          <a:solidFill>
            <a:srgbClr val="F0F4F8"/>
          </a:solidFill>
          <a:ln w="12700">
            <a:solidFill>
              <a:srgbClr val="F0F4F8"/>
            </a:solidFill>
            <a:prstDash val="solid"/>
          </a:ln>
        </p:spPr>
      </p:sp>
      <p:sp>
        <p:nvSpPr>
          <p:cNvPr id="13" name="Text 11"/>
          <p:cNvSpPr/>
          <p:nvPr/>
        </p:nvSpPr>
        <p:spPr>
          <a:xfrm>
            <a:off x="6355080" y="1764792"/>
            <a:ext cx="2029968" cy="685800"/>
          </a:xfrm>
          <a:prstGeom prst="rect">
            <a:avLst/>
          </a:prstGeom>
          <a:noFill/>
          <a:ln/>
        </p:spPr>
        <p:txBody>
          <a:bodyPr wrap="square" lIns="0" tIns="0" rIns="0" bIns="0" rtlCol="0" anchor="ctr"/>
          <a:lstStyle/>
          <a:p>
            <a:pPr indent="0" marL="0">
              <a:buNone/>
            </a:pPr>
            <a:r>
              <a:rPr lang="en-US" sz="3800" b="1" dirty="0">
                <a:solidFill>
                  <a:srgbClr val="1F2933"/>
                </a:solidFill>
                <a:latin typeface="Cambria" pitchFamily="34" charset="0"/>
                <a:ea typeface="Cambria" pitchFamily="34" charset="-122"/>
                <a:cs typeface="Cambria" pitchFamily="34" charset="-120"/>
              </a:rPr>
              <a:t>+17.7k</a:t>
            </a:r>
            <a:endParaRPr lang="en-US" sz="3800" dirty="0"/>
          </a:p>
        </p:txBody>
      </p:sp>
      <p:sp>
        <p:nvSpPr>
          <p:cNvPr id="14" name="Text 12"/>
          <p:cNvSpPr/>
          <p:nvPr/>
        </p:nvSpPr>
        <p:spPr>
          <a:xfrm>
            <a:off x="6355080" y="2441448"/>
            <a:ext cx="2029968"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Líneas agregadas</a:t>
            </a:r>
            <a:endParaRPr lang="en-US" sz="1300" dirty="0"/>
          </a:p>
        </p:txBody>
      </p:sp>
      <p:sp>
        <p:nvSpPr>
          <p:cNvPr id="15" name="Text 13"/>
          <p:cNvSpPr/>
          <p:nvPr/>
        </p:nvSpPr>
        <p:spPr>
          <a:xfrm>
            <a:off x="6355080" y="2697480"/>
            <a:ext cx="2029968"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contra 448 eliminadas</a:t>
            </a:r>
            <a:endParaRPr lang="en-US" sz="1100" dirty="0"/>
          </a:p>
        </p:txBody>
      </p:sp>
      <p:sp>
        <p:nvSpPr>
          <p:cNvPr id="16" name="Shape 14"/>
          <p:cNvSpPr/>
          <p:nvPr/>
        </p:nvSpPr>
        <p:spPr>
          <a:xfrm>
            <a:off x="8869680" y="1600200"/>
            <a:ext cx="2487168" cy="1737360"/>
          </a:xfrm>
          <a:prstGeom prst="roundRect">
            <a:avLst>
              <a:gd name="adj" fmla="val 4211"/>
            </a:avLst>
          </a:prstGeom>
          <a:solidFill>
            <a:srgbClr val="F0F4F8"/>
          </a:solidFill>
          <a:ln w="12700">
            <a:solidFill>
              <a:srgbClr val="F0F4F8"/>
            </a:solidFill>
            <a:prstDash val="solid"/>
          </a:ln>
        </p:spPr>
      </p:sp>
      <p:sp>
        <p:nvSpPr>
          <p:cNvPr id="17" name="Text 15"/>
          <p:cNvSpPr/>
          <p:nvPr/>
        </p:nvSpPr>
        <p:spPr>
          <a:xfrm>
            <a:off x="9098280" y="1764792"/>
            <a:ext cx="2029968" cy="685800"/>
          </a:xfrm>
          <a:prstGeom prst="rect">
            <a:avLst/>
          </a:prstGeom>
          <a:noFill/>
          <a:ln/>
        </p:spPr>
        <p:txBody>
          <a:bodyPr wrap="square" lIns="0" tIns="0" rIns="0" bIns="0" rtlCol="0" anchor="ctr"/>
          <a:lstStyle/>
          <a:p>
            <a:pPr indent="0" marL="0">
              <a:buNone/>
            </a:pPr>
            <a:r>
              <a:rPr lang="en-US" sz="3800" b="1" dirty="0">
                <a:solidFill>
                  <a:srgbClr val="2FBF71"/>
                </a:solidFill>
                <a:latin typeface="Cambria" pitchFamily="34" charset="0"/>
                <a:ea typeface="Cambria" pitchFamily="34" charset="-122"/>
                <a:cs typeface="Cambria" pitchFamily="34" charset="-120"/>
              </a:rPr>
              <a:t>42</a:t>
            </a:r>
            <a:endParaRPr lang="en-US" sz="3800" dirty="0"/>
          </a:p>
        </p:txBody>
      </p:sp>
      <p:sp>
        <p:nvSpPr>
          <p:cNvPr id="18" name="Text 16"/>
          <p:cNvSpPr/>
          <p:nvPr/>
        </p:nvSpPr>
        <p:spPr>
          <a:xfrm>
            <a:off x="9098280" y="2441448"/>
            <a:ext cx="2029968"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Tests automatizados</a:t>
            </a:r>
            <a:endParaRPr lang="en-US" sz="1300" dirty="0"/>
          </a:p>
        </p:txBody>
      </p:sp>
      <p:sp>
        <p:nvSpPr>
          <p:cNvPr id="19" name="Text 17"/>
          <p:cNvSpPr/>
          <p:nvPr/>
        </p:nvSpPr>
        <p:spPr>
          <a:xfrm>
            <a:off x="9098280" y="2697480"/>
            <a:ext cx="2029968"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no existía ninguno unitario</a:t>
            </a:r>
            <a:endParaRPr lang="en-US" sz="1100" dirty="0"/>
          </a:p>
        </p:txBody>
      </p:sp>
      <p:sp>
        <p:nvSpPr>
          <p:cNvPr id="20" name="Text 18"/>
          <p:cNvSpPr/>
          <p:nvPr/>
        </p:nvSpPr>
        <p:spPr>
          <a:xfrm>
            <a:off x="640080" y="3657600"/>
            <a:ext cx="10424160" cy="32004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Dónde se concentró el trabajo</a:t>
            </a:r>
            <a:endParaRPr lang="en-US" sz="1600" dirty="0"/>
          </a:p>
        </p:txBody>
      </p:sp>
      <p:sp>
        <p:nvSpPr>
          <p:cNvPr id="21" name="Shape 19"/>
          <p:cNvSpPr/>
          <p:nvPr/>
        </p:nvSpPr>
        <p:spPr>
          <a:xfrm>
            <a:off x="640080" y="4105656"/>
            <a:ext cx="420624" cy="420624"/>
          </a:xfrm>
          <a:prstGeom prst="ellipse">
            <a:avLst/>
          </a:prstGeom>
          <a:solidFill>
            <a:srgbClr val="1F2933"/>
          </a:solidFill>
          <a:ln w="12700">
            <a:solidFill>
              <a:srgbClr val="1F2933"/>
            </a:solidFill>
            <a:prstDash val="solid"/>
          </a:ln>
        </p:spPr>
      </p:sp>
      <p:sp>
        <p:nvSpPr>
          <p:cNvPr id="22" name="Text 20"/>
          <p:cNvSpPr/>
          <p:nvPr/>
        </p:nvSpPr>
        <p:spPr>
          <a:xfrm>
            <a:off x="640080" y="41056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3" name="Text 21"/>
          <p:cNvSpPr/>
          <p:nvPr/>
        </p:nvSpPr>
        <p:spPr>
          <a:xfrm>
            <a:off x="1261872" y="4069080"/>
            <a:ext cx="440740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Mediciones y resultados</a:t>
            </a:r>
            <a:endParaRPr lang="en-US" sz="1500" dirty="0"/>
          </a:p>
        </p:txBody>
      </p:sp>
      <p:sp>
        <p:nvSpPr>
          <p:cNvPr id="24" name="Text 22"/>
          <p:cNvSpPr/>
          <p:nvPr/>
        </p:nvSpPr>
        <p:spPr>
          <a:xfrm>
            <a:off x="1261872" y="4352544"/>
            <a:ext cx="440740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18 archivos nuevos en resultados/: CSV crudos, gráficos y análisis</a:t>
            </a:r>
            <a:endParaRPr lang="en-US" sz="1200" dirty="0"/>
          </a:p>
        </p:txBody>
      </p:sp>
      <p:sp>
        <p:nvSpPr>
          <p:cNvPr id="25" name="Shape 23"/>
          <p:cNvSpPr/>
          <p:nvPr/>
        </p:nvSpPr>
        <p:spPr>
          <a:xfrm>
            <a:off x="6035040" y="4105656"/>
            <a:ext cx="420624" cy="420624"/>
          </a:xfrm>
          <a:prstGeom prst="ellipse">
            <a:avLst/>
          </a:prstGeom>
          <a:solidFill>
            <a:srgbClr val="52606D"/>
          </a:solidFill>
          <a:ln w="12700">
            <a:solidFill>
              <a:srgbClr val="52606D"/>
            </a:solidFill>
            <a:prstDash val="solid"/>
          </a:ln>
        </p:spPr>
      </p:sp>
      <p:sp>
        <p:nvSpPr>
          <p:cNvPr id="26" name="Text 24"/>
          <p:cNvSpPr/>
          <p:nvPr/>
        </p:nvSpPr>
        <p:spPr>
          <a:xfrm>
            <a:off x="6035040" y="41056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7" name="Text 25"/>
          <p:cNvSpPr/>
          <p:nvPr/>
        </p:nvSpPr>
        <p:spPr>
          <a:xfrm>
            <a:off x="6656832" y="4069080"/>
            <a:ext cx="440740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Pruebas automatizadas</a:t>
            </a:r>
            <a:endParaRPr lang="en-US" sz="1500" dirty="0"/>
          </a:p>
        </p:txBody>
      </p:sp>
      <p:sp>
        <p:nvSpPr>
          <p:cNvPr id="28" name="Text 26"/>
          <p:cNvSpPr/>
          <p:nvPr/>
        </p:nvSpPr>
        <p:spPr>
          <a:xfrm>
            <a:off x="6656832" y="4352544"/>
            <a:ext cx="440740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5 archivos de test más el arnés de carga parametrizable</a:t>
            </a:r>
            <a:endParaRPr lang="en-US" sz="1200" dirty="0"/>
          </a:p>
        </p:txBody>
      </p:sp>
      <p:sp>
        <p:nvSpPr>
          <p:cNvPr id="29" name="Shape 27"/>
          <p:cNvSpPr/>
          <p:nvPr/>
        </p:nvSpPr>
        <p:spPr>
          <a:xfrm>
            <a:off x="640080" y="5020056"/>
            <a:ext cx="420624" cy="420624"/>
          </a:xfrm>
          <a:prstGeom prst="ellipse">
            <a:avLst/>
          </a:prstGeom>
          <a:solidFill>
            <a:srgbClr val="1F2933"/>
          </a:solidFill>
          <a:ln w="12700">
            <a:solidFill>
              <a:srgbClr val="1F2933"/>
            </a:solidFill>
            <a:prstDash val="solid"/>
          </a:ln>
        </p:spPr>
      </p:sp>
      <p:sp>
        <p:nvSpPr>
          <p:cNvPr id="30" name="Text 28"/>
          <p:cNvSpPr/>
          <p:nvPr/>
        </p:nvSpPr>
        <p:spPr>
          <a:xfrm>
            <a:off x="640080" y="50200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1" name="Text 29"/>
          <p:cNvSpPr/>
          <p:nvPr/>
        </p:nvSpPr>
        <p:spPr>
          <a:xfrm>
            <a:off x="1261872" y="4983480"/>
            <a:ext cx="440740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Decisiones de arquitectura</a:t>
            </a:r>
            <a:endParaRPr lang="en-US" sz="1500" dirty="0"/>
          </a:p>
        </p:txBody>
      </p:sp>
      <p:sp>
        <p:nvSpPr>
          <p:cNvPr id="32" name="Text 30"/>
          <p:cNvSpPr/>
          <p:nvPr/>
        </p:nvSpPr>
        <p:spPr>
          <a:xfrm>
            <a:off x="1261872" y="5266944"/>
            <a:ext cx="440740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4 ADRs nuevos (025 a 028), uno supersede a otro</a:t>
            </a:r>
            <a:endParaRPr lang="en-US" sz="1200" dirty="0"/>
          </a:p>
        </p:txBody>
      </p:sp>
      <p:sp>
        <p:nvSpPr>
          <p:cNvPr id="33" name="Shape 31"/>
          <p:cNvSpPr/>
          <p:nvPr/>
        </p:nvSpPr>
        <p:spPr>
          <a:xfrm>
            <a:off x="6035040" y="5020056"/>
            <a:ext cx="420624" cy="420624"/>
          </a:xfrm>
          <a:prstGeom prst="ellipse">
            <a:avLst/>
          </a:prstGeom>
          <a:solidFill>
            <a:srgbClr val="52606D"/>
          </a:solidFill>
          <a:ln w="12700">
            <a:solidFill>
              <a:srgbClr val="52606D"/>
            </a:solidFill>
            <a:prstDash val="solid"/>
          </a:ln>
        </p:spPr>
      </p:sp>
      <p:sp>
        <p:nvSpPr>
          <p:cNvPr id="34" name="Text 32"/>
          <p:cNvSpPr/>
          <p:nvPr/>
        </p:nvSpPr>
        <p:spPr>
          <a:xfrm>
            <a:off x="6035040" y="50200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5" name="Text 33"/>
          <p:cNvSpPr/>
          <p:nvPr/>
        </p:nvSpPr>
        <p:spPr>
          <a:xfrm>
            <a:off x="6656832" y="4983480"/>
            <a:ext cx="440740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Documentación de entrega</a:t>
            </a:r>
            <a:endParaRPr lang="en-US" sz="1500" dirty="0"/>
          </a:p>
        </p:txBody>
      </p:sp>
      <p:sp>
        <p:nvSpPr>
          <p:cNvPr id="36" name="Text 34"/>
          <p:cNvSpPr/>
          <p:nvPr/>
        </p:nvSpPr>
        <p:spPr>
          <a:xfrm>
            <a:off x="6656832" y="5266944"/>
            <a:ext cx="440740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informe, checklist, declaración de IA y guion del video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INFRAESTRUCTURA LOCAL</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Un entorno donde el sistema entero corre</a:t>
            </a:r>
            <a:endParaRPr lang="en-US" sz="3200" dirty="0"/>
          </a:p>
        </p:txBody>
      </p:sp>
      <p:sp>
        <p:nvSpPr>
          <p:cNvPr id="4" name="Text 2"/>
          <p:cNvSpPr/>
          <p:nvPr/>
        </p:nvSpPr>
        <p:spPr>
          <a:xfrm>
            <a:off x="640080" y="1481328"/>
            <a:ext cx="10424160" cy="548640"/>
          </a:xfrm>
          <a:prstGeom prst="rect">
            <a:avLst/>
          </a:prstGeom>
          <a:noFill/>
          <a:ln/>
        </p:spPr>
        <p:txBody>
          <a:bodyPr wrap="square" lIns="0" tIns="0" rIns="0" bIns="0" rtlCol="0" anchor="ctr"/>
          <a:lstStyle/>
          <a:p>
            <a:pPr indent="0" marL="0">
              <a:buNone/>
            </a:pPr>
            <a:r>
              <a:rPr lang="en-US" sz="1400" b="1" dirty="0">
                <a:solidFill>
                  <a:srgbClr val="C1442E"/>
                </a:solidFill>
                <a:latin typeface="Calibri" pitchFamily="34" charset="0"/>
                <a:ea typeface="Calibri" pitchFamily="34" charset="-122"/>
                <a:cs typeface="Calibri" pitchFamily="34" charset="-120"/>
              </a:rPr>
              <a:t>El problema: </a:t>
            </a:r>
            <a:pPr indent="0" marL="0">
              <a:buNone/>
            </a:pPr>
            <a:r>
              <a:rPr lang="en-US" sz="1400" dirty="0">
                <a:solidFill>
                  <a:srgbClr val="52606D"/>
                </a:solidFill>
                <a:latin typeface="Calibri" pitchFamily="34" charset="0"/>
                <a:ea typeface="Calibri" pitchFamily="34" charset="-122"/>
                <a:cs typeface="Calibri" pitchFamily="34" charset="-120"/>
              </a:rPr>
              <a:t>el único docker-compose vivía dentro de app/ y levantaba la app contra un NCT simulado. </a:t>
            </a:r>
            <a:pPr indent="0" marL="0">
              <a:buNone/>
            </a:pPr>
            <a:r>
              <a:rPr lang="en-US" sz="1400" dirty="0">
                <a:solidFill>
                  <a:srgbClr val="52606D"/>
                </a:solidFill>
                <a:latin typeface="Calibri" pitchFamily="34" charset="0"/>
                <a:ea typeface="Calibri" pitchFamily="34" charset="-122"/>
                <a:cs typeface="Calibri" pitchFamily="34" charset="-120"/>
              </a:rPr>
              <a:t>La blockchain real solo existía en Kubernetes — y el cluster se había dado de baja.</a:t>
            </a:r>
            <a:endParaRPr lang="en-US" sz="1400" dirty="0"/>
          </a:p>
        </p:txBody>
      </p:sp>
      <p:sp>
        <p:nvSpPr>
          <p:cNvPr id="5" name="Shape 3"/>
          <p:cNvSpPr/>
          <p:nvPr/>
        </p:nvSpPr>
        <p:spPr>
          <a:xfrm>
            <a:off x="640080" y="2240280"/>
            <a:ext cx="10424160" cy="1371600"/>
          </a:xfrm>
          <a:prstGeom prst="roundRect">
            <a:avLst>
              <a:gd name="adj" fmla="val 5333"/>
            </a:avLst>
          </a:prstGeom>
          <a:solidFill>
            <a:srgbClr val="F0F4F8"/>
          </a:solidFill>
          <a:ln w="12700">
            <a:solidFill>
              <a:srgbClr val="F0F4F8"/>
            </a:solidFill>
            <a:prstDash val="solid"/>
          </a:ln>
        </p:spPr>
      </p:sp>
      <p:sp>
        <p:nvSpPr>
          <p:cNvPr id="6" name="Text 4"/>
          <p:cNvSpPr/>
          <p:nvPr/>
        </p:nvSpPr>
        <p:spPr>
          <a:xfrm>
            <a:off x="960120" y="2395728"/>
            <a:ext cx="5486400" cy="384048"/>
          </a:xfrm>
          <a:prstGeom prst="rect">
            <a:avLst/>
          </a:prstGeom>
          <a:noFill/>
          <a:ln/>
        </p:spPr>
        <p:txBody>
          <a:bodyPr wrap="square" lIns="0" tIns="0" rIns="0" bIns="0" rtlCol="0" anchor="ctr"/>
          <a:lstStyle/>
          <a:p>
            <a:pPr indent="0" marL="0">
              <a:buNone/>
            </a:pPr>
            <a:r>
              <a:rPr lang="en-US" sz="1800" b="1" dirty="0">
                <a:solidFill>
                  <a:srgbClr val="1F2933"/>
                </a:solidFill>
                <a:latin typeface="Courier New" pitchFamily="34" charset="0"/>
                <a:ea typeface="Courier New" pitchFamily="34" charset="-122"/>
                <a:cs typeface="Courier New" pitchFamily="34" charset="-120"/>
              </a:rPr>
              <a:t>docker compose up --build</a:t>
            </a:r>
            <a:endParaRPr lang="en-US" sz="1800" dirty="0"/>
          </a:p>
        </p:txBody>
      </p:sp>
      <p:sp>
        <p:nvSpPr>
          <p:cNvPr id="7" name="Text 5"/>
          <p:cNvSpPr/>
          <p:nvPr/>
        </p:nvSpPr>
        <p:spPr>
          <a:xfrm>
            <a:off x="960120" y="2816352"/>
            <a:ext cx="9784080" cy="685800"/>
          </a:xfrm>
          <a:prstGeom prst="rect">
            <a:avLst/>
          </a:prstGeom>
          <a:noFill/>
          <a:ln/>
        </p:spPr>
        <p:txBody>
          <a:bodyPr wrap="square" lIns="0" tIns="0" rIns="0" bIns="0" rtlCol="0" anchor="ctr"/>
          <a:lstStyle/>
          <a:p>
            <a:pPr indent="0" marL="0">
              <a:buNone/>
            </a:pPr>
            <a:r>
              <a:rPr lang="en-US" sz="1300" dirty="0">
                <a:solidFill>
                  <a:srgbClr val="52606D"/>
                </a:solidFill>
                <a:latin typeface="Calibri" pitchFamily="34" charset="0"/>
                <a:ea typeface="Calibri" pitchFamily="34" charset="-122"/>
                <a:cs typeface="Calibri" pitchFamily="34" charset="-120"/>
              </a:rPr>
              <a:t>Levanta los 12 servicios: app, Postgres, Redis, RabbitMQ con TLS, NCT, TrP, worker CPU y el stack completo de observabilidad (Prometheus, Grafana, Loki, Tempo, Alloy).</a:t>
            </a:r>
            <a:endParaRPr lang="en-US" sz="1300" dirty="0"/>
          </a:p>
        </p:txBody>
      </p:sp>
      <p:sp>
        <p:nvSpPr>
          <p:cNvPr id="8" name="Shape 6"/>
          <p:cNvSpPr/>
          <p:nvPr/>
        </p:nvSpPr>
        <p:spPr>
          <a:xfrm>
            <a:off x="640080" y="3877056"/>
            <a:ext cx="420624" cy="420624"/>
          </a:xfrm>
          <a:prstGeom prst="ellipse">
            <a:avLst/>
          </a:prstGeom>
          <a:solidFill>
            <a:srgbClr val="1F2933"/>
          </a:solidFill>
          <a:ln w="12700">
            <a:solidFill>
              <a:srgbClr val="1F2933"/>
            </a:solidFill>
            <a:prstDash val="solid"/>
          </a:ln>
        </p:spPr>
      </p:sp>
      <p:sp>
        <p:nvSpPr>
          <p:cNvPr id="9" name="Text 7"/>
          <p:cNvSpPr/>
          <p:nvPr/>
        </p:nvSpPr>
        <p:spPr>
          <a:xfrm>
            <a:off x="640080" y="38770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261872" y="3840480"/>
            <a:ext cx="961948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Certificados generados solos</a:t>
            </a:r>
            <a:endParaRPr lang="en-US" sz="1500" dirty="0"/>
          </a:p>
        </p:txBody>
      </p:sp>
      <p:sp>
        <p:nvSpPr>
          <p:cNvPr id="11" name="Text 9"/>
          <p:cNvSpPr/>
          <p:nvPr/>
        </p:nvSpPr>
        <p:spPr>
          <a:xfrm>
            <a:off x="1261872" y="4123944"/>
            <a:ext cx="961948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RabbitMQ exige TLS y los certs están fuera del repo: un servicio los crea en el primer arranque</a:t>
            </a:r>
            <a:endParaRPr lang="en-US" sz="1200" dirty="0"/>
          </a:p>
        </p:txBody>
      </p:sp>
      <p:sp>
        <p:nvSpPr>
          <p:cNvPr id="12" name="Shape 10"/>
          <p:cNvSpPr/>
          <p:nvPr/>
        </p:nvSpPr>
        <p:spPr>
          <a:xfrm>
            <a:off x="640080" y="4718304"/>
            <a:ext cx="420624" cy="420624"/>
          </a:xfrm>
          <a:prstGeom prst="ellipse">
            <a:avLst/>
          </a:prstGeom>
          <a:solidFill>
            <a:srgbClr val="1F2933"/>
          </a:solidFill>
          <a:ln w="12700">
            <a:solidFill>
              <a:srgbClr val="1F2933"/>
            </a:solidFill>
            <a:prstDash val="solid"/>
          </a:ln>
        </p:spPr>
      </p:sp>
      <p:sp>
        <p:nvSpPr>
          <p:cNvPr id="13" name="Text 11"/>
          <p:cNvSpPr/>
          <p:nvPr/>
        </p:nvSpPr>
        <p:spPr>
          <a:xfrm>
            <a:off x="640080" y="47183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261872" y="4681728"/>
            <a:ext cx="961948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Verificado de punta a punta</a:t>
            </a:r>
            <a:endParaRPr lang="en-US" sz="1500" dirty="0"/>
          </a:p>
        </p:txBody>
      </p:sp>
      <p:sp>
        <p:nvSpPr>
          <p:cNvPr id="15" name="Text 13"/>
          <p:cNvSpPr/>
          <p:nvPr/>
        </p:nvSpPr>
        <p:spPr>
          <a:xfrm>
            <a:off x="1261872" y="4965192"/>
            <a:ext cx="961948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emisión firmada con ECDSA real, bloque minado y confirmado en segundos</a:t>
            </a:r>
            <a:endParaRPr lang="en-US" sz="1200" dirty="0"/>
          </a:p>
        </p:txBody>
      </p:sp>
      <p:sp>
        <p:nvSpPr>
          <p:cNvPr id="16" name="Shape 14"/>
          <p:cNvSpPr/>
          <p:nvPr/>
        </p:nvSpPr>
        <p:spPr>
          <a:xfrm>
            <a:off x="640080" y="5559552"/>
            <a:ext cx="420624" cy="420624"/>
          </a:xfrm>
          <a:prstGeom prst="ellipse">
            <a:avLst/>
          </a:prstGeom>
          <a:solidFill>
            <a:srgbClr val="2FBF71"/>
          </a:solidFill>
          <a:ln w="12700">
            <a:solidFill>
              <a:srgbClr val="2FBF71"/>
            </a:solidFill>
            <a:prstDash val="solid"/>
          </a:ln>
        </p:spPr>
      </p:sp>
      <p:sp>
        <p:nvSpPr>
          <p:cNvPr id="17" name="Text 15"/>
          <p:cNvSpPr/>
          <p:nvPr/>
        </p:nvSpPr>
        <p:spPr>
          <a:xfrm>
            <a:off x="640080" y="55595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261872" y="5522976"/>
            <a:ext cx="961948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Habilitó todo lo que sigue</a:t>
            </a:r>
            <a:endParaRPr lang="en-US" sz="1500" dirty="0"/>
          </a:p>
        </p:txBody>
      </p:sp>
      <p:sp>
        <p:nvSpPr>
          <p:cNvPr id="19" name="Text 17"/>
          <p:cNvSpPr/>
          <p:nvPr/>
        </p:nvSpPr>
        <p:spPr>
          <a:xfrm>
            <a:off x="1261872" y="5806440"/>
            <a:ext cx="961948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sin este entorno no se podía medir nada, y medir es la mitad del trabajo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PRUEBAS</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De cero tests unitarios a 42</a:t>
            </a:r>
            <a:endParaRPr lang="en-US" sz="3200" dirty="0"/>
          </a:p>
        </p:txBody>
      </p:sp>
      <p:sp>
        <p:nvSpPr>
          <p:cNvPr id="4" name="Text 2"/>
          <p:cNvSpPr/>
          <p:nvPr/>
        </p:nvSpPr>
        <p:spPr>
          <a:xfrm>
            <a:off x="640080" y="1481328"/>
            <a:ext cx="10424160" cy="457200"/>
          </a:xfrm>
          <a:prstGeom prst="rect">
            <a:avLst/>
          </a:prstGeom>
          <a:noFill/>
          <a:ln/>
        </p:spPr>
        <p:txBody>
          <a:bodyPr wrap="square" lIns="0" tIns="0" rIns="0" bIns="0" rtlCol="0" anchor="ctr"/>
          <a:lstStyle/>
          <a:p>
            <a:pPr indent="0" marL="0">
              <a:buNone/>
            </a:pPr>
            <a:r>
              <a:rPr lang="en-US" sz="1400" dirty="0">
                <a:solidFill>
                  <a:srgbClr val="52606D"/>
                </a:solidFill>
                <a:latin typeface="Calibri" pitchFamily="34" charset="0"/>
                <a:ea typeface="Calibri" pitchFamily="34" charset="-122"/>
                <a:cs typeface="Calibri" pitchFamily="34" charset="-120"/>
              </a:rPr>
              <a:t>El proyecto tenía tres specs end-to-end y ningún test unitario. Lo crítico —firma, pagos, PoW, propiedad de entradas— no estaba cubierto.</a:t>
            </a:r>
            <a:endParaRPr lang="en-US" sz="1400" dirty="0"/>
          </a:p>
        </p:txBody>
      </p:sp>
      <p:sp>
        <p:nvSpPr>
          <p:cNvPr id="5" name="Shape 3"/>
          <p:cNvSpPr/>
          <p:nvPr/>
        </p:nvSpPr>
        <p:spPr>
          <a:xfrm>
            <a:off x="640080" y="2148840"/>
            <a:ext cx="5074920" cy="2743200"/>
          </a:xfrm>
          <a:prstGeom prst="roundRect">
            <a:avLst>
              <a:gd name="adj" fmla="val 2667"/>
            </a:avLst>
          </a:prstGeom>
          <a:solidFill>
            <a:srgbClr val="F0F4F8"/>
          </a:solidFill>
          <a:ln w="12700">
            <a:solidFill>
              <a:srgbClr val="F0F4F8"/>
            </a:solidFill>
            <a:prstDash val="solid"/>
          </a:ln>
        </p:spPr>
      </p:sp>
      <p:sp>
        <p:nvSpPr>
          <p:cNvPr id="6" name="Text 4"/>
          <p:cNvSpPr/>
          <p:nvPr/>
        </p:nvSpPr>
        <p:spPr>
          <a:xfrm>
            <a:off x="960120" y="2331720"/>
            <a:ext cx="1828800" cy="640080"/>
          </a:xfrm>
          <a:prstGeom prst="rect">
            <a:avLst/>
          </a:prstGeom>
          <a:noFill/>
          <a:ln/>
        </p:spPr>
        <p:txBody>
          <a:bodyPr wrap="square" lIns="0" tIns="0" rIns="0" bIns="0" rtlCol="0" anchor="ctr"/>
          <a:lstStyle/>
          <a:p>
            <a:pPr indent="0" marL="0">
              <a:buNone/>
            </a:pPr>
            <a:r>
              <a:rPr lang="en-US" sz="3400" b="1" dirty="0">
                <a:solidFill>
                  <a:srgbClr val="2FBF71"/>
                </a:solidFill>
                <a:latin typeface="Cambria" pitchFamily="34" charset="0"/>
                <a:ea typeface="Cambria" pitchFamily="34" charset="-122"/>
                <a:cs typeface="Cambria" pitchFamily="34" charset="-120"/>
              </a:rPr>
              <a:t>28</a:t>
            </a:r>
            <a:endParaRPr lang="en-US" sz="3400" dirty="0"/>
          </a:p>
        </p:txBody>
      </p:sp>
      <p:sp>
        <p:nvSpPr>
          <p:cNvPr id="7" name="Text 5"/>
          <p:cNvSpPr/>
          <p:nvPr/>
        </p:nvSpPr>
        <p:spPr>
          <a:xfrm>
            <a:off x="960120" y="2953512"/>
            <a:ext cx="438912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tests de Python — pytest</a:t>
            </a:r>
            <a:endParaRPr lang="en-US" sz="1400" dirty="0"/>
          </a:p>
        </p:txBody>
      </p:sp>
      <p:sp>
        <p:nvSpPr>
          <p:cNvPr id="8" name="Text 6"/>
          <p:cNvSpPr/>
          <p:nvPr/>
        </p:nvSpPr>
        <p:spPr>
          <a:xfrm>
            <a:off x="960120" y="3291840"/>
            <a:ext cx="4480560" cy="13716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52606D"/>
                </a:solidFill>
                <a:latin typeface="Calibri" pitchFamily="34" charset="0"/>
                <a:ea typeface="Calibri" pitchFamily="34" charset="-122"/>
                <a:cs typeface="Calibri" pitchFamily="34" charset="-120"/>
              </a:rPr>
              <a:t>Verificación de firma ECDSA P-256</a:t>
            </a:r>
            <a:endParaRPr lang="en-US" sz="1200" dirty="0"/>
          </a:p>
          <a:p>
            <a:pPr marL="342900" indent="-342900">
              <a:spcAft>
                <a:spcPts val="400"/>
              </a:spcAft>
              <a:buSzPct val="100000"/>
              <a:buChar char="•"/>
            </a:pPr>
            <a:r>
              <a:rPr lang="en-US" sz="1200" dirty="0">
                <a:solidFill>
                  <a:srgbClr val="52606D"/>
                </a:solidFill>
                <a:latin typeface="Calibri" pitchFamily="34" charset="0"/>
                <a:ea typeface="Calibri" pitchFamily="34" charset="-122"/>
                <a:cs typeface="Calibri" pitchFamily="34" charset="-120"/>
              </a:rPr>
              <a:t>Proof of Work y encadenado de bloques</a:t>
            </a:r>
            <a:endParaRPr lang="en-US" sz="1200" dirty="0"/>
          </a:p>
          <a:p>
            <a:pPr marL="342900" indent="-342900">
              <a:spcAft>
                <a:spcPts val="400"/>
              </a:spcAft>
              <a:buSzPct val="100000"/>
              <a:buChar char="•"/>
            </a:pPr>
            <a:r>
              <a:rPr lang="en-US" sz="1200" dirty="0">
                <a:solidFill>
                  <a:srgbClr val="52606D"/>
                </a:solidFill>
                <a:latin typeface="Calibri" pitchFamily="34" charset="0"/>
                <a:ea typeface="Calibri" pitchFamily="34" charset="-122"/>
                <a:cs typeface="Calibri" pitchFamily="34" charset="-120"/>
              </a:rPr>
              <a:t>Propiedad de entradas y doble gasto</a:t>
            </a:r>
            <a:endParaRPr lang="en-US" sz="1200" dirty="0"/>
          </a:p>
          <a:p>
            <a:pPr marL="342900" indent="-342900">
              <a:spcAft>
                <a:spcPts val="400"/>
              </a:spcAft>
              <a:buSzPct val="100000"/>
              <a:buChar char="•"/>
            </a:pPr>
            <a:r>
              <a:rPr lang="en-US" sz="1200" dirty="0">
                <a:solidFill>
                  <a:srgbClr val="52606D"/>
                </a:solidFill>
                <a:latin typeface="Calibri" pitchFamily="34" charset="0"/>
                <a:ea typeface="Calibri" pitchFamily="34" charset="-122"/>
                <a:cs typeface="Calibri" pitchFamily="34" charset="-120"/>
              </a:rPr>
              <a:t>Minado del worker CPU</a:t>
            </a:r>
            <a:endParaRPr lang="en-US" sz="1200" dirty="0"/>
          </a:p>
        </p:txBody>
      </p:sp>
      <p:sp>
        <p:nvSpPr>
          <p:cNvPr id="9" name="Shape 7"/>
          <p:cNvSpPr/>
          <p:nvPr/>
        </p:nvSpPr>
        <p:spPr>
          <a:xfrm>
            <a:off x="5989320" y="2148840"/>
            <a:ext cx="5074920" cy="2743200"/>
          </a:xfrm>
          <a:prstGeom prst="roundRect">
            <a:avLst>
              <a:gd name="adj" fmla="val 2667"/>
            </a:avLst>
          </a:prstGeom>
          <a:solidFill>
            <a:srgbClr val="F0F4F8"/>
          </a:solidFill>
          <a:ln w="12700">
            <a:solidFill>
              <a:srgbClr val="F0F4F8"/>
            </a:solidFill>
            <a:prstDash val="solid"/>
          </a:ln>
        </p:spPr>
      </p:sp>
      <p:sp>
        <p:nvSpPr>
          <p:cNvPr id="10" name="Text 8"/>
          <p:cNvSpPr/>
          <p:nvPr/>
        </p:nvSpPr>
        <p:spPr>
          <a:xfrm>
            <a:off x="6309360" y="2331720"/>
            <a:ext cx="1828800" cy="640080"/>
          </a:xfrm>
          <a:prstGeom prst="rect">
            <a:avLst/>
          </a:prstGeom>
          <a:noFill/>
          <a:ln/>
        </p:spPr>
        <p:txBody>
          <a:bodyPr wrap="square" lIns="0" tIns="0" rIns="0" bIns="0" rtlCol="0" anchor="ctr"/>
          <a:lstStyle/>
          <a:p>
            <a:pPr indent="0" marL="0">
              <a:buNone/>
            </a:pPr>
            <a:r>
              <a:rPr lang="en-US" sz="3400" b="1" dirty="0">
                <a:solidFill>
                  <a:srgbClr val="2FBF71"/>
                </a:solidFill>
                <a:latin typeface="Cambria" pitchFamily="34" charset="0"/>
                <a:ea typeface="Cambria" pitchFamily="34" charset="-122"/>
                <a:cs typeface="Cambria" pitchFamily="34" charset="-120"/>
              </a:rPr>
              <a:t>14</a:t>
            </a:r>
            <a:endParaRPr lang="en-US" sz="3400" dirty="0"/>
          </a:p>
        </p:txBody>
      </p:sp>
      <p:sp>
        <p:nvSpPr>
          <p:cNvPr id="11" name="Text 9"/>
          <p:cNvSpPr/>
          <p:nvPr/>
        </p:nvSpPr>
        <p:spPr>
          <a:xfrm>
            <a:off x="6309360" y="2953512"/>
            <a:ext cx="438912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tests de TypeScript — vitest</a:t>
            </a:r>
            <a:endParaRPr lang="en-US" sz="1400" dirty="0"/>
          </a:p>
        </p:txBody>
      </p:sp>
      <p:sp>
        <p:nvSpPr>
          <p:cNvPr id="12" name="Text 10"/>
          <p:cNvSpPr/>
          <p:nvPr/>
        </p:nvSpPr>
        <p:spPr>
          <a:xfrm>
            <a:off x="6309360" y="3291840"/>
            <a:ext cx="4480560" cy="13716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52606D"/>
                </a:solidFill>
                <a:latin typeface="Calibri" pitchFamily="34" charset="0"/>
                <a:ea typeface="Calibri" pitchFamily="34" charset="-122"/>
                <a:cs typeface="Calibri" pitchFamily="34" charset="-120"/>
              </a:rPr>
              <a:t>Verificación de firma del lado servidor</a:t>
            </a:r>
            <a:endParaRPr lang="en-US" sz="1200" dirty="0"/>
          </a:p>
          <a:p>
            <a:pPr marL="342900" indent="-342900">
              <a:spcAft>
                <a:spcPts val="400"/>
              </a:spcAft>
              <a:buSzPct val="100000"/>
              <a:buChar char="•"/>
            </a:pPr>
            <a:r>
              <a:rPr lang="en-US" sz="1200" dirty="0">
                <a:solidFill>
                  <a:srgbClr val="52606D"/>
                </a:solidFill>
                <a:latin typeface="Calibri" pitchFamily="34" charset="0"/>
                <a:ea typeface="Calibri" pitchFamily="34" charset="-122"/>
                <a:cs typeface="Calibri" pitchFamily="34" charset="-120"/>
              </a:rPr>
              <a:t>Integración con MercadoPago y reembolsos</a:t>
            </a:r>
            <a:endParaRPr lang="en-US" sz="1200" dirty="0"/>
          </a:p>
          <a:p>
            <a:pPr marL="342900" indent="-342900">
              <a:spcAft>
                <a:spcPts val="400"/>
              </a:spcAft>
              <a:buSzPct val="100000"/>
              <a:buChar char="•"/>
            </a:pPr>
            <a:r>
              <a:rPr lang="en-US" sz="1200" dirty="0">
                <a:solidFill>
                  <a:srgbClr val="52606D"/>
                </a:solidFill>
                <a:latin typeface="Calibri" pitchFamily="34" charset="0"/>
                <a:ea typeface="Calibri" pitchFamily="34" charset="-122"/>
                <a:cs typeface="Calibri" pitchFamily="34" charset="-120"/>
              </a:rPr>
              <a:t>Webhook de pagos</a:t>
            </a:r>
            <a:endParaRPr lang="en-US" sz="1200" dirty="0"/>
          </a:p>
        </p:txBody>
      </p:sp>
      <p:sp>
        <p:nvSpPr>
          <p:cNvPr id="13" name="Text 11"/>
          <p:cNvSpPr/>
          <p:nvPr/>
        </p:nvSpPr>
        <p:spPr>
          <a:xfrm>
            <a:off x="640080" y="5074920"/>
            <a:ext cx="10424160" cy="54864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Detalle no menor: </a:t>
            </a:r>
            <a:pPr indent="0" marL="0">
              <a:buNone/>
            </a:pPr>
            <a:r>
              <a:rPr lang="en-US" sz="1300" dirty="0">
                <a:solidFill>
                  <a:srgbClr val="1F2933"/>
                </a:solidFill>
                <a:latin typeface="Calibri" pitchFamily="34" charset="0"/>
                <a:ea typeface="Calibri" pitchFamily="34" charset="-122"/>
                <a:cs typeface="Calibri" pitchFamily="34" charset="-120"/>
              </a:rPr>
              <a:t>los tests de Python corren sin infraestructura. Un conftest inyecta dobles de Redis y RabbitMQ antes del import, así que el NCT se testea sin levantar nada.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OBSERVABILIDAD</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Métricas que faltaban para poder analizar</a:t>
            </a:r>
            <a:endParaRPr lang="en-US" sz="3200" dirty="0"/>
          </a:p>
        </p:txBody>
      </p:sp>
      <p:sp>
        <p:nvSpPr>
          <p:cNvPr id="4" name="Text 2"/>
          <p:cNvSpPr/>
          <p:nvPr/>
        </p:nvSpPr>
        <p:spPr>
          <a:xfrm>
            <a:off x="640080" y="1481328"/>
            <a:ext cx="10424160" cy="411480"/>
          </a:xfrm>
          <a:prstGeom prst="rect">
            <a:avLst/>
          </a:prstGeom>
          <a:noFill/>
          <a:ln/>
        </p:spPr>
        <p:txBody>
          <a:bodyPr wrap="square" lIns="0" tIns="0" rIns="0" bIns="0" rtlCol="0" anchor="ctr"/>
          <a:lstStyle/>
          <a:p>
            <a:pPr indent="0" marL="0">
              <a:buNone/>
            </a:pPr>
            <a:r>
              <a:rPr lang="en-US" sz="1400" dirty="0">
                <a:solidFill>
                  <a:srgbClr val="52606D"/>
                </a:solidFill>
                <a:latin typeface="Calibri" pitchFamily="34" charset="0"/>
                <a:ea typeface="Calibri" pitchFamily="34" charset="-122"/>
                <a:cs typeface="Calibri" pitchFamily="34" charset="-120"/>
              </a:rPr>
              <a:t>El checklist pedía cinco métricas por tipo de recurso. Existían dos; agregamos las otras y los paneles para verlas.</a:t>
            </a:r>
            <a:endParaRPr lang="en-US" sz="1400" dirty="0"/>
          </a:p>
        </p:txBody>
      </p:sp>
      <p:sp>
        <p:nvSpPr>
          <p:cNvPr id="5" name="Shape 3"/>
          <p:cNvSpPr/>
          <p:nvPr/>
        </p:nvSpPr>
        <p:spPr>
          <a:xfrm>
            <a:off x="640080" y="2148840"/>
            <a:ext cx="365760" cy="365760"/>
          </a:xfrm>
          <a:prstGeom prst="ellipse">
            <a:avLst/>
          </a:prstGeom>
          <a:solidFill>
            <a:srgbClr val="2FBF71"/>
          </a:solidFill>
          <a:ln w="12700">
            <a:solidFill>
              <a:srgbClr val="2FBF71"/>
            </a:solidFill>
            <a:prstDash val="solid"/>
          </a:ln>
        </p:spPr>
      </p:sp>
      <p:sp>
        <p:nvSpPr>
          <p:cNvPr id="6" name="Text 4"/>
          <p:cNvSpPr/>
          <p:nvPr/>
        </p:nvSpPr>
        <p:spPr>
          <a:xfrm>
            <a:off x="1207008" y="2103120"/>
            <a:ext cx="5486400" cy="292608"/>
          </a:xfrm>
          <a:prstGeom prst="rect">
            <a:avLst/>
          </a:prstGeom>
          <a:noFill/>
          <a:ln/>
        </p:spPr>
        <p:txBody>
          <a:bodyPr wrap="square" lIns="0" tIns="0" rIns="0" bIns="0" rtlCol="0" anchor="ctr"/>
          <a:lstStyle/>
          <a:p>
            <a:pPr indent="0" marL="0">
              <a:buNone/>
            </a:pPr>
            <a:r>
              <a:rPr lang="en-US" sz="1200" b="1" dirty="0">
                <a:solidFill>
                  <a:srgbClr val="1F2933"/>
                </a:solidFill>
                <a:latin typeface="Courier New" pitchFamily="34" charset="0"/>
                <a:ea typeface="Courier New" pitchFamily="34" charset="-122"/>
                <a:cs typeface="Courier New" pitchFamily="34" charset="-120"/>
              </a:rPr>
              <a:t>worker_hashes_total</a:t>
            </a:r>
            <a:endParaRPr lang="en-US" sz="1200" dirty="0"/>
          </a:p>
        </p:txBody>
      </p:sp>
      <p:sp>
        <p:nvSpPr>
          <p:cNvPr id="7" name="Text 5"/>
          <p:cNvSpPr/>
          <p:nvPr/>
        </p:nvSpPr>
        <p:spPr>
          <a:xfrm>
            <a:off x="1207008" y="2386584"/>
            <a:ext cx="9601200" cy="411480"/>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Hashes probados, con valor exacto. La tasa por nodo sale de acá.</a:t>
            </a:r>
            <a:endParaRPr lang="en-US" sz="1200" dirty="0"/>
          </a:p>
        </p:txBody>
      </p:sp>
      <p:sp>
        <p:nvSpPr>
          <p:cNvPr id="8" name="Shape 6"/>
          <p:cNvSpPr/>
          <p:nvPr/>
        </p:nvSpPr>
        <p:spPr>
          <a:xfrm>
            <a:off x="640080" y="2953512"/>
            <a:ext cx="365760" cy="365760"/>
          </a:xfrm>
          <a:prstGeom prst="ellipse">
            <a:avLst/>
          </a:prstGeom>
          <a:solidFill>
            <a:srgbClr val="2FBF71"/>
          </a:solidFill>
          <a:ln w="12700">
            <a:solidFill>
              <a:srgbClr val="2FBF71"/>
            </a:solidFill>
            <a:prstDash val="solid"/>
          </a:ln>
        </p:spPr>
      </p:sp>
      <p:sp>
        <p:nvSpPr>
          <p:cNvPr id="9" name="Text 7"/>
          <p:cNvSpPr/>
          <p:nvPr/>
        </p:nvSpPr>
        <p:spPr>
          <a:xfrm>
            <a:off x="1207008" y="2907792"/>
            <a:ext cx="5486400" cy="292608"/>
          </a:xfrm>
          <a:prstGeom prst="rect">
            <a:avLst/>
          </a:prstGeom>
          <a:noFill/>
          <a:ln/>
        </p:spPr>
        <p:txBody>
          <a:bodyPr wrap="square" lIns="0" tIns="0" rIns="0" bIns="0" rtlCol="0" anchor="ctr"/>
          <a:lstStyle/>
          <a:p>
            <a:pPr indent="0" marL="0">
              <a:buNone/>
            </a:pPr>
            <a:r>
              <a:rPr lang="en-US" sz="1200" b="1" dirty="0">
                <a:solidFill>
                  <a:srgbClr val="1F2933"/>
                </a:solidFill>
                <a:latin typeface="Courier New" pitchFamily="34" charset="0"/>
                <a:ea typeface="Courier New" pitchFamily="34" charset="-122"/>
                <a:cs typeface="Courier New" pitchFamily="34" charset="-120"/>
              </a:rPr>
              <a:t>nct_block_mining_seconds{difficulty}</a:t>
            </a:r>
            <a:endParaRPr lang="en-US" sz="1200" dirty="0"/>
          </a:p>
        </p:txBody>
      </p:sp>
      <p:sp>
        <p:nvSpPr>
          <p:cNvPr id="10" name="Text 8"/>
          <p:cNvSpPr/>
          <p:nvPr/>
        </p:nvSpPr>
        <p:spPr>
          <a:xfrm>
            <a:off x="1207008" y="3191256"/>
            <a:ext cx="9601200" cy="411480"/>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Se agregó la etiqueta de dificultad: habilita el análisis por prefijo.</a:t>
            </a:r>
            <a:endParaRPr lang="en-US" sz="1200" dirty="0"/>
          </a:p>
        </p:txBody>
      </p:sp>
      <p:sp>
        <p:nvSpPr>
          <p:cNvPr id="11" name="Shape 9"/>
          <p:cNvSpPr/>
          <p:nvPr/>
        </p:nvSpPr>
        <p:spPr>
          <a:xfrm>
            <a:off x="640080" y="3758184"/>
            <a:ext cx="365760" cy="365760"/>
          </a:xfrm>
          <a:prstGeom prst="ellipse">
            <a:avLst/>
          </a:prstGeom>
          <a:solidFill>
            <a:srgbClr val="2FBF71"/>
          </a:solidFill>
          <a:ln w="12700">
            <a:solidFill>
              <a:srgbClr val="2FBF71"/>
            </a:solidFill>
            <a:prstDash val="solid"/>
          </a:ln>
        </p:spPr>
      </p:sp>
      <p:sp>
        <p:nvSpPr>
          <p:cNvPr id="12" name="Text 10"/>
          <p:cNvSpPr/>
          <p:nvPr/>
        </p:nvSpPr>
        <p:spPr>
          <a:xfrm>
            <a:off x="1207008" y="3712464"/>
            <a:ext cx="5486400" cy="292608"/>
          </a:xfrm>
          <a:prstGeom prst="rect">
            <a:avLst/>
          </a:prstGeom>
          <a:noFill/>
          <a:ln/>
        </p:spPr>
        <p:txBody>
          <a:bodyPr wrap="square" lIns="0" tIns="0" rIns="0" bIns="0" rtlCol="0" anchor="ctr"/>
          <a:lstStyle/>
          <a:p>
            <a:pPr indent="0" marL="0">
              <a:buNone/>
            </a:pPr>
            <a:r>
              <a:rPr lang="en-US" sz="1200" b="1" dirty="0">
                <a:solidFill>
                  <a:srgbClr val="1F2933"/>
                </a:solidFill>
                <a:latin typeface="Courier New" pitchFamily="34" charset="0"/>
                <a:ea typeface="Courier New" pitchFamily="34" charset="-122"/>
                <a:cs typeface="Courier New" pitchFamily="34" charset="-120"/>
              </a:rPr>
              <a:t>worker_task_queue_latency_seconds</a:t>
            </a:r>
            <a:endParaRPr lang="en-US" sz="1200" dirty="0"/>
          </a:p>
        </p:txBody>
      </p:sp>
      <p:sp>
        <p:nvSpPr>
          <p:cNvPr id="13" name="Text 11"/>
          <p:cNvSpPr/>
          <p:nvPr/>
        </p:nvSpPr>
        <p:spPr>
          <a:xfrm>
            <a:off x="1207008" y="3995928"/>
            <a:ext cx="9601200" cy="411480"/>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Latencia entre que el TrP publica el chunk y el worker lo toma.</a:t>
            </a:r>
            <a:endParaRPr lang="en-US" sz="1200" dirty="0"/>
          </a:p>
        </p:txBody>
      </p:sp>
      <p:sp>
        <p:nvSpPr>
          <p:cNvPr id="14" name="Shape 12"/>
          <p:cNvSpPr/>
          <p:nvPr/>
        </p:nvSpPr>
        <p:spPr>
          <a:xfrm>
            <a:off x="640080" y="4562856"/>
            <a:ext cx="365760" cy="365760"/>
          </a:xfrm>
          <a:prstGeom prst="ellipse">
            <a:avLst/>
          </a:prstGeom>
          <a:solidFill>
            <a:srgbClr val="2FBF71"/>
          </a:solidFill>
          <a:ln w="12700">
            <a:solidFill>
              <a:srgbClr val="2FBF71"/>
            </a:solidFill>
            <a:prstDash val="solid"/>
          </a:ln>
        </p:spPr>
      </p:sp>
      <p:sp>
        <p:nvSpPr>
          <p:cNvPr id="15" name="Text 13"/>
          <p:cNvSpPr/>
          <p:nvPr/>
        </p:nvSpPr>
        <p:spPr>
          <a:xfrm>
            <a:off x="1207008" y="4517136"/>
            <a:ext cx="5486400" cy="292608"/>
          </a:xfrm>
          <a:prstGeom prst="rect">
            <a:avLst/>
          </a:prstGeom>
          <a:noFill/>
          <a:ln/>
        </p:spPr>
        <p:txBody>
          <a:bodyPr wrap="square" lIns="0" tIns="0" rIns="0" bIns="0" rtlCol="0" anchor="ctr"/>
          <a:lstStyle/>
          <a:p>
            <a:pPr indent="0" marL="0">
              <a:buNone/>
            </a:pPr>
            <a:r>
              <a:rPr lang="en-US" sz="1200" b="1" dirty="0">
                <a:solidFill>
                  <a:srgbClr val="1F2933"/>
                </a:solidFill>
                <a:latin typeface="Courier New" pitchFamily="34" charset="0"/>
                <a:ea typeface="Courier New" pitchFamily="34" charset="-122"/>
                <a:cs typeface="Courier New" pitchFamily="34" charset="-120"/>
              </a:rPr>
              <a:t>nct_block_validation_seconds</a:t>
            </a:r>
            <a:endParaRPr lang="en-US" sz="1200" dirty="0"/>
          </a:p>
        </p:txBody>
      </p:sp>
      <p:sp>
        <p:nvSpPr>
          <p:cNvPr id="16" name="Text 14"/>
          <p:cNvSpPr/>
          <p:nvPr/>
        </p:nvSpPr>
        <p:spPr>
          <a:xfrm>
            <a:off x="1207008" y="4800600"/>
            <a:ext cx="9601200" cy="411480"/>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Tiempo de verificar el PoW de la solución ganadora.</a:t>
            </a:r>
            <a:endParaRPr lang="en-US" sz="1200" dirty="0"/>
          </a:p>
        </p:txBody>
      </p:sp>
      <p:sp>
        <p:nvSpPr>
          <p:cNvPr id="17" name="Text 15"/>
          <p:cNvSpPr/>
          <p:nvPr/>
        </p:nvSpPr>
        <p:spPr>
          <a:xfrm>
            <a:off x="640080" y="5440680"/>
            <a:ext cx="10424160" cy="7315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Decisión de diseño: </a:t>
            </a:r>
            <a:pPr indent="0" marL="0">
              <a:buNone/>
            </a:pPr>
            <a:r>
              <a:rPr lang="en-US" sz="1200" dirty="0">
                <a:solidFill>
                  <a:srgbClr val="1F2933"/>
                </a:solidFill>
                <a:latin typeface="Calibri" pitchFamily="34" charset="0"/>
                <a:ea typeface="Calibri" pitchFamily="34" charset="-122"/>
                <a:cs typeface="Calibri" pitchFamily="34" charset="-120"/>
              </a:rPr>
              <a:t>no se etiquetó por identificador de worker. Ese id es un UUID nuevo en cada arranque, así que como etiqueta generaría una serie temporal distinta por reinicio y la cardinalidad crecería sin techo. Para desagregar por nodo alcanza con la etiqueta que Prometheus ya agrega.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KUBERNETES E IAC</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Endurecimiento para ambiente productivo</a:t>
            </a:r>
            <a:endParaRPr lang="en-US" sz="3200" dirty="0"/>
          </a:p>
        </p:txBody>
      </p:sp>
      <p:sp>
        <p:nvSpPr>
          <p:cNvPr id="4" name="Shape 2"/>
          <p:cNvSpPr/>
          <p:nvPr/>
        </p:nvSpPr>
        <p:spPr>
          <a:xfrm>
            <a:off x="640080" y="1636776"/>
            <a:ext cx="420624" cy="420624"/>
          </a:xfrm>
          <a:prstGeom prst="ellipse">
            <a:avLst/>
          </a:prstGeom>
          <a:solidFill>
            <a:srgbClr val="1F2933"/>
          </a:solidFill>
          <a:ln w="12700">
            <a:solidFill>
              <a:srgbClr val="1F2933"/>
            </a:solidFill>
            <a:prstDash val="solid"/>
          </a:ln>
        </p:spPr>
      </p:sp>
      <p:sp>
        <p:nvSpPr>
          <p:cNvPr id="5" name="Text 3"/>
          <p:cNvSpPr/>
          <p:nvPr/>
        </p:nvSpPr>
        <p:spPr>
          <a:xfrm>
            <a:off x="640080" y="16367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61872" y="1600200"/>
            <a:ext cx="961948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securityContext en los 12 workloads</a:t>
            </a:r>
            <a:endParaRPr lang="en-US" sz="1500" dirty="0"/>
          </a:p>
        </p:txBody>
      </p:sp>
      <p:sp>
        <p:nvSpPr>
          <p:cNvPr id="7" name="Text 5"/>
          <p:cNvSpPr/>
          <p:nvPr/>
        </p:nvSpPr>
        <p:spPr>
          <a:xfrm>
            <a:off x="1261872" y="1883664"/>
            <a:ext cx="961948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Ninguno corre como root. Usuario explícito por imagen y todas las capabilities del kernel descartadas.</a:t>
            </a:r>
            <a:endParaRPr lang="en-US" sz="1200" dirty="0"/>
          </a:p>
        </p:txBody>
      </p:sp>
      <p:sp>
        <p:nvSpPr>
          <p:cNvPr id="8" name="Shape 6"/>
          <p:cNvSpPr/>
          <p:nvPr/>
        </p:nvSpPr>
        <p:spPr>
          <a:xfrm>
            <a:off x="640080" y="2606040"/>
            <a:ext cx="420624" cy="420624"/>
          </a:xfrm>
          <a:prstGeom prst="ellipse">
            <a:avLst/>
          </a:prstGeom>
          <a:solidFill>
            <a:srgbClr val="1F2933"/>
          </a:solidFill>
          <a:ln w="12700">
            <a:solidFill>
              <a:srgbClr val="1F2933"/>
            </a:solidFill>
            <a:prstDash val="solid"/>
          </a:ln>
        </p:spPr>
      </p:sp>
      <p:sp>
        <p:nvSpPr>
          <p:cNvPr id="9" name="Text 7"/>
          <p:cNvSpPr/>
          <p:nvPr/>
        </p:nvSpPr>
        <p:spPr>
          <a:xfrm>
            <a:off x="640080" y="26060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261872" y="2569464"/>
            <a:ext cx="961948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Autoescalado en dos niveles</a:t>
            </a:r>
            <a:endParaRPr lang="en-US" sz="1500" dirty="0"/>
          </a:p>
        </p:txBody>
      </p:sp>
      <p:sp>
        <p:nvSpPr>
          <p:cNvPr id="11" name="Text 9"/>
          <p:cNvSpPr/>
          <p:nvPr/>
        </p:nvSpPr>
        <p:spPr>
          <a:xfrm>
            <a:off x="1261872" y="2852928"/>
            <a:ext cx="961948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Cluster Autoscaler en los node pools y HPA para frontend y NCT. Las dos piezas se necesitan juntas.</a:t>
            </a:r>
            <a:endParaRPr lang="en-US" sz="1200" dirty="0"/>
          </a:p>
        </p:txBody>
      </p:sp>
      <p:sp>
        <p:nvSpPr>
          <p:cNvPr id="12" name="Shape 10"/>
          <p:cNvSpPr/>
          <p:nvPr/>
        </p:nvSpPr>
        <p:spPr>
          <a:xfrm>
            <a:off x="640080" y="3575304"/>
            <a:ext cx="420624" cy="420624"/>
          </a:xfrm>
          <a:prstGeom prst="ellipse">
            <a:avLst/>
          </a:prstGeom>
          <a:solidFill>
            <a:srgbClr val="1F2933"/>
          </a:solidFill>
          <a:ln w="12700">
            <a:solidFill>
              <a:srgbClr val="1F2933"/>
            </a:solidFill>
            <a:prstDash val="solid"/>
          </a:ln>
        </p:spPr>
      </p:sp>
      <p:sp>
        <p:nvSpPr>
          <p:cNvPr id="13" name="Text 11"/>
          <p:cNvSpPr/>
          <p:nvPr/>
        </p:nvSpPr>
        <p:spPr>
          <a:xfrm>
            <a:off x="640080" y="35753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61872" y="3538728"/>
            <a:ext cx="961948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StatefulSet para los servicios con estado</a:t>
            </a:r>
            <a:endParaRPr lang="en-US" sz="1500" dirty="0"/>
          </a:p>
        </p:txBody>
      </p:sp>
      <p:sp>
        <p:nvSpPr>
          <p:cNvPr id="15" name="Text 13"/>
          <p:cNvSpPr/>
          <p:nvPr/>
        </p:nvSpPr>
        <p:spPr>
          <a:xfrm>
            <a:off x="1261872" y="3822192"/>
            <a:ext cx="961948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Postgres, Redis y RabbitMQ con volumen propio por réplica, en lugar de un disco compartido.</a:t>
            </a:r>
            <a:endParaRPr lang="en-US" sz="1200" dirty="0"/>
          </a:p>
        </p:txBody>
      </p:sp>
      <p:sp>
        <p:nvSpPr>
          <p:cNvPr id="16" name="Shape 14"/>
          <p:cNvSpPr/>
          <p:nvPr/>
        </p:nvSpPr>
        <p:spPr>
          <a:xfrm>
            <a:off x="640080" y="4544568"/>
            <a:ext cx="420624" cy="420624"/>
          </a:xfrm>
          <a:prstGeom prst="ellipse">
            <a:avLst/>
          </a:prstGeom>
          <a:solidFill>
            <a:srgbClr val="1F2933"/>
          </a:solidFill>
          <a:ln w="12700">
            <a:solidFill>
              <a:srgbClr val="1F2933"/>
            </a:solidFill>
            <a:prstDash val="solid"/>
          </a:ln>
        </p:spPr>
      </p:sp>
      <p:sp>
        <p:nvSpPr>
          <p:cNvPr id="17" name="Text 15"/>
          <p:cNvSpPr/>
          <p:nvPr/>
        </p:nvSpPr>
        <p:spPr>
          <a:xfrm>
            <a:off x="640080" y="4544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261872" y="4507992"/>
            <a:ext cx="961948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Separación de cargas impuesta</a:t>
            </a:r>
            <a:endParaRPr lang="en-US" sz="1500" dirty="0"/>
          </a:p>
        </p:txBody>
      </p:sp>
      <p:sp>
        <p:nvSpPr>
          <p:cNvPr id="19" name="Text 17"/>
          <p:cNvSpPr/>
          <p:nvPr/>
        </p:nvSpPr>
        <p:spPr>
          <a:xfrm>
            <a:off x="1261872" y="4791456"/>
            <a:ext cx="961948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Taints y tolerations, no solo selectores. Verificamos los 19 workloads: ninguno queda sin poder programarse.</a:t>
            </a:r>
            <a:endParaRPr lang="en-US" sz="1200" dirty="0"/>
          </a:p>
        </p:txBody>
      </p:sp>
      <p:sp>
        <p:nvSpPr>
          <p:cNvPr id="20" name="Shape 18"/>
          <p:cNvSpPr/>
          <p:nvPr/>
        </p:nvSpPr>
        <p:spPr>
          <a:xfrm>
            <a:off x="640080" y="5486400"/>
            <a:ext cx="10424160" cy="777240"/>
          </a:xfrm>
          <a:prstGeom prst="roundRect">
            <a:avLst>
              <a:gd name="adj" fmla="val 9412"/>
            </a:avLst>
          </a:prstGeom>
          <a:solidFill>
            <a:srgbClr val="F0F4F8"/>
          </a:solidFill>
          <a:ln w="12700">
            <a:solidFill>
              <a:srgbClr val="F0F4F8"/>
            </a:solidFill>
            <a:prstDash val="solid"/>
          </a:ln>
        </p:spPr>
      </p:sp>
      <p:sp>
        <p:nvSpPr>
          <p:cNvPr id="21" name="Text 19"/>
          <p:cNvSpPr/>
          <p:nvPr/>
        </p:nvSpPr>
        <p:spPr>
          <a:xfrm>
            <a:off x="914400" y="5614416"/>
            <a:ext cx="9875520" cy="548640"/>
          </a:xfrm>
          <a:prstGeom prst="rect">
            <a:avLst/>
          </a:prstGeom>
          <a:noFill/>
          <a:ln/>
        </p:spPr>
        <p:txBody>
          <a:bodyPr wrap="square" lIns="0" tIns="0" rIns="0" bIns="0" rtlCol="0" anchor="ctr"/>
          <a:lstStyle/>
          <a:p>
            <a:pPr indent="0" marL="0">
              <a:buNone/>
            </a:pPr>
            <a:r>
              <a:rPr lang="en-US" sz="1200" b="1" dirty="0">
                <a:solidFill>
                  <a:srgbClr val="E8871E"/>
                </a:solidFill>
                <a:latin typeface="Calibri" pitchFamily="34" charset="0"/>
                <a:ea typeface="Calibri" pitchFamily="34" charset="-122"/>
                <a:cs typeface="Calibri" pitchFamily="34" charset="-120"/>
              </a:rPr>
              <a:t>El detalle que evita romper el cluster: </a:t>
            </a:r>
            <a:pPr indent="0" marL="0">
              <a:buNone/>
            </a:pPr>
            <a:r>
              <a:rPr lang="en-US" sz="1200" dirty="0">
                <a:solidFill>
                  <a:srgbClr val="1F2933"/>
                </a:solidFill>
                <a:latin typeface="Calibri" pitchFamily="34" charset="0"/>
                <a:ea typeface="Calibri" pitchFamily="34" charset="-122"/>
                <a:cs typeface="Calibri" pitchFamily="34" charset="-120"/>
              </a:rPr>
              <a:t>el pool de infraestructura quedó sin taint a propósito. Los complementos gestionados de GKE solo toleran uno específico; si tainteábamos los tres pools, el DNS del cluster se quedaba sin dónde ejecutarse.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LO QUE APARECIÓ AL MEDIR</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Hallazgo 1: se buscaba en el lugar equivocado</a:t>
            </a:r>
            <a:endParaRPr lang="en-US" sz="3200" dirty="0"/>
          </a:p>
        </p:txBody>
      </p:sp>
      <p:sp>
        <p:nvSpPr>
          <p:cNvPr id="4" name="Text 2"/>
          <p:cNvSpPr/>
          <p:nvPr/>
        </p:nvSpPr>
        <p:spPr>
          <a:xfrm>
            <a:off x="640080" y="1481328"/>
            <a:ext cx="10424160" cy="457200"/>
          </a:xfrm>
          <a:prstGeom prst="rect">
            <a:avLst/>
          </a:prstGeom>
          <a:noFill/>
          <a:ln/>
        </p:spPr>
        <p:txBody>
          <a:bodyPr wrap="square" lIns="0" tIns="0" rIns="0" bIns="0" rtlCol="0" anchor="ctr"/>
          <a:lstStyle/>
          <a:p>
            <a:pPr indent="0" marL="0">
              <a:buNone/>
            </a:pPr>
            <a:r>
              <a:rPr lang="en-US" sz="1400" dirty="0">
                <a:solidFill>
                  <a:srgbClr val="52606D"/>
                </a:solidFill>
                <a:latin typeface="Calibri" pitchFamily="34" charset="0"/>
                <a:ea typeface="Calibri" pitchFamily="34" charset="-122"/>
                <a:cs typeface="Calibri" pitchFamily="34" charset="-120"/>
              </a:rPr>
              <a:t>Durante meses la conclusión fue que la dificultad 6 era impracticable en CPU. Al medir la velocidad real de minado, el diagnóstico cambió.</a:t>
            </a:r>
            <a:endParaRPr lang="en-US" sz="1400" dirty="0"/>
          </a:p>
        </p:txBody>
      </p:sp>
      <p:sp>
        <p:nvSpPr>
          <p:cNvPr id="5" name="Shape 3"/>
          <p:cNvSpPr/>
          <p:nvPr/>
        </p:nvSpPr>
        <p:spPr>
          <a:xfrm>
            <a:off x="640080" y="2148840"/>
            <a:ext cx="5029200" cy="2286000"/>
          </a:xfrm>
          <a:prstGeom prst="roundRect">
            <a:avLst>
              <a:gd name="adj" fmla="val 3200"/>
            </a:avLst>
          </a:prstGeom>
          <a:solidFill>
            <a:srgbClr val="F0F4F8"/>
          </a:solidFill>
          <a:ln w="12700">
            <a:solidFill>
              <a:srgbClr val="F0F4F8"/>
            </a:solidFill>
            <a:prstDash val="solid"/>
          </a:ln>
        </p:spPr>
      </p:sp>
      <p:sp>
        <p:nvSpPr>
          <p:cNvPr id="6" name="Text 4"/>
          <p:cNvSpPr/>
          <p:nvPr/>
        </p:nvSpPr>
        <p:spPr>
          <a:xfrm>
            <a:off x="914400" y="2286000"/>
            <a:ext cx="4480560" cy="292608"/>
          </a:xfrm>
          <a:prstGeom prst="rect">
            <a:avLst/>
          </a:prstGeom>
          <a:noFill/>
          <a:ln/>
        </p:spPr>
        <p:txBody>
          <a:bodyPr wrap="square" lIns="0" tIns="0" rIns="0" bIns="0" rtlCol="0" anchor="ctr"/>
          <a:lstStyle/>
          <a:p>
            <a:pPr indent="0" marL="0">
              <a:buNone/>
            </a:pPr>
            <a:r>
              <a:rPr lang="en-US" sz="1400" b="1" dirty="0">
                <a:solidFill>
                  <a:srgbClr val="E8871E"/>
                </a:solidFill>
                <a:latin typeface="Calibri" pitchFamily="34" charset="0"/>
                <a:ea typeface="Calibri" pitchFamily="34" charset="-122"/>
                <a:cs typeface="Calibri" pitchFamily="34" charset="-120"/>
              </a:rPr>
              <a:t>Lo que se creía</a:t>
            </a:r>
            <a:endParaRPr lang="en-US" sz="1400" dirty="0"/>
          </a:p>
        </p:txBody>
      </p:sp>
      <p:sp>
        <p:nvSpPr>
          <p:cNvPr id="7" name="Text 5"/>
          <p:cNvSpPr/>
          <p:nvPr/>
        </p:nvSpPr>
        <p:spPr>
          <a:xfrm>
            <a:off x="914400" y="2651760"/>
            <a:ext cx="4480560" cy="914400"/>
          </a:xfrm>
          <a:prstGeom prst="rect">
            <a:avLst/>
          </a:prstGeom>
          <a:noFill/>
          <a:ln/>
        </p:spPr>
        <p:txBody>
          <a:bodyPr wrap="square" lIns="0" tIns="0" rIns="0" bIns="0" rtlCol="0" anchor="ctr"/>
          <a:lstStyle/>
          <a:p>
            <a:pPr indent="0" marL="0">
              <a:buNone/>
            </a:pPr>
            <a:r>
              <a:rPr lang="en-US" sz="1300" dirty="0">
                <a:solidFill>
                  <a:srgbClr val="52606D"/>
                </a:solidFill>
                <a:latin typeface="Calibri" pitchFamily="34" charset="0"/>
                <a:ea typeface="Calibri" pitchFamily="34" charset="-122"/>
                <a:cs typeface="Calibri" pitchFamily="34" charset="-120"/>
              </a:rPr>
              <a:t>El minado en CPU no daba abasto para prefijos de 6 ceros o más. Las corridas se colgaban y se abandonaban por timeout.</a:t>
            </a:r>
            <a:endParaRPr lang="en-US" sz="1300" dirty="0"/>
          </a:p>
        </p:txBody>
      </p:sp>
      <p:sp>
        <p:nvSpPr>
          <p:cNvPr id="8" name="Shape 6"/>
          <p:cNvSpPr/>
          <p:nvPr/>
        </p:nvSpPr>
        <p:spPr>
          <a:xfrm>
            <a:off x="6035040" y="2148840"/>
            <a:ext cx="5029200" cy="2286000"/>
          </a:xfrm>
          <a:prstGeom prst="roundRect">
            <a:avLst>
              <a:gd name="adj" fmla="val 3200"/>
            </a:avLst>
          </a:prstGeom>
          <a:solidFill>
            <a:srgbClr val="F0F4F8"/>
          </a:solidFill>
          <a:ln w="12700">
            <a:solidFill>
              <a:srgbClr val="F0F4F8"/>
            </a:solidFill>
            <a:prstDash val="solid"/>
          </a:ln>
        </p:spPr>
      </p:sp>
      <p:sp>
        <p:nvSpPr>
          <p:cNvPr id="9" name="Text 7"/>
          <p:cNvSpPr/>
          <p:nvPr/>
        </p:nvSpPr>
        <p:spPr>
          <a:xfrm>
            <a:off x="6309360" y="2286000"/>
            <a:ext cx="4480560" cy="292608"/>
          </a:xfrm>
          <a:prstGeom prst="rect">
            <a:avLst/>
          </a:prstGeom>
          <a:noFill/>
          <a:ln/>
        </p:spPr>
        <p:txBody>
          <a:bodyPr wrap="square" lIns="0" tIns="0" rIns="0" bIns="0" rtlCol="0" anchor="ctr"/>
          <a:lstStyle/>
          <a:p>
            <a:pPr indent="0" marL="0">
              <a:buNone/>
            </a:pPr>
            <a:r>
              <a:rPr lang="en-US" sz="1400" b="1" dirty="0">
                <a:solidFill>
                  <a:srgbClr val="2FBF71"/>
                </a:solidFill>
                <a:latin typeface="Calibri" pitchFamily="34" charset="0"/>
                <a:ea typeface="Calibri" pitchFamily="34" charset="-122"/>
                <a:cs typeface="Calibri" pitchFamily="34" charset="-120"/>
              </a:rPr>
              <a:t>Lo que pasaba de verdad</a:t>
            </a:r>
            <a:endParaRPr lang="en-US" sz="1400" dirty="0"/>
          </a:p>
        </p:txBody>
      </p:sp>
      <p:sp>
        <p:nvSpPr>
          <p:cNvPr id="10" name="Text 8"/>
          <p:cNvSpPr/>
          <p:nvPr/>
        </p:nvSpPr>
        <p:spPr>
          <a:xfrm>
            <a:off x="6309360" y="2651760"/>
            <a:ext cx="4480560" cy="914400"/>
          </a:xfrm>
          <a:prstGeom prst="rect">
            <a:avLst/>
          </a:prstGeom>
          <a:noFill/>
          <a:ln/>
        </p:spPr>
        <p:txBody>
          <a:bodyPr wrap="square" lIns="0" tIns="0" rIns="0" bIns="0" rtlCol="0" anchor="ctr"/>
          <a:lstStyle/>
          <a:p>
            <a:pPr indent="0" marL="0">
              <a:buNone/>
            </a:pPr>
            <a:r>
              <a:rPr lang="en-US" sz="1300" dirty="0">
                <a:solidFill>
                  <a:srgbClr val="52606D"/>
                </a:solidFill>
                <a:latin typeface="Calibri" pitchFamily="34" charset="0"/>
                <a:ea typeface="Calibri" pitchFamily="34" charset="-122"/>
                <a:cs typeface="Calibri" pitchFamily="34" charset="-120"/>
              </a:rPr>
              <a:t>El espacio de nonces estaba fijo en 10 millones dentro del código, y para 6 ceros el nonce esperado son 16,8 millones. La solución no estaba adentro.</a:t>
            </a:r>
            <a:endParaRPr lang="en-US" sz="1300" dirty="0"/>
          </a:p>
        </p:txBody>
      </p:sp>
      <p:sp>
        <p:nvSpPr>
          <p:cNvPr id="11" name="Shape 9"/>
          <p:cNvSpPr/>
          <p:nvPr/>
        </p:nvSpPr>
        <p:spPr>
          <a:xfrm>
            <a:off x="640080" y="4617720"/>
            <a:ext cx="3246120" cy="1508760"/>
          </a:xfrm>
          <a:prstGeom prst="roundRect">
            <a:avLst>
              <a:gd name="adj" fmla="val 4848"/>
            </a:avLst>
          </a:prstGeom>
          <a:solidFill>
            <a:srgbClr val="F0F4F8"/>
          </a:solidFill>
          <a:ln w="12700">
            <a:solidFill>
              <a:srgbClr val="F0F4F8"/>
            </a:solidFill>
            <a:prstDash val="solid"/>
          </a:ln>
        </p:spPr>
      </p:sp>
      <p:sp>
        <p:nvSpPr>
          <p:cNvPr id="12" name="Text 10"/>
          <p:cNvSpPr/>
          <p:nvPr/>
        </p:nvSpPr>
        <p:spPr>
          <a:xfrm>
            <a:off x="868680" y="4782312"/>
            <a:ext cx="2788920" cy="685800"/>
          </a:xfrm>
          <a:prstGeom prst="rect">
            <a:avLst/>
          </a:prstGeom>
          <a:noFill/>
          <a:ln/>
        </p:spPr>
        <p:txBody>
          <a:bodyPr wrap="square" lIns="0" tIns="0" rIns="0" bIns="0" rtlCol="0" anchor="ctr"/>
          <a:lstStyle/>
          <a:p>
            <a:pPr indent="0" marL="0">
              <a:buNone/>
            </a:pPr>
            <a:r>
              <a:rPr lang="en-US" sz="3800" b="1" dirty="0">
                <a:solidFill>
                  <a:srgbClr val="1F2933"/>
                </a:solidFill>
                <a:latin typeface="Cambria" pitchFamily="34" charset="0"/>
                <a:ea typeface="Cambria" pitchFamily="34" charset="-122"/>
                <a:cs typeface="Cambria" pitchFamily="34" charset="-120"/>
              </a:rPr>
              <a:t>904.373</a:t>
            </a:r>
            <a:endParaRPr lang="en-US" sz="3800" dirty="0"/>
          </a:p>
        </p:txBody>
      </p:sp>
      <p:sp>
        <p:nvSpPr>
          <p:cNvPr id="13" name="Text 11"/>
          <p:cNvSpPr/>
          <p:nvPr/>
        </p:nvSpPr>
        <p:spPr>
          <a:xfrm>
            <a:off x="868680" y="5458968"/>
            <a:ext cx="278892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hashes por segundo</a:t>
            </a:r>
            <a:endParaRPr lang="en-US" sz="1300" dirty="0"/>
          </a:p>
        </p:txBody>
      </p:sp>
      <p:sp>
        <p:nvSpPr>
          <p:cNvPr id="14" name="Text 12"/>
          <p:cNvSpPr/>
          <p:nvPr/>
        </p:nvSpPr>
        <p:spPr>
          <a:xfrm>
            <a:off x="868680" y="5715000"/>
            <a:ext cx="2788920"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medido por worker</a:t>
            </a:r>
            <a:endParaRPr lang="en-US" sz="1100" dirty="0"/>
          </a:p>
        </p:txBody>
      </p:sp>
      <p:sp>
        <p:nvSpPr>
          <p:cNvPr id="15" name="Shape 13"/>
          <p:cNvSpPr/>
          <p:nvPr/>
        </p:nvSpPr>
        <p:spPr>
          <a:xfrm>
            <a:off x="4206240" y="4617720"/>
            <a:ext cx="3246120" cy="1508760"/>
          </a:xfrm>
          <a:prstGeom prst="roundRect">
            <a:avLst>
              <a:gd name="adj" fmla="val 4848"/>
            </a:avLst>
          </a:prstGeom>
          <a:solidFill>
            <a:srgbClr val="F0F4F8"/>
          </a:solidFill>
          <a:ln w="12700">
            <a:solidFill>
              <a:srgbClr val="F0F4F8"/>
            </a:solidFill>
            <a:prstDash val="solid"/>
          </a:ln>
        </p:spPr>
      </p:sp>
      <p:sp>
        <p:nvSpPr>
          <p:cNvPr id="16" name="Text 14"/>
          <p:cNvSpPr/>
          <p:nvPr/>
        </p:nvSpPr>
        <p:spPr>
          <a:xfrm>
            <a:off x="4434840" y="4782312"/>
            <a:ext cx="2788920" cy="685800"/>
          </a:xfrm>
          <a:prstGeom prst="rect">
            <a:avLst/>
          </a:prstGeom>
          <a:noFill/>
          <a:ln/>
        </p:spPr>
        <p:txBody>
          <a:bodyPr wrap="square" lIns="0" tIns="0" rIns="0" bIns="0" rtlCol="0" anchor="ctr"/>
          <a:lstStyle/>
          <a:p>
            <a:pPr indent="0" marL="0">
              <a:buNone/>
            </a:pPr>
            <a:r>
              <a:rPr lang="en-US" sz="3800" b="1" dirty="0">
                <a:solidFill>
                  <a:srgbClr val="2FBF71"/>
                </a:solidFill>
                <a:latin typeface="Cambria" pitchFamily="34" charset="0"/>
                <a:ea typeface="Cambria" pitchFamily="34" charset="-122"/>
                <a:cs typeface="Cambria" pitchFamily="34" charset="-120"/>
              </a:rPr>
              <a:t>18,6 s</a:t>
            </a:r>
            <a:endParaRPr lang="en-US" sz="3800" dirty="0"/>
          </a:p>
        </p:txBody>
      </p:sp>
      <p:sp>
        <p:nvSpPr>
          <p:cNvPr id="17" name="Text 15"/>
          <p:cNvSpPr/>
          <p:nvPr/>
        </p:nvSpPr>
        <p:spPr>
          <a:xfrm>
            <a:off x="4434840" y="5458968"/>
            <a:ext cx="278892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minado real de dificultad 6</a:t>
            </a:r>
            <a:endParaRPr lang="en-US" sz="1300" dirty="0"/>
          </a:p>
        </p:txBody>
      </p:sp>
      <p:sp>
        <p:nvSpPr>
          <p:cNvPr id="18" name="Text 16"/>
          <p:cNvSpPr/>
          <p:nvPr/>
        </p:nvSpPr>
        <p:spPr>
          <a:xfrm>
            <a:off x="4434840" y="5715000"/>
            <a:ext cx="2788920"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con un solo worker</a:t>
            </a:r>
            <a:endParaRPr lang="en-US" sz="1100" dirty="0"/>
          </a:p>
        </p:txBody>
      </p:sp>
      <p:sp>
        <p:nvSpPr>
          <p:cNvPr id="19" name="Shape 17"/>
          <p:cNvSpPr/>
          <p:nvPr/>
        </p:nvSpPr>
        <p:spPr>
          <a:xfrm>
            <a:off x="7818120" y="4617720"/>
            <a:ext cx="3246120" cy="1508760"/>
          </a:xfrm>
          <a:prstGeom prst="roundRect">
            <a:avLst>
              <a:gd name="adj" fmla="val 4848"/>
            </a:avLst>
          </a:prstGeom>
          <a:solidFill>
            <a:srgbClr val="F0F4F8"/>
          </a:solidFill>
          <a:ln w="12700">
            <a:solidFill>
              <a:srgbClr val="F0F4F8"/>
            </a:solidFill>
            <a:prstDash val="solid"/>
          </a:ln>
        </p:spPr>
      </p:sp>
      <p:sp>
        <p:nvSpPr>
          <p:cNvPr id="20" name="Text 18"/>
          <p:cNvSpPr/>
          <p:nvPr/>
        </p:nvSpPr>
        <p:spPr>
          <a:xfrm>
            <a:off x="8046720" y="4782312"/>
            <a:ext cx="2788920" cy="685800"/>
          </a:xfrm>
          <a:prstGeom prst="rect">
            <a:avLst/>
          </a:prstGeom>
          <a:noFill/>
          <a:ln/>
        </p:spPr>
        <p:txBody>
          <a:bodyPr wrap="square" lIns="0" tIns="0" rIns="0" bIns="0" rtlCol="0" anchor="ctr"/>
          <a:lstStyle/>
          <a:p>
            <a:pPr indent="0" marL="0">
              <a:buNone/>
            </a:pPr>
            <a:r>
              <a:rPr lang="en-US" sz="3800" b="1" dirty="0">
                <a:solidFill>
                  <a:srgbClr val="E8871E"/>
                </a:solidFill>
                <a:latin typeface="Cambria" pitchFamily="34" charset="0"/>
                <a:ea typeface="Cambria" pitchFamily="34" charset="-122"/>
                <a:cs typeface="Cambria" pitchFamily="34" charset="-120"/>
              </a:rPr>
              <a:t>16⁶</a:t>
            </a:r>
            <a:endParaRPr lang="en-US" sz="3800" dirty="0"/>
          </a:p>
        </p:txBody>
      </p:sp>
      <p:sp>
        <p:nvSpPr>
          <p:cNvPr id="21" name="Text 19"/>
          <p:cNvSpPr/>
          <p:nvPr/>
        </p:nvSpPr>
        <p:spPr>
          <a:xfrm>
            <a:off x="8046720" y="5458968"/>
            <a:ext cx="278892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nonce esperado = 16,8 M</a:t>
            </a:r>
            <a:endParaRPr lang="en-US" sz="1300" dirty="0"/>
          </a:p>
        </p:txBody>
      </p:sp>
      <p:sp>
        <p:nvSpPr>
          <p:cNvPr id="22" name="Text 20"/>
          <p:cNvSpPr/>
          <p:nvPr/>
        </p:nvSpPr>
        <p:spPr>
          <a:xfrm>
            <a:off x="8046720" y="5715000"/>
            <a:ext cx="2788920"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excedía el rango buscado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LO QUE APARECIÓ AL MEDIR</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Hallazgo 2: trabajo que nadie cancelaba</a:t>
            </a:r>
            <a:endParaRPr lang="en-US" sz="3200" dirty="0"/>
          </a:p>
        </p:txBody>
      </p:sp>
      <p:sp>
        <p:nvSpPr>
          <p:cNvPr id="4" name="Text 2"/>
          <p:cNvSpPr/>
          <p:nvPr/>
        </p:nvSpPr>
        <p:spPr>
          <a:xfrm>
            <a:off x="640080" y="1463040"/>
            <a:ext cx="10424160" cy="548640"/>
          </a:xfrm>
          <a:prstGeom prst="rect">
            <a:avLst/>
          </a:prstGeom>
          <a:noFill/>
          <a:ln/>
        </p:spPr>
        <p:txBody>
          <a:bodyPr wrap="square" lIns="0" tIns="0" rIns="0" bIns="0" rtlCol="0" anchor="ctr"/>
          <a:lstStyle/>
          <a:p>
            <a:pPr indent="0" marL="0">
              <a:buNone/>
            </a:pPr>
            <a:r>
              <a:rPr lang="en-US" sz="1400" dirty="0">
                <a:solidFill>
                  <a:srgbClr val="52606D"/>
                </a:solidFill>
                <a:latin typeface="Calibri" pitchFamily="34" charset="0"/>
                <a:ea typeface="Calibri" pitchFamily="34" charset="-122"/>
                <a:cs typeface="Calibri" pitchFamily="34" charset="-120"/>
              </a:rPr>
              <a:t>Cuando un worker encuentra el nonce, los demás fragmentos de ese bloque siguen encolados y se procesan igual. Y como la cola es FIFO, el intento siguiente espera detrás de ese trabajo ya inútil.</a:t>
            </a:r>
            <a:endParaRPr lang="en-US" sz="1400" dirty="0"/>
          </a:p>
        </p:txBody>
      </p:sp>
      <p:graphicFrame>
        <p:nvGraphicFramePr>
          <p:cNvPr id="5" name="Chart 0" descr=""/>
          <p:cNvGraphicFramePr/>
          <p:nvPr/>
        </p:nvGraphicFramePr>
        <p:xfrm>
          <a:off x="640080" y="2148840"/>
          <a:ext cx="6035040" cy="2880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132320" y="2194560"/>
            <a:ext cx="3931920" cy="27432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Medido antes del arreglo</a:t>
            </a:r>
            <a:endParaRPr lang="en-US" sz="1400" dirty="0"/>
          </a:p>
        </p:txBody>
      </p:sp>
      <p:sp>
        <p:nvSpPr>
          <p:cNvPr id="7" name="Text 4"/>
          <p:cNvSpPr/>
          <p:nvPr/>
        </p:nvSpPr>
        <p:spPr>
          <a:xfrm>
            <a:off x="7132320" y="2606040"/>
            <a:ext cx="3931920" cy="274320"/>
          </a:xfrm>
          <a:prstGeom prst="rect">
            <a:avLst/>
          </a:prstGeom>
          <a:noFill/>
          <a:ln/>
        </p:spPr>
        <p:txBody>
          <a:bodyPr wrap="square" lIns="0" tIns="0" rIns="0" bIns="0" rtlCol="0" anchor="ctr"/>
          <a:lstStyle/>
          <a:p>
            <a:pPr indent="0" marL="0">
              <a:buNone/>
            </a:pPr>
            <a:r>
              <a:rPr lang="en-US" sz="1300" b="1" dirty="0">
                <a:solidFill>
                  <a:srgbClr val="C1442E"/>
                </a:solidFill>
                <a:latin typeface="Calibri" pitchFamily="34" charset="0"/>
                <a:ea typeface="Calibri" pitchFamily="34" charset="-122"/>
                <a:cs typeface="Calibri" pitchFamily="34" charset="-120"/>
              </a:rPr>
              <a:t>8 intentos de minado</a:t>
            </a:r>
            <a:endParaRPr lang="en-US" sz="1300" dirty="0"/>
          </a:p>
        </p:txBody>
      </p:sp>
      <p:sp>
        <p:nvSpPr>
          <p:cNvPr id="8" name="Text 5"/>
          <p:cNvSpPr/>
          <p:nvPr/>
        </p:nvSpPr>
        <p:spPr>
          <a:xfrm>
            <a:off x="7132320" y="2871216"/>
            <a:ext cx="3931920" cy="274320"/>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para resolver un solo bloque</a:t>
            </a:r>
            <a:endParaRPr lang="en-US" sz="1200" dirty="0"/>
          </a:p>
        </p:txBody>
      </p:sp>
      <p:sp>
        <p:nvSpPr>
          <p:cNvPr id="9" name="Text 6"/>
          <p:cNvSpPr/>
          <p:nvPr/>
        </p:nvSpPr>
        <p:spPr>
          <a:xfrm>
            <a:off x="7132320" y="3319272"/>
            <a:ext cx="3931920" cy="274320"/>
          </a:xfrm>
          <a:prstGeom prst="rect">
            <a:avLst/>
          </a:prstGeom>
          <a:noFill/>
          <a:ln/>
        </p:spPr>
        <p:txBody>
          <a:bodyPr wrap="square" lIns="0" tIns="0" rIns="0" bIns="0" rtlCol="0" anchor="ctr"/>
          <a:lstStyle/>
          <a:p>
            <a:pPr indent="0" marL="0">
              <a:buNone/>
            </a:pPr>
            <a:r>
              <a:rPr lang="en-US" sz="1300" b="1" dirty="0">
                <a:solidFill>
                  <a:srgbClr val="C1442E"/>
                </a:solidFill>
                <a:latin typeface="Calibri" pitchFamily="34" charset="0"/>
                <a:ea typeface="Calibri" pitchFamily="34" charset="-122"/>
                <a:cs typeface="Calibri" pitchFamily="34" charset="-120"/>
              </a:rPr>
              <a:t>160 fragmentos publicados</a:t>
            </a:r>
            <a:endParaRPr lang="en-US" sz="1300" dirty="0"/>
          </a:p>
        </p:txBody>
      </p:sp>
      <p:sp>
        <p:nvSpPr>
          <p:cNvPr id="10" name="Text 7"/>
          <p:cNvSpPr/>
          <p:nvPr/>
        </p:nvSpPr>
        <p:spPr>
          <a:xfrm>
            <a:off x="7132320" y="3584448"/>
            <a:ext cx="3931920" cy="274320"/>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de los cuales la mayoría era desperdicio</a:t>
            </a:r>
            <a:endParaRPr lang="en-US" sz="1200" dirty="0"/>
          </a:p>
        </p:txBody>
      </p:sp>
      <p:sp>
        <p:nvSpPr>
          <p:cNvPr id="11" name="Text 8"/>
          <p:cNvSpPr/>
          <p:nvPr/>
        </p:nvSpPr>
        <p:spPr>
          <a:xfrm>
            <a:off x="7132320" y="4032504"/>
            <a:ext cx="3931920" cy="274320"/>
          </a:xfrm>
          <a:prstGeom prst="rect">
            <a:avLst/>
          </a:prstGeom>
          <a:noFill/>
          <a:ln/>
        </p:spPr>
        <p:txBody>
          <a:bodyPr wrap="square" lIns="0" tIns="0" rIns="0" bIns="0" rtlCol="0" anchor="ctr"/>
          <a:lstStyle/>
          <a:p>
            <a:pPr indent="0" marL="0">
              <a:buNone/>
            </a:pPr>
            <a:r>
              <a:rPr lang="en-US" sz="1300" b="1" dirty="0">
                <a:solidFill>
                  <a:srgbClr val="C1442E"/>
                </a:solidFill>
                <a:latin typeface="Calibri" pitchFamily="34" charset="0"/>
                <a:ea typeface="Calibri" pitchFamily="34" charset="-122"/>
                <a:cs typeface="Calibri" pitchFamily="34" charset="-120"/>
              </a:rPr>
              <a:t>55 seguían encolados</a:t>
            </a:r>
            <a:endParaRPr lang="en-US" sz="1300" dirty="0"/>
          </a:p>
        </p:txBody>
      </p:sp>
      <p:sp>
        <p:nvSpPr>
          <p:cNvPr id="12" name="Text 9"/>
          <p:cNvSpPr/>
          <p:nvPr/>
        </p:nvSpPr>
        <p:spPr>
          <a:xfrm>
            <a:off x="7132320" y="4297680"/>
            <a:ext cx="3931920" cy="274320"/>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al terminar la corrida</a:t>
            </a:r>
            <a:endParaRPr lang="en-US" sz="1200" dirty="0"/>
          </a:p>
        </p:txBody>
      </p:sp>
      <p:sp>
        <p:nvSpPr>
          <p:cNvPr id="13" name="Shape 10"/>
          <p:cNvSpPr/>
          <p:nvPr/>
        </p:nvSpPr>
        <p:spPr>
          <a:xfrm>
            <a:off x="7132320" y="4800600"/>
            <a:ext cx="3931920" cy="1051560"/>
          </a:xfrm>
          <a:prstGeom prst="roundRect">
            <a:avLst>
              <a:gd name="adj" fmla="val 6957"/>
            </a:avLst>
          </a:prstGeom>
          <a:solidFill>
            <a:srgbClr val="F0F4F8"/>
          </a:solidFill>
          <a:ln w="12700">
            <a:solidFill>
              <a:srgbClr val="F0F4F8"/>
            </a:solidFill>
            <a:prstDash val="solid"/>
          </a:ln>
        </p:spPr>
      </p:sp>
      <p:sp>
        <p:nvSpPr>
          <p:cNvPr id="14" name="Text 11"/>
          <p:cNvSpPr/>
          <p:nvPr/>
        </p:nvSpPr>
        <p:spPr>
          <a:xfrm>
            <a:off x="7360920" y="4937760"/>
            <a:ext cx="3566160" cy="365760"/>
          </a:xfrm>
          <a:prstGeom prst="rect">
            <a:avLst/>
          </a:prstGeom>
          <a:noFill/>
          <a:ln/>
        </p:spPr>
        <p:txBody>
          <a:bodyPr wrap="square" lIns="0" tIns="0" rIns="0" bIns="0" rtlCol="0" anchor="ctr"/>
          <a:lstStyle/>
          <a:p>
            <a:pPr indent="0" marL="0">
              <a:buNone/>
            </a:pPr>
            <a:r>
              <a:rPr lang="en-US" sz="2200" b="1" dirty="0">
                <a:solidFill>
                  <a:srgbClr val="2FBF71"/>
                </a:solidFill>
                <a:latin typeface="Cambria" pitchFamily="34" charset="0"/>
                <a:ea typeface="Cambria" pitchFamily="34" charset="-122"/>
                <a:cs typeface="Cambria" pitchFamily="34" charset="-120"/>
              </a:rPr>
              <a:t>6,3× más rápido</a:t>
            </a:r>
            <a:endParaRPr lang="en-US" sz="2200" dirty="0"/>
          </a:p>
        </p:txBody>
      </p:sp>
      <p:sp>
        <p:nvSpPr>
          <p:cNvPr id="15" name="Text 12"/>
          <p:cNvSpPr/>
          <p:nvPr/>
        </p:nvSpPr>
        <p:spPr>
          <a:xfrm>
            <a:off x="7360920" y="5321808"/>
            <a:ext cx="3566160" cy="365760"/>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y de 8 de 10 confirmadas a 10 de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MINADO DISTRIBUIDO</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Los dos protocolos del pool, medidos</a:t>
            </a:r>
            <a:endParaRPr lang="en-US" sz="3200" dirty="0"/>
          </a:p>
        </p:txBody>
      </p:sp>
      <p:sp>
        <p:nvSpPr>
          <p:cNvPr id="4" name="Text 2"/>
          <p:cNvSpPr/>
          <p:nvPr/>
        </p:nvSpPr>
        <p:spPr>
          <a:xfrm>
            <a:off x="640080" y="1481328"/>
            <a:ext cx="10424160" cy="411480"/>
          </a:xfrm>
          <a:prstGeom prst="rect">
            <a:avLst/>
          </a:prstGeom>
          <a:noFill/>
          <a:ln/>
        </p:spPr>
        <p:txBody>
          <a:bodyPr wrap="square" lIns="0" tIns="0" rIns="0" bIns="0" rtlCol="0" anchor="ctr"/>
          <a:lstStyle/>
          <a:p>
            <a:pPr indent="0" marL="0">
              <a:buNone/>
            </a:pPr>
            <a:r>
              <a:rPr lang="en-US" sz="1400" dirty="0">
                <a:solidFill>
                  <a:srgbClr val="52606D"/>
                </a:solidFill>
                <a:latin typeface="Calibri" pitchFamily="34" charset="0"/>
                <a:ea typeface="Calibri" pitchFamily="34" charset="-122"/>
                <a:cs typeface="Calibri" pitchFamily="34" charset="-120"/>
              </a:rPr>
              <a:t>El enunciado pide ambos modos. Implementamos el competitivo detrás de una bandera y corrimos la misma matriz en los dos.</a:t>
            </a:r>
            <a:endParaRPr lang="en-US" sz="1400" dirty="0"/>
          </a:p>
        </p:txBody>
      </p:sp>
      <p:graphicFrame>
        <p:nvGraphicFramePr>
          <p:cNvPr id="5" name="Chart 0" descr=""/>
          <p:cNvGraphicFramePr/>
          <p:nvPr/>
        </p:nvGraphicFramePr>
        <p:xfrm>
          <a:off x="640080" y="2103120"/>
          <a:ext cx="5943600" cy="3017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040880" y="2148840"/>
            <a:ext cx="402336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Por qué el cooperativo gana acá</a:t>
            </a:r>
            <a:endParaRPr lang="en-US" sz="1400" dirty="0"/>
          </a:p>
        </p:txBody>
      </p:sp>
      <p:sp>
        <p:nvSpPr>
          <p:cNvPr id="7" name="Text 4"/>
          <p:cNvSpPr/>
          <p:nvPr/>
        </p:nvSpPr>
        <p:spPr>
          <a:xfrm>
            <a:off x="7040880" y="2514600"/>
            <a:ext cx="4023360" cy="219456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52606D"/>
                </a:solidFill>
                <a:latin typeface="Calibri" pitchFamily="34" charset="0"/>
                <a:ea typeface="Calibri" pitchFamily="34" charset="-122"/>
                <a:cs typeface="Calibri" pitchFamily="34" charset="-120"/>
              </a:rPr>
              <a:t>El competitivo publica N copias del espacio completo, una por worker, contra una sola vez del cooperativo.</a:t>
            </a:r>
            <a:endParaRPr lang="en-US" sz="1200" dirty="0"/>
          </a:p>
          <a:p>
            <a:pPr marL="342900" indent="-342900">
              <a:spcAft>
                <a:spcPts val="800"/>
              </a:spcAft>
              <a:buSzPct val="100000"/>
              <a:buChar char="•"/>
            </a:pPr>
            <a:r>
              <a:rPr lang="en-US" sz="1200" dirty="0">
                <a:solidFill>
                  <a:srgbClr val="52606D"/>
                </a:solidFill>
                <a:latin typeface="Calibri" pitchFamily="34" charset="0"/>
                <a:ea typeface="Calibri" pitchFamily="34" charset="-122"/>
                <a:cs typeface="Calibri" pitchFamily="34" charset="-120"/>
              </a:rPr>
              <a:t>Agregar workers no lo acelera: todos arrancan en el mismo nonce y recorren lo mismo.</a:t>
            </a:r>
            <a:endParaRPr lang="en-US" sz="1200" dirty="0"/>
          </a:p>
          <a:p>
            <a:pPr marL="342900" indent="-342900">
              <a:spcAft>
                <a:spcPts val="800"/>
              </a:spcAft>
              <a:buSzPct val="100000"/>
              <a:buChar char="•"/>
            </a:pPr>
            <a:r>
              <a:rPr lang="en-US" sz="1200" dirty="0">
                <a:solidFill>
                  <a:srgbClr val="52606D"/>
                </a:solidFill>
                <a:latin typeface="Calibri" pitchFamily="34" charset="0"/>
                <a:ea typeface="Calibri" pitchFamily="34" charset="-122"/>
                <a:cs typeface="Calibri" pitchFamily="34" charset="-120"/>
              </a:rPr>
              <a:t>Ese desperdicio compra resistencia a mineros que no confían entre sí. Con workers propios se paga sin obtener nada.</a:t>
            </a:r>
            <a:endParaRPr lang="en-US" sz="1200" dirty="0"/>
          </a:p>
        </p:txBody>
      </p:sp>
      <p:sp>
        <p:nvSpPr>
          <p:cNvPr id="8" name="Text 5"/>
          <p:cNvSpPr/>
          <p:nvPr/>
        </p:nvSpPr>
        <p:spPr>
          <a:xfrm>
            <a:off x="640080" y="5349240"/>
            <a:ext cx="10424160" cy="77724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Honestidad sobre estos números: </a:t>
            </a:r>
            <a:pPr indent="0" marL="0">
              <a:buNone/>
            </a:pPr>
            <a:r>
              <a:rPr lang="en-US" sz="1200" dirty="0">
                <a:solidFill>
                  <a:srgbClr val="1F2933"/>
                </a:solidFill>
                <a:latin typeface="Calibri" pitchFamily="34" charset="0"/>
                <a:ea typeface="Calibri" pitchFamily="34" charset="-122"/>
                <a:cs typeface="Calibri" pitchFamily="34" charset="-120"/>
              </a:rPr>
              <a:t>la varianza entre repeticiones es grande porque la posición del nonce ganador sigue una distribución geométrica. Con tres repeticiones los promedios dan la dirección, no un multiplicador exacto. El dato preciso es el estructural: N copias contra una.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MÉTRICAS · DIFICULTAD</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Hasta dónde llega el minado</a:t>
            </a:r>
            <a:endParaRPr lang="en-US" sz="3200" dirty="0"/>
          </a:p>
        </p:txBody>
      </p:sp>
      <p:sp>
        <p:nvSpPr>
          <p:cNvPr id="4" name="Text 2"/>
          <p:cNvSpPr/>
          <p:nvPr/>
        </p:nvSpPr>
        <p:spPr>
          <a:xfrm>
            <a:off x="640080" y="1481328"/>
            <a:ext cx="10424160" cy="411480"/>
          </a:xfrm>
          <a:prstGeom prst="rect">
            <a:avLst/>
          </a:prstGeom>
          <a:noFill/>
          <a:ln/>
        </p:spPr>
        <p:txBody>
          <a:bodyPr wrap="square" lIns="0" tIns="0" rIns="0" bIns="0" rtlCol="0" anchor="ctr"/>
          <a:lstStyle/>
          <a:p>
            <a:pPr indent="0" marL="0">
              <a:buNone/>
            </a:pPr>
            <a:r>
              <a:rPr lang="en-US" sz="1400" dirty="0">
                <a:solidFill>
                  <a:srgbClr val="52606D"/>
                </a:solidFill>
                <a:latin typeface="Calibri" pitchFamily="34" charset="0"/>
                <a:ea typeface="Calibri" pitchFamily="34" charset="-122"/>
                <a:cs typeface="Calibri" pitchFamily="34" charset="-120"/>
              </a:rPr>
              <a:t>Con la velocidad medida se puede predecir el costo de cada dificultad, porque el nonce esperado crece como 16 elevado a la cantidad de ceros.</a:t>
            </a:r>
            <a:endParaRPr lang="en-US" sz="1400" dirty="0"/>
          </a:p>
        </p:txBody>
      </p:sp>
      <p:sp>
        <p:nvSpPr>
          <p:cNvPr id="5" name="Shape 3"/>
          <p:cNvSpPr/>
          <p:nvPr/>
        </p:nvSpPr>
        <p:spPr>
          <a:xfrm>
            <a:off x="640080" y="2148840"/>
            <a:ext cx="10424160" cy="475488"/>
          </a:xfrm>
          <a:prstGeom prst="rect">
            <a:avLst/>
          </a:prstGeom>
          <a:solidFill>
            <a:srgbClr val="1F2933"/>
          </a:solidFill>
          <a:ln w="12700">
            <a:solidFill>
              <a:srgbClr val="1F2933"/>
            </a:solidFill>
            <a:prstDash val="solid"/>
          </a:ln>
        </p:spPr>
      </p:sp>
      <p:sp>
        <p:nvSpPr>
          <p:cNvPr id="6" name="Text 4"/>
          <p:cNvSpPr/>
          <p:nvPr/>
        </p:nvSpPr>
        <p:spPr>
          <a:xfrm>
            <a:off x="868680" y="2148840"/>
            <a:ext cx="155448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Dificultad</a:t>
            </a:r>
            <a:endParaRPr lang="en-US" sz="1200" dirty="0"/>
          </a:p>
        </p:txBody>
      </p:sp>
      <p:sp>
        <p:nvSpPr>
          <p:cNvPr id="7" name="Text 5"/>
          <p:cNvSpPr/>
          <p:nvPr/>
        </p:nvSpPr>
        <p:spPr>
          <a:xfrm>
            <a:off x="2606040" y="2148840"/>
            <a:ext cx="246888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Nonce esperado</a:t>
            </a:r>
            <a:endParaRPr lang="en-US" sz="1200" dirty="0"/>
          </a:p>
        </p:txBody>
      </p:sp>
      <p:sp>
        <p:nvSpPr>
          <p:cNvPr id="8" name="Text 6"/>
          <p:cNvSpPr/>
          <p:nvPr/>
        </p:nvSpPr>
        <p:spPr>
          <a:xfrm>
            <a:off x="5257800" y="2148840"/>
            <a:ext cx="164592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 worker</a:t>
            </a:r>
            <a:endParaRPr lang="en-US" sz="1200" dirty="0"/>
          </a:p>
        </p:txBody>
      </p:sp>
      <p:sp>
        <p:nvSpPr>
          <p:cNvPr id="9" name="Text 7"/>
          <p:cNvSpPr/>
          <p:nvPr/>
        </p:nvSpPr>
        <p:spPr>
          <a:xfrm>
            <a:off x="7086600" y="2148840"/>
            <a:ext cx="164592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4 workers</a:t>
            </a:r>
            <a:endParaRPr lang="en-US" sz="1200" dirty="0"/>
          </a:p>
        </p:txBody>
      </p:sp>
      <p:sp>
        <p:nvSpPr>
          <p:cNvPr id="10" name="Text 8"/>
          <p:cNvSpPr/>
          <p:nvPr/>
        </p:nvSpPr>
        <p:spPr>
          <a:xfrm>
            <a:off x="8915400" y="2148840"/>
            <a:ext cx="219456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Estado</a:t>
            </a:r>
            <a:endParaRPr lang="en-US" sz="1200" dirty="0"/>
          </a:p>
        </p:txBody>
      </p:sp>
      <p:sp>
        <p:nvSpPr>
          <p:cNvPr id="11" name="Text 9"/>
          <p:cNvSpPr/>
          <p:nvPr/>
        </p:nvSpPr>
        <p:spPr>
          <a:xfrm>
            <a:off x="868680" y="2624328"/>
            <a:ext cx="1554480" cy="475488"/>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2606040" y="2624328"/>
            <a:ext cx="246888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65.536</a:t>
            </a:r>
            <a:endParaRPr lang="en-US" sz="1300" dirty="0"/>
          </a:p>
        </p:txBody>
      </p:sp>
      <p:sp>
        <p:nvSpPr>
          <p:cNvPr id="13" name="Text 11"/>
          <p:cNvSpPr/>
          <p:nvPr/>
        </p:nvSpPr>
        <p:spPr>
          <a:xfrm>
            <a:off x="5257800" y="2624328"/>
            <a:ext cx="164592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0,1 s</a:t>
            </a:r>
            <a:endParaRPr lang="en-US" sz="1300" dirty="0"/>
          </a:p>
        </p:txBody>
      </p:sp>
      <p:sp>
        <p:nvSpPr>
          <p:cNvPr id="14" name="Text 12"/>
          <p:cNvSpPr/>
          <p:nvPr/>
        </p:nvSpPr>
        <p:spPr>
          <a:xfrm>
            <a:off x="7086600" y="2624328"/>
            <a:ext cx="164592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0,0 s</a:t>
            </a:r>
            <a:endParaRPr lang="en-US" sz="1300" dirty="0"/>
          </a:p>
        </p:txBody>
      </p:sp>
      <p:sp>
        <p:nvSpPr>
          <p:cNvPr id="15" name="Text 13"/>
          <p:cNvSpPr/>
          <p:nvPr/>
        </p:nvSpPr>
        <p:spPr>
          <a:xfrm>
            <a:off x="8915400" y="2624328"/>
            <a:ext cx="2194560" cy="475488"/>
          </a:xfrm>
          <a:prstGeom prst="rect">
            <a:avLst/>
          </a:prstGeom>
          <a:noFill/>
          <a:ln/>
        </p:spPr>
        <p:txBody>
          <a:bodyPr wrap="square" lIns="0" tIns="0" rIns="0" bIns="0" rtlCol="0" anchor="ctr"/>
          <a:lstStyle/>
          <a:p>
            <a:pPr indent="0" marL="0">
              <a:buNone/>
            </a:pPr>
            <a:r>
              <a:rPr lang="en-US" sz="1300" dirty="0">
                <a:solidFill>
                  <a:srgbClr val="2FBF71"/>
                </a:solidFill>
                <a:latin typeface="Calibri" pitchFamily="34" charset="0"/>
                <a:ea typeface="Calibri" pitchFamily="34" charset="-122"/>
                <a:cs typeface="Calibri" pitchFamily="34" charset="-120"/>
              </a:rPr>
              <a:t>Medido</a:t>
            </a:r>
            <a:endParaRPr lang="en-US" sz="1300" dirty="0"/>
          </a:p>
        </p:txBody>
      </p:sp>
      <p:sp>
        <p:nvSpPr>
          <p:cNvPr id="16" name="Shape 14"/>
          <p:cNvSpPr/>
          <p:nvPr/>
        </p:nvSpPr>
        <p:spPr>
          <a:xfrm>
            <a:off x="640080" y="3099816"/>
            <a:ext cx="10424160" cy="475488"/>
          </a:xfrm>
          <a:prstGeom prst="rect">
            <a:avLst/>
          </a:prstGeom>
          <a:solidFill>
            <a:srgbClr val="F0F4F8"/>
          </a:solidFill>
          <a:ln w="12700">
            <a:solidFill>
              <a:srgbClr val="F0F4F8"/>
            </a:solidFill>
            <a:prstDash val="solid"/>
          </a:ln>
        </p:spPr>
      </p:sp>
      <p:sp>
        <p:nvSpPr>
          <p:cNvPr id="17" name="Text 15"/>
          <p:cNvSpPr/>
          <p:nvPr/>
        </p:nvSpPr>
        <p:spPr>
          <a:xfrm>
            <a:off x="868680" y="3099816"/>
            <a:ext cx="1554480" cy="475488"/>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2606040" y="3099816"/>
            <a:ext cx="246888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1.048.576</a:t>
            </a:r>
            <a:endParaRPr lang="en-US" sz="1300" dirty="0"/>
          </a:p>
        </p:txBody>
      </p:sp>
      <p:sp>
        <p:nvSpPr>
          <p:cNvPr id="19" name="Text 17"/>
          <p:cNvSpPr/>
          <p:nvPr/>
        </p:nvSpPr>
        <p:spPr>
          <a:xfrm>
            <a:off x="5257800" y="3099816"/>
            <a:ext cx="164592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1,2 s</a:t>
            </a:r>
            <a:endParaRPr lang="en-US" sz="1300" dirty="0"/>
          </a:p>
        </p:txBody>
      </p:sp>
      <p:sp>
        <p:nvSpPr>
          <p:cNvPr id="20" name="Text 18"/>
          <p:cNvSpPr/>
          <p:nvPr/>
        </p:nvSpPr>
        <p:spPr>
          <a:xfrm>
            <a:off x="7086600" y="3099816"/>
            <a:ext cx="164592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0,3 s</a:t>
            </a:r>
            <a:endParaRPr lang="en-US" sz="1300" dirty="0"/>
          </a:p>
        </p:txBody>
      </p:sp>
      <p:sp>
        <p:nvSpPr>
          <p:cNvPr id="21" name="Text 19"/>
          <p:cNvSpPr/>
          <p:nvPr/>
        </p:nvSpPr>
        <p:spPr>
          <a:xfrm>
            <a:off x="8915400" y="3099816"/>
            <a:ext cx="2194560" cy="475488"/>
          </a:xfrm>
          <a:prstGeom prst="rect">
            <a:avLst/>
          </a:prstGeom>
          <a:noFill/>
          <a:ln/>
        </p:spPr>
        <p:txBody>
          <a:bodyPr wrap="square" lIns="0" tIns="0" rIns="0" bIns="0" rtlCol="0" anchor="ctr"/>
          <a:lstStyle/>
          <a:p>
            <a:pPr indent="0" marL="0">
              <a:buNone/>
            </a:pPr>
            <a:r>
              <a:rPr lang="en-US" sz="1300" dirty="0">
                <a:solidFill>
                  <a:srgbClr val="2FBF71"/>
                </a:solidFill>
                <a:latin typeface="Calibri" pitchFamily="34" charset="0"/>
                <a:ea typeface="Calibri" pitchFamily="34" charset="-122"/>
                <a:cs typeface="Calibri" pitchFamily="34" charset="-120"/>
              </a:rPr>
              <a:t>Medido</a:t>
            </a:r>
            <a:endParaRPr lang="en-US" sz="1300" dirty="0"/>
          </a:p>
        </p:txBody>
      </p:sp>
      <p:sp>
        <p:nvSpPr>
          <p:cNvPr id="22" name="Text 20"/>
          <p:cNvSpPr/>
          <p:nvPr/>
        </p:nvSpPr>
        <p:spPr>
          <a:xfrm>
            <a:off x="868680" y="3575304"/>
            <a:ext cx="1554480" cy="475488"/>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2606040" y="3575304"/>
            <a:ext cx="246888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16.777.216</a:t>
            </a:r>
            <a:endParaRPr lang="en-US" sz="1300" dirty="0"/>
          </a:p>
        </p:txBody>
      </p:sp>
      <p:sp>
        <p:nvSpPr>
          <p:cNvPr id="24" name="Text 22"/>
          <p:cNvSpPr/>
          <p:nvPr/>
        </p:nvSpPr>
        <p:spPr>
          <a:xfrm>
            <a:off x="5257800" y="3575304"/>
            <a:ext cx="164592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18,6 s</a:t>
            </a:r>
            <a:endParaRPr lang="en-US" sz="1300" dirty="0"/>
          </a:p>
        </p:txBody>
      </p:sp>
      <p:sp>
        <p:nvSpPr>
          <p:cNvPr id="25" name="Text 23"/>
          <p:cNvSpPr/>
          <p:nvPr/>
        </p:nvSpPr>
        <p:spPr>
          <a:xfrm>
            <a:off x="7086600" y="3575304"/>
            <a:ext cx="164592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4,6 s</a:t>
            </a:r>
            <a:endParaRPr lang="en-US" sz="1300" dirty="0"/>
          </a:p>
        </p:txBody>
      </p:sp>
      <p:sp>
        <p:nvSpPr>
          <p:cNvPr id="26" name="Text 24"/>
          <p:cNvSpPr/>
          <p:nvPr/>
        </p:nvSpPr>
        <p:spPr>
          <a:xfrm>
            <a:off x="8915400" y="3575304"/>
            <a:ext cx="2194560" cy="475488"/>
          </a:xfrm>
          <a:prstGeom prst="rect">
            <a:avLst/>
          </a:prstGeom>
          <a:noFill/>
          <a:ln/>
        </p:spPr>
        <p:txBody>
          <a:bodyPr wrap="square" lIns="0" tIns="0" rIns="0" bIns="0" rtlCol="0" anchor="ctr"/>
          <a:lstStyle/>
          <a:p>
            <a:pPr indent="0" marL="0">
              <a:buNone/>
            </a:pPr>
            <a:r>
              <a:rPr lang="en-US" sz="1300" dirty="0">
                <a:solidFill>
                  <a:srgbClr val="2FBF71"/>
                </a:solidFill>
                <a:latin typeface="Calibri" pitchFamily="34" charset="0"/>
                <a:ea typeface="Calibri" pitchFamily="34" charset="-122"/>
                <a:cs typeface="Calibri" pitchFamily="34" charset="-120"/>
              </a:rPr>
              <a:t>Medido</a:t>
            </a:r>
            <a:endParaRPr lang="en-US" sz="1300" dirty="0"/>
          </a:p>
        </p:txBody>
      </p:sp>
      <p:sp>
        <p:nvSpPr>
          <p:cNvPr id="27" name="Shape 25"/>
          <p:cNvSpPr/>
          <p:nvPr/>
        </p:nvSpPr>
        <p:spPr>
          <a:xfrm>
            <a:off x="640080" y="4050792"/>
            <a:ext cx="10424160" cy="475488"/>
          </a:xfrm>
          <a:prstGeom prst="rect">
            <a:avLst/>
          </a:prstGeom>
          <a:solidFill>
            <a:srgbClr val="F0F4F8"/>
          </a:solidFill>
          <a:ln w="12700">
            <a:solidFill>
              <a:srgbClr val="F0F4F8"/>
            </a:solidFill>
            <a:prstDash val="solid"/>
          </a:ln>
        </p:spPr>
      </p:sp>
      <p:sp>
        <p:nvSpPr>
          <p:cNvPr id="28" name="Text 26"/>
          <p:cNvSpPr/>
          <p:nvPr/>
        </p:nvSpPr>
        <p:spPr>
          <a:xfrm>
            <a:off x="868680" y="4050792"/>
            <a:ext cx="1554480" cy="475488"/>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7</a:t>
            </a:r>
            <a:endParaRPr lang="en-US" sz="1300" dirty="0"/>
          </a:p>
        </p:txBody>
      </p:sp>
      <p:sp>
        <p:nvSpPr>
          <p:cNvPr id="29" name="Text 27"/>
          <p:cNvSpPr/>
          <p:nvPr/>
        </p:nvSpPr>
        <p:spPr>
          <a:xfrm>
            <a:off x="2606040" y="4050792"/>
            <a:ext cx="246888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268.435.456</a:t>
            </a:r>
            <a:endParaRPr lang="en-US" sz="1300" dirty="0"/>
          </a:p>
        </p:txBody>
      </p:sp>
      <p:sp>
        <p:nvSpPr>
          <p:cNvPr id="30" name="Text 28"/>
          <p:cNvSpPr/>
          <p:nvPr/>
        </p:nvSpPr>
        <p:spPr>
          <a:xfrm>
            <a:off x="5257800" y="4050792"/>
            <a:ext cx="164592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4,9 min</a:t>
            </a:r>
            <a:endParaRPr lang="en-US" sz="1300" dirty="0"/>
          </a:p>
        </p:txBody>
      </p:sp>
      <p:sp>
        <p:nvSpPr>
          <p:cNvPr id="31" name="Text 29"/>
          <p:cNvSpPr/>
          <p:nvPr/>
        </p:nvSpPr>
        <p:spPr>
          <a:xfrm>
            <a:off x="7086600" y="4050792"/>
            <a:ext cx="164592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1,2 min</a:t>
            </a:r>
            <a:endParaRPr lang="en-US" sz="1300" dirty="0"/>
          </a:p>
        </p:txBody>
      </p:sp>
      <p:sp>
        <p:nvSpPr>
          <p:cNvPr id="32" name="Text 30"/>
          <p:cNvSpPr/>
          <p:nvPr/>
        </p:nvSpPr>
        <p:spPr>
          <a:xfrm>
            <a:off x="8915400" y="4050792"/>
            <a:ext cx="2194560" cy="475488"/>
          </a:xfrm>
          <a:prstGeom prst="rect">
            <a:avLst/>
          </a:prstGeom>
          <a:noFill/>
          <a:ln/>
        </p:spPr>
        <p:txBody>
          <a:bodyPr wrap="square" lIns="0" tIns="0" rIns="0" bIns="0" rtlCol="0" anchor="ctr"/>
          <a:lstStyle/>
          <a:p>
            <a:pPr indent="0" marL="0">
              <a:buNone/>
            </a:pPr>
            <a:r>
              <a:rPr lang="en-US" sz="1300" dirty="0">
                <a:solidFill>
                  <a:srgbClr val="E8871E"/>
                </a:solidFill>
                <a:latin typeface="Calibri" pitchFamily="34" charset="0"/>
                <a:ea typeface="Calibri" pitchFamily="34" charset="-122"/>
                <a:cs typeface="Calibri" pitchFamily="34" charset="-120"/>
              </a:rPr>
              <a:t>Calculado</a:t>
            </a:r>
            <a:endParaRPr lang="en-US" sz="1300" dirty="0"/>
          </a:p>
        </p:txBody>
      </p:sp>
      <p:sp>
        <p:nvSpPr>
          <p:cNvPr id="33" name="Text 31"/>
          <p:cNvSpPr/>
          <p:nvPr/>
        </p:nvSpPr>
        <p:spPr>
          <a:xfrm>
            <a:off x="868680" y="4526280"/>
            <a:ext cx="1554480" cy="475488"/>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8</a:t>
            </a:r>
            <a:endParaRPr lang="en-US" sz="1300" dirty="0"/>
          </a:p>
        </p:txBody>
      </p:sp>
      <p:sp>
        <p:nvSpPr>
          <p:cNvPr id="34" name="Text 32"/>
          <p:cNvSpPr/>
          <p:nvPr/>
        </p:nvSpPr>
        <p:spPr>
          <a:xfrm>
            <a:off x="2606040" y="4526280"/>
            <a:ext cx="246888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4.294.967.296</a:t>
            </a:r>
            <a:endParaRPr lang="en-US" sz="1300" dirty="0"/>
          </a:p>
        </p:txBody>
      </p:sp>
      <p:sp>
        <p:nvSpPr>
          <p:cNvPr id="35" name="Text 33"/>
          <p:cNvSpPr/>
          <p:nvPr/>
        </p:nvSpPr>
        <p:spPr>
          <a:xfrm>
            <a:off x="5257800" y="4526280"/>
            <a:ext cx="164592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1,3 h</a:t>
            </a:r>
            <a:endParaRPr lang="en-US" sz="1300" dirty="0"/>
          </a:p>
        </p:txBody>
      </p:sp>
      <p:sp>
        <p:nvSpPr>
          <p:cNvPr id="36" name="Text 34"/>
          <p:cNvSpPr/>
          <p:nvPr/>
        </p:nvSpPr>
        <p:spPr>
          <a:xfrm>
            <a:off x="7086600" y="4526280"/>
            <a:ext cx="1645920" cy="47548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20 min</a:t>
            </a:r>
            <a:endParaRPr lang="en-US" sz="1300" dirty="0"/>
          </a:p>
        </p:txBody>
      </p:sp>
      <p:sp>
        <p:nvSpPr>
          <p:cNvPr id="37" name="Text 35"/>
          <p:cNvSpPr/>
          <p:nvPr/>
        </p:nvSpPr>
        <p:spPr>
          <a:xfrm>
            <a:off x="8915400" y="4526280"/>
            <a:ext cx="2194560" cy="475488"/>
          </a:xfrm>
          <a:prstGeom prst="rect">
            <a:avLst/>
          </a:prstGeom>
          <a:noFill/>
          <a:ln/>
        </p:spPr>
        <p:txBody>
          <a:bodyPr wrap="square" lIns="0" tIns="0" rIns="0" bIns="0" rtlCol="0" anchor="ctr"/>
          <a:lstStyle/>
          <a:p>
            <a:pPr indent="0" marL="0">
              <a:buNone/>
            </a:pPr>
            <a:r>
              <a:rPr lang="en-US" sz="1300" dirty="0">
                <a:solidFill>
                  <a:srgbClr val="E8871E"/>
                </a:solidFill>
                <a:latin typeface="Calibri" pitchFamily="34" charset="0"/>
                <a:ea typeface="Calibri" pitchFamily="34" charset="-122"/>
                <a:cs typeface="Calibri" pitchFamily="34" charset="-120"/>
              </a:rPr>
              <a:t>Calculado</a:t>
            </a:r>
            <a:endParaRPr lang="en-US" sz="1300" dirty="0"/>
          </a:p>
        </p:txBody>
      </p:sp>
      <p:sp>
        <p:nvSpPr>
          <p:cNvPr id="38" name="Text 36"/>
          <p:cNvSpPr/>
          <p:nvPr/>
        </p:nvSpPr>
        <p:spPr>
          <a:xfrm>
            <a:off x="640080" y="5349240"/>
            <a:ext cx="10424160" cy="77724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La dificultad 6 se midió por primera vez: 10 de 10 transacciones confirmadas en 37,4 segundos. </a:t>
            </a:r>
            <a:pPr indent="0" marL="0">
              <a:buNone/>
            </a:pPr>
            <a:r>
              <a:rPr lang="en-US" sz="1300" b="1" dirty="0">
                <a:solidFill>
                  <a:srgbClr val="1F2933"/>
                </a:solidFill>
                <a:latin typeface="Calibri" pitchFamily="34" charset="0"/>
                <a:ea typeface="Calibri" pitchFamily="34" charset="-122"/>
                <a:cs typeface="Calibri" pitchFamily="34" charset="-120"/>
              </a:rPr>
              <a:t>Las dificultades 7 y 8 se dejan calculadas a partir de la velocidad medida — un límite justificado vale más que una corrida abandonada por timeout.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MÉTRICAS · VOLUMEN</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Comportamiento bajo carga</a:t>
            </a:r>
            <a:endParaRPr lang="en-US" sz="3200" dirty="0"/>
          </a:p>
        </p:txBody>
      </p:sp>
      <p:graphicFrame>
        <p:nvGraphicFramePr>
          <p:cNvPr id="4" name="Chart 0" descr=""/>
          <p:cNvGraphicFramePr/>
          <p:nvPr/>
        </p:nvGraphicFramePr>
        <p:xfrm>
          <a:off x="640080" y="1645920"/>
          <a:ext cx="585216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949440" y="1645920"/>
          <a:ext cx="4114800" cy="283464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640080" y="4663440"/>
            <a:ext cx="3246120" cy="1463040"/>
          </a:xfrm>
          <a:prstGeom prst="roundRect">
            <a:avLst>
              <a:gd name="adj" fmla="val 5000"/>
            </a:avLst>
          </a:prstGeom>
          <a:solidFill>
            <a:srgbClr val="F0F4F8"/>
          </a:solidFill>
          <a:ln w="12700">
            <a:solidFill>
              <a:srgbClr val="F0F4F8"/>
            </a:solidFill>
            <a:prstDash val="solid"/>
          </a:ln>
        </p:spPr>
      </p:sp>
      <p:sp>
        <p:nvSpPr>
          <p:cNvPr id="7" name="Text 3"/>
          <p:cNvSpPr/>
          <p:nvPr/>
        </p:nvSpPr>
        <p:spPr>
          <a:xfrm>
            <a:off x="868680" y="4828032"/>
            <a:ext cx="2788920" cy="685800"/>
          </a:xfrm>
          <a:prstGeom prst="rect">
            <a:avLst/>
          </a:prstGeom>
          <a:noFill/>
          <a:ln/>
        </p:spPr>
        <p:txBody>
          <a:bodyPr wrap="square" lIns="0" tIns="0" rIns="0" bIns="0" rtlCol="0" anchor="ctr"/>
          <a:lstStyle/>
          <a:p>
            <a:pPr indent="0" marL="0">
              <a:buNone/>
            </a:pPr>
            <a:r>
              <a:rPr lang="en-US" sz="3800" b="1" dirty="0">
                <a:solidFill>
                  <a:srgbClr val="2FBF71"/>
                </a:solidFill>
                <a:latin typeface="Cambria" pitchFamily="34" charset="0"/>
                <a:ea typeface="Cambria" pitchFamily="34" charset="-122"/>
                <a:cs typeface="Cambria" pitchFamily="34" charset="-120"/>
              </a:rPr>
              <a:t>10.000</a:t>
            </a:r>
            <a:endParaRPr lang="en-US" sz="3800" dirty="0"/>
          </a:p>
        </p:txBody>
      </p:sp>
      <p:sp>
        <p:nvSpPr>
          <p:cNvPr id="8" name="Text 4"/>
          <p:cNvSpPr/>
          <p:nvPr/>
        </p:nvSpPr>
        <p:spPr>
          <a:xfrm>
            <a:off x="868680" y="5504688"/>
            <a:ext cx="278892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de 10.000 confirmadas</a:t>
            </a:r>
            <a:endParaRPr lang="en-US" sz="1300" dirty="0"/>
          </a:p>
        </p:txBody>
      </p:sp>
      <p:sp>
        <p:nvSpPr>
          <p:cNvPr id="9" name="Text 5"/>
          <p:cNvSpPr/>
          <p:nvPr/>
        </p:nvSpPr>
        <p:spPr>
          <a:xfrm>
            <a:off x="868680" y="5760720"/>
            <a:ext cx="2788920"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cero transacciones perdidas</a:t>
            </a:r>
            <a:endParaRPr lang="en-US" sz="1100" dirty="0"/>
          </a:p>
        </p:txBody>
      </p:sp>
      <p:sp>
        <p:nvSpPr>
          <p:cNvPr id="10" name="Shape 6"/>
          <p:cNvSpPr/>
          <p:nvPr/>
        </p:nvSpPr>
        <p:spPr>
          <a:xfrm>
            <a:off x="4206240" y="4663440"/>
            <a:ext cx="3246120" cy="1463040"/>
          </a:xfrm>
          <a:prstGeom prst="roundRect">
            <a:avLst>
              <a:gd name="adj" fmla="val 5000"/>
            </a:avLst>
          </a:prstGeom>
          <a:solidFill>
            <a:srgbClr val="F0F4F8"/>
          </a:solidFill>
          <a:ln w="12700">
            <a:solidFill>
              <a:srgbClr val="F0F4F8"/>
            </a:solidFill>
            <a:prstDash val="solid"/>
          </a:ln>
        </p:spPr>
      </p:sp>
      <p:sp>
        <p:nvSpPr>
          <p:cNvPr id="11" name="Text 7"/>
          <p:cNvSpPr/>
          <p:nvPr/>
        </p:nvSpPr>
        <p:spPr>
          <a:xfrm>
            <a:off x="4434840" y="4828032"/>
            <a:ext cx="2788920" cy="685800"/>
          </a:xfrm>
          <a:prstGeom prst="rect">
            <a:avLst/>
          </a:prstGeom>
          <a:noFill/>
          <a:ln/>
        </p:spPr>
        <p:txBody>
          <a:bodyPr wrap="square" lIns="0" tIns="0" rIns="0" bIns="0" rtlCol="0" anchor="ctr"/>
          <a:lstStyle/>
          <a:p>
            <a:pPr indent="0" marL="0">
              <a:buNone/>
            </a:pPr>
            <a:r>
              <a:rPr lang="en-US" sz="3800" b="1" dirty="0">
                <a:solidFill>
                  <a:srgbClr val="1F2933"/>
                </a:solidFill>
                <a:latin typeface="Cambria" pitchFamily="34" charset="0"/>
                <a:ea typeface="Cambria" pitchFamily="34" charset="-122"/>
                <a:cs typeface="Cambria" pitchFamily="34" charset="-120"/>
              </a:rPr>
              <a:t>37,5</a:t>
            </a:r>
            <a:endParaRPr lang="en-US" sz="3800" dirty="0"/>
          </a:p>
        </p:txBody>
      </p:sp>
      <p:sp>
        <p:nvSpPr>
          <p:cNvPr id="12" name="Text 8"/>
          <p:cNvSpPr/>
          <p:nvPr/>
        </p:nvSpPr>
        <p:spPr>
          <a:xfrm>
            <a:off x="4434840" y="5504688"/>
            <a:ext cx="278892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transacciones por segundo</a:t>
            </a:r>
            <a:endParaRPr lang="en-US" sz="1300" dirty="0"/>
          </a:p>
        </p:txBody>
      </p:sp>
      <p:sp>
        <p:nvSpPr>
          <p:cNvPr id="13" name="Text 9"/>
          <p:cNvSpPr/>
          <p:nvPr/>
        </p:nvSpPr>
        <p:spPr>
          <a:xfrm>
            <a:off x="4434840" y="5760720"/>
            <a:ext cx="2788920"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throughput sostenido</a:t>
            </a:r>
            <a:endParaRPr lang="en-US" sz="1100" dirty="0"/>
          </a:p>
        </p:txBody>
      </p:sp>
      <p:sp>
        <p:nvSpPr>
          <p:cNvPr id="14" name="Shape 10"/>
          <p:cNvSpPr/>
          <p:nvPr/>
        </p:nvSpPr>
        <p:spPr>
          <a:xfrm>
            <a:off x="7818120" y="4663440"/>
            <a:ext cx="3246120" cy="1463040"/>
          </a:xfrm>
          <a:prstGeom prst="roundRect">
            <a:avLst>
              <a:gd name="adj" fmla="val 5000"/>
            </a:avLst>
          </a:prstGeom>
          <a:solidFill>
            <a:srgbClr val="F0F4F8"/>
          </a:solidFill>
          <a:ln w="12700">
            <a:solidFill>
              <a:srgbClr val="F0F4F8"/>
            </a:solidFill>
            <a:prstDash val="solid"/>
          </a:ln>
        </p:spPr>
      </p:sp>
      <p:sp>
        <p:nvSpPr>
          <p:cNvPr id="15" name="Text 11"/>
          <p:cNvSpPr/>
          <p:nvPr/>
        </p:nvSpPr>
        <p:spPr>
          <a:xfrm>
            <a:off x="8046720" y="4828032"/>
            <a:ext cx="2788920" cy="685800"/>
          </a:xfrm>
          <a:prstGeom prst="rect">
            <a:avLst/>
          </a:prstGeom>
          <a:noFill/>
          <a:ln/>
        </p:spPr>
        <p:txBody>
          <a:bodyPr wrap="square" lIns="0" tIns="0" rIns="0" bIns="0" rtlCol="0" anchor="ctr"/>
          <a:lstStyle/>
          <a:p>
            <a:pPr indent="0" marL="0">
              <a:buNone/>
            </a:pPr>
            <a:r>
              <a:rPr lang="en-US" sz="3800" b="1" dirty="0">
                <a:solidFill>
                  <a:srgbClr val="1F2933"/>
                </a:solidFill>
                <a:latin typeface="Cambria" pitchFamily="34" charset="0"/>
                <a:ea typeface="Cambria" pitchFamily="34" charset="-122"/>
                <a:cs typeface="Cambria" pitchFamily="34" charset="-120"/>
              </a:rPr>
              <a:t>200×</a:t>
            </a:r>
            <a:endParaRPr lang="en-US" sz="3800" dirty="0"/>
          </a:p>
        </p:txBody>
      </p:sp>
      <p:sp>
        <p:nvSpPr>
          <p:cNvPr id="16" name="Text 12"/>
          <p:cNvSpPr/>
          <p:nvPr/>
        </p:nvSpPr>
        <p:spPr>
          <a:xfrm>
            <a:off x="8046720" y="5504688"/>
            <a:ext cx="278892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el máximo anterior</a:t>
            </a:r>
            <a:endParaRPr lang="en-US" sz="1300" dirty="0"/>
          </a:p>
        </p:txBody>
      </p:sp>
      <p:sp>
        <p:nvSpPr>
          <p:cNvPr id="17" name="Text 13"/>
          <p:cNvSpPr/>
          <p:nvPr/>
        </p:nvSpPr>
        <p:spPr>
          <a:xfrm>
            <a:off x="8046720" y="5760720"/>
            <a:ext cx="2788920" cy="502920"/>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se había medido hasta 50</a:t>
            </a:r>
            <a:endParaRPr lang="en-US" sz="1100" dirty="0"/>
          </a:p>
        </p:txBody>
      </p:sp>
      <p:sp>
        <p:nvSpPr>
          <p:cNvPr id="18" name="Text 14"/>
          <p:cNvSpPr/>
          <p:nvPr/>
        </p:nvSpPr>
        <p:spPr>
          <a:xfrm>
            <a:off x="640080" y="6263640"/>
            <a:ext cx="10424160" cy="365760"/>
          </a:xfrm>
          <a:prstGeom prst="rect">
            <a:avLst/>
          </a:prstGeom>
          <a:noFill/>
          <a:ln/>
        </p:spPr>
        <p:txBody>
          <a:bodyPr wrap="square" lIns="0" tIns="0" rIns="0" bIns="0" rtlCol="0" anchor="ctr"/>
          <a:lstStyle/>
          <a:p>
            <a:pPr indent="0" marL="0">
              <a:buNone/>
            </a:pPr>
            <a:r>
              <a:rPr lang="en-US" sz="1200" i="1" dirty="0">
                <a:solidFill>
                  <a:srgbClr val="7B8794"/>
                </a:solidFill>
                <a:latin typeface="Calibri" pitchFamily="34" charset="0"/>
                <a:ea typeface="Calibri" pitchFamily="34" charset="-122"/>
                <a:cs typeface="Calibri" pitchFamily="34" charset="-120"/>
              </a:rPr>
              <a:t>Multiplicar el volumen por diez solo duplicó la latencia: el sistema agrupa transacciones en bloques, así que lo que crece linealmente es el tiempo total.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MÉTRICAS · ESCALADO</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Qué gobierna el rendimiento del pool</a:t>
            </a:r>
            <a:endParaRPr lang="en-US" sz="3200" dirty="0"/>
          </a:p>
        </p:txBody>
      </p:sp>
      <p:sp>
        <p:nvSpPr>
          <p:cNvPr id="4" name="Text 2"/>
          <p:cNvSpPr/>
          <p:nvPr/>
        </p:nvSpPr>
        <p:spPr>
          <a:xfrm>
            <a:off x="640080" y="1481328"/>
            <a:ext cx="10424160" cy="411480"/>
          </a:xfrm>
          <a:prstGeom prst="rect">
            <a:avLst/>
          </a:prstGeom>
          <a:noFill/>
          <a:ln/>
        </p:spPr>
        <p:txBody>
          <a:bodyPr wrap="square" lIns="0" tIns="0" rIns="0" bIns="0" rtlCol="0" anchor="ctr"/>
          <a:lstStyle/>
          <a:p>
            <a:pPr indent="0" marL="0">
              <a:buNone/>
            </a:pPr>
            <a:r>
              <a:rPr lang="en-US" sz="1400" dirty="0">
                <a:solidFill>
                  <a:srgbClr val="52606D"/>
                </a:solidFill>
                <a:latin typeface="Calibri" pitchFamily="34" charset="0"/>
                <a:ea typeface="Calibri" pitchFamily="34" charset="-122"/>
                <a:cs typeface="Calibri" pitchFamily="34" charset="-120"/>
              </a:rPr>
              <a:t>Barrimos dos variables sobre la misma carga: cuánto se fragmenta el trabajo y cuántos workers hay. El resultado fue contraintuitivo.</a:t>
            </a:r>
            <a:endParaRPr lang="en-US" sz="1400" dirty="0"/>
          </a:p>
        </p:txBody>
      </p:sp>
      <p:graphicFrame>
        <p:nvGraphicFramePr>
          <p:cNvPr id="5" name="Chart 0" descr=""/>
          <p:cNvGraphicFramePr/>
          <p:nvPr/>
        </p:nvGraphicFramePr>
        <p:xfrm>
          <a:off x="640080" y="2103120"/>
          <a:ext cx="6035040" cy="29260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132320" y="2148840"/>
            <a:ext cx="39319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Dos lecturas</a:t>
            </a:r>
            <a:endParaRPr lang="en-US" sz="1400" dirty="0"/>
          </a:p>
        </p:txBody>
      </p:sp>
      <p:sp>
        <p:nvSpPr>
          <p:cNvPr id="7" name="Text 4"/>
          <p:cNvSpPr/>
          <p:nvPr/>
        </p:nvSpPr>
        <p:spPr>
          <a:xfrm>
            <a:off x="7132320" y="2514600"/>
            <a:ext cx="3931920" cy="182880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52606D"/>
                </a:solidFill>
                <a:latin typeface="Calibri" pitchFamily="34" charset="0"/>
                <a:ea typeface="Calibri" pitchFamily="34" charset="-122"/>
                <a:cs typeface="Calibri" pitchFamily="34" charset="-120"/>
              </a:rPr>
              <a:t>Fragmentar más rindió 5,05×. Duplicar los workers, 2,13×. La granularidad del reparto pesa más que la capacidad de cómputo.</a:t>
            </a:r>
            <a:endParaRPr lang="en-US" sz="1200" dirty="0"/>
          </a:p>
          <a:p>
            <a:pPr marL="342900" indent="-342900">
              <a:spcAft>
                <a:spcPts val="1000"/>
              </a:spcAft>
              <a:buSzPct val="100000"/>
              <a:buChar char="•"/>
            </a:pPr>
            <a:r>
              <a:rPr lang="en-US" sz="1200" dirty="0">
                <a:solidFill>
                  <a:srgbClr val="52606D"/>
                </a:solidFill>
                <a:latin typeface="Calibri" pitchFamily="34" charset="0"/>
                <a:ea typeface="Calibri" pitchFamily="34" charset="-122"/>
                <a:cs typeface="Calibri" pitchFamily="34" charset="-120"/>
              </a:rPr>
              <a:t>Con fragmentos chicos, el segundo worker empeoró el tiempo: ya no había trabajo suficiente para mantenerlo ocupado.</a:t>
            </a:r>
            <a:endParaRPr lang="en-US" sz="1200" dirty="0"/>
          </a:p>
        </p:txBody>
      </p:sp>
      <p:sp>
        <p:nvSpPr>
          <p:cNvPr id="8" name="Shape 5"/>
          <p:cNvSpPr/>
          <p:nvPr/>
        </p:nvSpPr>
        <p:spPr>
          <a:xfrm>
            <a:off x="7132320" y="4434840"/>
            <a:ext cx="3931920" cy="868680"/>
          </a:xfrm>
          <a:prstGeom prst="roundRect">
            <a:avLst>
              <a:gd name="adj" fmla="val 8421"/>
            </a:avLst>
          </a:prstGeom>
          <a:solidFill>
            <a:srgbClr val="F0F4F8"/>
          </a:solidFill>
          <a:ln w="12700">
            <a:solidFill>
              <a:srgbClr val="F0F4F8"/>
            </a:solidFill>
            <a:prstDash val="solid"/>
          </a:ln>
        </p:spPr>
      </p:sp>
      <p:sp>
        <p:nvSpPr>
          <p:cNvPr id="9" name="Text 6"/>
          <p:cNvSpPr/>
          <p:nvPr/>
        </p:nvSpPr>
        <p:spPr>
          <a:xfrm>
            <a:off x="7360920" y="4553712"/>
            <a:ext cx="3566160" cy="65836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Y no es solo velocidad: la peor configuración además dispersaba entre 5 y 30 segundos. La mejor se concentra en 3,5.</a:t>
            </a:r>
            <a:endParaRPr lang="en-US" sz="1100" dirty="0"/>
          </a:p>
        </p:txBody>
      </p:sp>
      <p:sp>
        <p:nvSpPr>
          <p:cNvPr id="10" name="Text 7"/>
          <p:cNvSpPr/>
          <p:nvPr/>
        </p:nvSpPr>
        <p:spPr>
          <a:xfrm>
            <a:off x="640080" y="5394960"/>
            <a:ext cx="10424160" cy="7315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Pilar 1 midió que la GPU hashea 127× más rápido que la CPU. A nivel sistema, sin embargo, la palanca dominante resultó ser cómo se reparte el trabajo — porque en esas dificultades el cuello de botella no era el cómputo.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BF71"/>
                </a:solidFill>
                <a:latin typeface="Calibri" pitchFamily="34" charset="0"/>
                <a:ea typeface="Calibri" pitchFamily="34" charset="-122"/>
                <a:cs typeface="Calibri" pitchFamily="34" charset="-120"/>
              </a:rPr>
              <a:t>CIERRE DEL TRABAJO</a:t>
            </a:r>
            <a:endParaRPr lang="en-US" sz="11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Documentación de entrega</a:t>
            </a:r>
            <a:endParaRPr lang="en-US" sz="3200" dirty="0"/>
          </a:p>
        </p:txBody>
      </p:sp>
      <p:sp>
        <p:nvSpPr>
          <p:cNvPr id="4" name="Shape 2"/>
          <p:cNvSpPr/>
          <p:nvPr/>
        </p:nvSpPr>
        <p:spPr>
          <a:xfrm>
            <a:off x="640080" y="1591056"/>
            <a:ext cx="420624" cy="420624"/>
          </a:xfrm>
          <a:prstGeom prst="ellipse">
            <a:avLst/>
          </a:prstGeom>
          <a:solidFill>
            <a:srgbClr val="1F2933"/>
          </a:solidFill>
          <a:ln w="12700">
            <a:solidFill>
              <a:srgbClr val="1F2933"/>
            </a:solidFill>
            <a:prstDash val="solid"/>
          </a:ln>
        </p:spPr>
      </p:sp>
      <p:sp>
        <p:nvSpPr>
          <p:cNvPr id="5" name="Text 3"/>
          <p:cNvSpPr/>
          <p:nvPr/>
        </p:nvSpPr>
        <p:spPr>
          <a:xfrm>
            <a:off x="640080" y="15910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61872" y="1554480"/>
            <a:ext cx="961948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Informe de resultados</a:t>
            </a:r>
            <a:endParaRPr lang="en-US" sz="1500" dirty="0"/>
          </a:p>
        </p:txBody>
      </p:sp>
      <p:sp>
        <p:nvSpPr>
          <p:cNvPr id="7" name="Text 5"/>
          <p:cNvSpPr/>
          <p:nvPr/>
        </p:nvSpPr>
        <p:spPr>
          <a:xfrm>
            <a:off x="1261872" y="1837944"/>
            <a:ext cx="961948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Une el benchmark de GPU contra CPU de Pilar 1 con las pruebas del sistema completo, más la reflexión crítica.</a:t>
            </a:r>
            <a:endParaRPr lang="en-US" sz="1200" dirty="0"/>
          </a:p>
        </p:txBody>
      </p:sp>
      <p:sp>
        <p:nvSpPr>
          <p:cNvPr id="8" name="Shape 6"/>
          <p:cNvSpPr/>
          <p:nvPr/>
        </p:nvSpPr>
        <p:spPr>
          <a:xfrm>
            <a:off x="640080" y="2487168"/>
            <a:ext cx="420624" cy="420624"/>
          </a:xfrm>
          <a:prstGeom prst="ellipse">
            <a:avLst/>
          </a:prstGeom>
          <a:solidFill>
            <a:srgbClr val="52606D"/>
          </a:solidFill>
          <a:ln w="12700">
            <a:solidFill>
              <a:srgbClr val="52606D"/>
            </a:solidFill>
            <a:prstDash val="solid"/>
          </a:ln>
        </p:spPr>
      </p:sp>
      <p:sp>
        <p:nvSpPr>
          <p:cNvPr id="9" name="Text 7"/>
          <p:cNvSpPr/>
          <p:nvPr/>
        </p:nvSpPr>
        <p:spPr>
          <a:xfrm>
            <a:off x="640080" y="24871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261872" y="2450592"/>
            <a:ext cx="961948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Cuatro decisiones de arquitectura</a:t>
            </a:r>
            <a:endParaRPr lang="en-US" sz="1500" dirty="0"/>
          </a:p>
        </p:txBody>
      </p:sp>
      <p:sp>
        <p:nvSpPr>
          <p:cNvPr id="11" name="Text 9"/>
          <p:cNvSpPr/>
          <p:nvPr/>
        </p:nvSpPr>
        <p:spPr>
          <a:xfrm>
            <a:off x="1261872" y="2734056"/>
            <a:ext cx="961948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Reserva atómica de entradas, autoescalado, y los dos protocolos del pool — uno supersede al otro.</a:t>
            </a:r>
            <a:endParaRPr lang="en-US" sz="1200" dirty="0"/>
          </a:p>
        </p:txBody>
      </p:sp>
      <p:sp>
        <p:nvSpPr>
          <p:cNvPr id="12" name="Shape 10"/>
          <p:cNvSpPr/>
          <p:nvPr/>
        </p:nvSpPr>
        <p:spPr>
          <a:xfrm>
            <a:off x="640080" y="3383280"/>
            <a:ext cx="420624" cy="420624"/>
          </a:xfrm>
          <a:prstGeom prst="ellipse">
            <a:avLst/>
          </a:prstGeom>
          <a:solidFill>
            <a:srgbClr val="1F2933"/>
          </a:solidFill>
          <a:ln w="12700">
            <a:solidFill>
              <a:srgbClr val="1F2933"/>
            </a:solidFill>
            <a:prstDash val="solid"/>
          </a:ln>
        </p:spPr>
      </p:sp>
      <p:sp>
        <p:nvSpPr>
          <p:cNvPr id="13" name="Text 11"/>
          <p:cNvSpPr/>
          <p:nvPr/>
        </p:nvSpPr>
        <p:spPr>
          <a:xfrm>
            <a:off x="640080" y="33832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61872" y="3346704"/>
            <a:ext cx="961948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Checklist auditado</a:t>
            </a:r>
            <a:endParaRPr lang="en-US" sz="1500" dirty="0"/>
          </a:p>
        </p:txBody>
      </p:sp>
      <p:sp>
        <p:nvSpPr>
          <p:cNvPr id="15" name="Text 13"/>
          <p:cNvSpPr/>
          <p:nvPr/>
        </p:nvSpPr>
        <p:spPr>
          <a:xfrm>
            <a:off x="1261872" y="3630168"/>
            <a:ext cx="961948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Los 61 ítems de la cátedra con su evidencia verificable y su estado.</a:t>
            </a:r>
            <a:endParaRPr lang="en-US" sz="1200" dirty="0"/>
          </a:p>
        </p:txBody>
      </p:sp>
      <p:sp>
        <p:nvSpPr>
          <p:cNvPr id="16" name="Shape 14"/>
          <p:cNvSpPr/>
          <p:nvPr/>
        </p:nvSpPr>
        <p:spPr>
          <a:xfrm>
            <a:off x="640080" y="4279392"/>
            <a:ext cx="420624" cy="420624"/>
          </a:xfrm>
          <a:prstGeom prst="ellipse">
            <a:avLst/>
          </a:prstGeom>
          <a:solidFill>
            <a:srgbClr val="52606D"/>
          </a:solidFill>
          <a:ln w="12700">
            <a:solidFill>
              <a:srgbClr val="52606D"/>
            </a:solidFill>
            <a:prstDash val="solid"/>
          </a:ln>
        </p:spPr>
      </p:sp>
      <p:sp>
        <p:nvSpPr>
          <p:cNvPr id="17" name="Text 15"/>
          <p:cNvSpPr/>
          <p:nvPr/>
        </p:nvSpPr>
        <p:spPr>
          <a:xfrm>
            <a:off x="640080" y="42793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261872" y="4242816"/>
            <a:ext cx="961948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Guion del video</a:t>
            </a:r>
            <a:endParaRPr lang="en-US" sz="1500" dirty="0"/>
          </a:p>
        </p:txBody>
      </p:sp>
      <p:sp>
        <p:nvSpPr>
          <p:cNvPr id="19" name="Text 17"/>
          <p:cNvSpPr/>
          <p:nvPr/>
        </p:nvSpPr>
        <p:spPr>
          <a:xfrm>
            <a:off x="1261872" y="4526280"/>
            <a:ext cx="961948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Recorrido bloque por bloque con los comandos y los números para citar en cada momento.</a:t>
            </a:r>
            <a:endParaRPr lang="en-US" sz="1200" dirty="0"/>
          </a:p>
        </p:txBody>
      </p:sp>
      <p:sp>
        <p:nvSpPr>
          <p:cNvPr id="20" name="Shape 18"/>
          <p:cNvSpPr/>
          <p:nvPr/>
        </p:nvSpPr>
        <p:spPr>
          <a:xfrm>
            <a:off x="640080" y="5175504"/>
            <a:ext cx="420624" cy="420624"/>
          </a:xfrm>
          <a:prstGeom prst="ellipse">
            <a:avLst/>
          </a:prstGeom>
          <a:solidFill>
            <a:srgbClr val="1F2933"/>
          </a:solidFill>
          <a:ln w="12700">
            <a:solidFill>
              <a:srgbClr val="1F2933"/>
            </a:solidFill>
            <a:prstDash val="solid"/>
          </a:ln>
        </p:spPr>
      </p:sp>
      <p:sp>
        <p:nvSpPr>
          <p:cNvPr id="21" name="Text 19"/>
          <p:cNvSpPr/>
          <p:nvPr/>
        </p:nvSpPr>
        <p:spPr>
          <a:xfrm>
            <a:off x="640080" y="5175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261872" y="5138928"/>
            <a:ext cx="9619488" cy="2743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Declaración de uso de IA</a:t>
            </a:r>
            <a:endParaRPr lang="en-US" sz="1500" dirty="0"/>
          </a:p>
        </p:txBody>
      </p:sp>
      <p:sp>
        <p:nvSpPr>
          <p:cNvPr id="23" name="Text 21"/>
          <p:cNvSpPr/>
          <p:nvPr/>
        </p:nvSpPr>
        <p:spPr>
          <a:xfrm>
            <a:off x="1261872" y="5422392"/>
            <a:ext cx="9619488" cy="566928"/>
          </a:xfrm>
          <a:prstGeom prst="rect">
            <a:avLst/>
          </a:prstGeom>
          <a:noFill/>
          <a:ln/>
        </p:spPr>
        <p:txBody>
          <a:bodyPr wrap="square" lIns="0" tIns="0" rIns="0" bIns="0" rtlCol="0" anchor="ctr"/>
          <a:lstStyle/>
          <a:p>
            <a:pPr indent="0" marL="0">
              <a:buNone/>
            </a:pPr>
            <a:r>
              <a:rPr lang="en-US" sz="1200" dirty="0">
                <a:solidFill>
                  <a:srgbClr val="52606D"/>
                </a:solidFill>
                <a:latin typeface="Calibri" pitchFamily="34" charset="0"/>
                <a:ea typeface="Calibri" pitchFamily="34" charset="-122"/>
                <a:cs typeface="Calibri" pitchFamily="34" charset="-120"/>
              </a:rPr>
              <a:t>Qué herramientas se usaron, en qué partes y cómo se controló la calidad.</a:t>
            </a:r>
            <a:endParaRPr lang="en-US" sz="1200" dirty="0"/>
          </a:p>
        </p:txBody>
      </p:sp>
      <p:sp>
        <p:nvSpPr>
          <p:cNvPr id="24" name="Text 22"/>
          <p:cNvSpPr/>
          <p:nvPr/>
        </p:nvSpPr>
        <p:spPr>
          <a:xfrm>
            <a:off x="640080" y="6080760"/>
            <a:ext cx="10424160" cy="502920"/>
          </a:xfrm>
          <a:prstGeom prst="rect">
            <a:avLst/>
          </a:prstGeom>
          <a:noFill/>
          <a:ln/>
        </p:spPr>
        <p:txBody>
          <a:bodyPr wrap="square" lIns="0" tIns="0" rIns="0" bIns="0" rtlCol="0" anchor="ctr"/>
          <a:lstStyle/>
          <a:p>
            <a:pPr indent="0" marL="0">
              <a:buNone/>
            </a:pPr>
            <a:r>
              <a:rPr lang="en-US" sz="1200" i="1" dirty="0">
                <a:solidFill>
                  <a:srgbClr val="7B8794"/>
                </a:solidFill>
                <a:latin typeface="Calibri" pitchFamily="34" charset="0"/>
                <a:ea typeface="Calibri" pitchFamily="34" charset="-122"/>
                <a:cs typeface="Calibri" pitchFamily="34" charset="-120"/>
              </a:rPr>
              <a:t>La reflexión crítica incluye la conclusión incómoda: una blockchain propia con Proof of Work no es la solución correcta para vender entradas. Lo que sí resuelve un problema real es el modelo de propiedad criptográfica.</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2933"/>
        </a:solidFill>
      </p:bgPr>
    </p:bg>
    <p:spTree>
      <p:nvGrpSpPr>
        <p:cNvPr id="1" name=""/>
        <p:cNvGrpSpPr/>
        <p:nvPr/>
      </p:nvGrpSpPr>
      <p:grpSpPr>
        <a:xfrm>
          <a:off x="0" y="0"/>
          <a:ext cx="0" cy="0"/>
          <a:chOff x="0" y="0"/>
          <a:chExt cx="0" cy="0"/>
        </a:xfrm>
      </p:grpSpPr>
      <p:sp>
        <p:nvSpPr>
          <p:cNvPr id="2" name="Shape 0"/>
          <p:cNvSpPr/>
          <p:nvPr/>
        </p:nvSpPr>
        <p:spPr>
          <a:xfrm>
            <a:off x="-1828800" y="4023360"/>
            <a:ext cx="4572000" cy="4572000"/>
          </a:xfrm>
          <a:prstGeom prst="ellipse">
            <a:avLst/>
          </a:prstGeom>
          <a:solidFill>
            <a:srgbClr val="323F4B"/>
          </a:solidFill>
          <a:ln w="12700">
            <a:solidFill>
              <a:srgbClr val="323F4B"/>
            </a:solidFill>
            <a:prstDash val="solid"/>
          </a:ln>
        </p:spPr>
      </p:sp>
      <p:sp>
        <p:nvSpPr>
          <p:cNvPr id="3" name="Text 1"/>
          <p:cNvSpPr/>
          <p:nvPr/>
        </p:nvSpPr>
        <p:spPr>
          <a:xfrm>
            <a:off x="640080" y="868680"/>
            <a:ext cx="10058400" cy="274320"/>
          </a:xfrm>
          <a:prstGeom prst="rect">
            <a:avLst/>
          </a:prstGeom>
          <a:noFill/>
          <a:ln/>
        </p:spPr>
        <p:txBody>
          <a:bodyPr wrap="square" lIns="0" tIns="0" rIns="0" bIns="0" rtlCol="0" anchor="ctr"/>
          <a:lstStyle/>
          <a:p>
            <a:pPr indent="0" marL="0">
              <a:buNone/>
            </a:pPr>
            <a:r>
              <a:rPr lang="en-US" sz="1200" b="1" spc="200" kern="0" dirty="0">
                <a:solidFill>
                  <a:srgbClr val="2FBF71"/>
                </a:solidFill>
                <a:latin typeface="Calibri" pitchFamily="34" charset="0"/>
                <a:ea typeface="Calibri" pitchFamily="34" charset="-122"/>
                <a:cs typeface="Calibri" pitchFamily="34" charset="-120"/>
              </a:rPr>
              <a:t>EN DÓNDE QUEDAMOS</a:t>
            </a:r>
            <a:endParaRPr lang="en-US" sz="1200" dirty="0"/>
          </a:p>
        </p:txBody>
      </p:sp>
      <p:sp>
        <p:nvSpPr>
          <p:cNvPr id="4" name="Text 2"/>
          <p:cNvSpPr/>
          <p:nvPr/>
        </p:nvSpPr>
        <p:spPr>
          <a:xfrm>
            <a:off x="640080" y="1234440"/>
            <a:ext cx="105156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59 de 61 ítems cumplidos</a:t>
            </a:r>
            <a:endParaRPr lang="en-US" sz="4000" dirty="0"/>
          </a:p>
        </p:txBody>
      </p:sp>
      <p:sp>
        <p:nvSpPr>
          <p:cNvPr id="5" name="Text 3"/>
          <p:cNvSpPr/>
          <p:nvPr/>
        </p:nvSpPr>
        <p:spPr>
          <a:xfrm>
            <a:off x="640080" y="2377440"/>
            <a:ext cx="10058400" cy="292608"/>
          </a:xfrm>
          <a:prstGeom prst="rect">
            <a:avLst/>
          </a:prstGeom>
          <a:noFill/>
          <a:ln/>
        </p:spPr>
        <p:txBody>
          <a:bodyPr wrap="square" lIns="0" tIns="0" rIns="0" bIns="0" rtlCol="0" anchor="ctr"/>
          <a:lstStyle/>
          <a:p>
            <a:pPr indent="0" marL="0">
              <a:buNone/>
            </a:pPr>
            <a:r>
              <a:rPr lang="en-US" sz="1600" b="1" dirty="0">
                <a:solidFill>
                  <a:srgbClr val="2FBF71"/>
                </a:solidFill>
                <a:latin typeface="Calibri" pitchFamily="34" charset="0"/>
                <a:ea typeface="Calibri" pitchFamily="34" charset="-122"/>
                <a:cs typeface="Calibri" pitchFamily="34" charset="-120"/>
              </a:rPr>
              <a:t>Lo que queda</a:t>
            </a:r>
            <a:endParaRPr lang="en-US" sz="1600" dirty="0"/>
          </a:p>
        </p:txBody>
      </p:sp>
      <p:sp>
        <p:nvSpPr>
          <p:cNvPr id="6" name="Text 4"/>
          <p:cNvSpPr/>
          <p:nvPr/>
        </p:nvSpPr>
        <p:spPr>
          <a:xfrm>
            <a:off x="640080" y="2706624"/>
            <a:ext cx="10058400" cy="640080"/>
          </a:xfrm>
          <a:prstGeom prst="rect">
            <a:avLst/>
          </a:prstGeom>
          <a:noFill/>
          <a:ln/>
        </p:spPr>
        <p:txBody>
          <a:bodyPr wrap="square" lIns="0" tIns="0" rIns="0" bIns="0" rtlCol="0" anchor="ctr"/>
          <a:lstStyle/>
          <a:p>
            <a:pPr indent="0" marL="0">
              <a:buNone/>
            </a:pPr>
            <a:r>
              <a:rPr lang="en-US" sz="1400" dirty="0">
                <a:solidFill>
                  <a:srgbClr val="CBD2D9"/>
                </a:solidFill>
                <a:latin typeface="Calibri" pitchFamily="34" charset="0"/>
                <a:ea typeface="Calibri" pitchFamily="34" charset="-122"/>
                <a:cs typeface="Calibri" pitchFamily="34" charset="-120"/>
              </a:rPr>
              <a:t>El video explicativo, con el guion ya escrito. Y llegar a bulks de 100.000, que al ritmo medido son 44 minutos de una corrida.</a:t>
            </a:r>
            <a:endParaRPr lang="en-US" sz="1400" dirty="0"/>
          </a:p>
        </p:txBody>
      </p:sp>
      <p:sp>
        <p:nvSpPr>
          <p:cNvPr id="7" name="Text 5"/>
          <p:cNvSpPr/>
          <p:nvPr/>
        </p:nvSpPr>
        <p:spPr>
          <a:xfrm>
            <a:off x="640080" y="3520440"/>
            <a:ext cx="10058400" cy="292608"/>
          </a:xfrm>
          <a:prstGeom prst="rect">
            <a:avLst/>
          </a:prstGeom>
          <a:noFill/>
          <a:ln/>
        </p:spPr>
        <p:txBody>
          <a:bodyPr wrap="square" lIns="0" tIns="0" rIns="0" bIns="0" rtlCol="0" anchor="ctr"/>
          <a:lstStyle/>
          <a:p>
            <a:pPr indent="0" marL="0">
              <a:buNone/>
            </a:pPr>
            <a:r>
              <a:rPr lang="en-US" sz="1600" b="1" dirty="0">
                <a:solidFill>
                  <a:srgbClr val="E8871E"/>
                </a:solidFill>
                <a:latin typeface="Calibri" pitchFamily="34" charset="0"/>
                <a:ea typeface="Calibri" pitchFamily="34" charset="-122"/>
                <a:cs typeface="Calibri" pitchFamily="34" charset="-120"/>
              </a:rPr>
              <a:t>Lo que no pudimos verificar</a:t>
            </a:r>
            <a:endParaRPr lang="en-US" sz="1600" dirty="0"/>
          </a:p>
        </p:txBody>
      </p:sp>
      <p:sp>
        <p:nvSpPr>
          <p:cNvPr id="8" name="Text 6"/>
          <p:cNvSpPr/>
          <p:nvPr/>
        </p:nvSpPr>
        <p:spPr>
          <a:xfrm>
            <a:off x="640080" y="3849624"/>
            <a:ext cx="10058400" cy="640080"/>
          </a:xfrm>
          <a:prstGeom prst="rect">
            <a:avLst/>
          </a:prstGeom>
          <a:noFill/>
          <a:ln/>
        </p:spPr>
        <p:txBody>
          <a:bodyPr wrap="square" lIns="0" tIns="0" rIns="0" bIns="0" rtlCol="0" anchor="ctr"/>
          <a:lstStyle/>
          <a:p>
            <a:pPr indent="0" marL="0">
              <a:buNone/>
            </a:pPr>
            <a:r>
              <a:rPr lang="en-US" sz="1400" dirty="0">
                <a:solidFill>
                  <a:srgbClr val="CBD2D9"/>
                </a:solidFill>
                <a:latin typeface="Calibri" pitchFamily="34" charset="0"/>
                <a:ea typeface="Calibri" pitchFamily="34" charset="-122"/>
                <a:cs typeface="Calibri" pitchFamily="34" charset="-120"/>
              </a:rPr>
              <a:t>Nada de Kubernetes se aplicó a un cluster real: la cuenta de la nube se dio de baja. Está escrito y validado, pendiente de despliegue.</a:t>
            </a:r>
            <a:endParaRPr lang="en-US" sz="1400" dirty="0"/>
          </a:p>
        </p:txBody>
      </p:sp>
      <p:sp>
        <p:nvSpPr>
          <p:cNvPr id="9" name="Shape 7"/>
          <p:cNvSpPr/>
          <p:nvPr/>
        </p:nvSpPr>
        <p:spPr>
          <a:xfrm>
            <a:off x="640080" y="4846320"/>
            <a:ext cx="10424160" cy="1234440"/>
          </a:xfrm>
          <a:prstGeom prst="roundRect">
            <a:avLst>
              <a:gd name="adj" fmla="val 5926"/>
            </a:avLst>
          </a:prstGeom>
          <a:solidFill>
            <a:srgbClr val="323F4B"/>
          </a:solidFill>
          <a:ln w="12700">
            <a:solidFill>
              <a:srgbClr val="323F4B"/>
            </a:solidFill>
            <a:prstDash val="solid"/>
          </a:ln>
        </p:spPr>
      </p:sp>
      <p:sp>
        <p:nvSpPr>
          <p:cNvPr id="10" name="Text 8"/>
          <p:cNvSpPr/>
          <p:nvPr/>
        </p:nvSpPr>
        <p:spPr>
          <a:xfrm>
            <a:off x="960120" y="4983480"/>
            <a:ext cx="9784080" cy="274320"/>
          </a:xfrm>
          <a:prstGeom prst="rect">
            <a:avLst/>
          </a:prstGeom>
          <a:noFill/>
          <a:ln/>
        </p:spPr>
        <p:txBody>
          <a:bodyPr wrap="square" lIns="0" tIns="0" rIns="0" bIns="0" rtlCol="0" anchor="ctr"/>
          <a:lstStyle/>
          <a:p>
            <a:pPr indent="0" marL="0">
              <a:buNone/>
            </a:pPr>
            <a:r>
              <a:rPr lang="en-US" sz="1300" b="1" dirty="0">
                <a:solidFill>
                  <a:srgbClr val="2FBF71"/>
                </a:solidFill>
                <a:latin typeface="Calibri" pitchFamily="34" charset="0"/>
                <a:ea typeface="Calibri" pitchFamily="34" charset="-122"/>
                <a:cs typeface="Calibri" pitchFamily="34" charset="-120"/>
              </a:rPr>
              <a:t>Lo que más nos llevamos</a:t>
            </a:r>
            <a:endParaRPr lang="en-US" sz="1300" dirty="0"/>
          </a:p>
        </p:txBody>
      </p:sp>
      <p:sp>
        <p:nvSpPr>
          <p:cNvPr id="11" name="Text 9"/>
          <p:cNvSpPr/>
          <p:nvPr/>
        </p:nvSpPr>
        <p:spPr>
          <a:xfrm>
            <a:off x="960120" y="5285232"/>
            <a:ext cx="9784080" cy="6858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Los dos defectos más importantes no aparecieron programando, sino midiendo: preguntándonos por qué un número no cerraba con otro. Arreglarlos dio 6,3× de mejora y llevó las confirmaciones de 8 sobre 10 a 10 sobre 10.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SDyPP — Trabajo Final: recorrido de la última etapa</dc:title>
  <dc:subject>PptxGenJS Presentation</dc:subject>
  <dc:creator>Equipo SDyPP</dc:creator>
  <cp:lastModifiedBy>Equipo SDyPP</cp:lastModifiedBy>
  <cp:revision>1</cp:revision>
  <dcterms:created xsi:type="dcterms:W3CDTF">2026-08-06T20:13:09Z</dcterms:created>
  <dcterms:modified xsi:type="dcterms:W3CDTF">2026-08-06T20:13:09Z</dcterms:modified>
</cp:coreProperties>
</file>