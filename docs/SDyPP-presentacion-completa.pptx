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completa del sistema, de 20 a 30 minutos. Recorre los tres pilares, la aplicación, la infraestructura en Kubernetes, la observabilidad y los resultados medidos.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la entrada deja de ser un registro que hay que creerle a alguien y pasa a ser propiedad verificable.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pilares no son tres trabajos separados: la salida de uno es la entrada del otro.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hito 7 es el que conecta el Pilar 1 con el Pilar 2. Sin rango acotado no hay reparto posible.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cruce entre 2 y 3 caracteres es el dato que explica por qué la GPU no siempre conviene.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la progresión es parte del trabajo: se ve el razonamiento, no solo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servicios propios más dos de infraestructura. Cada uno con una responsabilidad clara.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etapas. La clave es que el coordinador revalida todo: no delega la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colas y cinco familias de claves. Es todo el vocabulario del sistema distribuido.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conceptual más importante del Pilar 2: por qué un protocolo que desperdicia puede ser el correcto en otro contexto.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45 segundos no son lentitud: son el TTL del latido más el ciclo de revisión. Es una decisión.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entrar en el código: qué hace la app y cuál es la garantía que ofrece.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fuerte: el servidor nunca puede firmar por el usuario. Eso es lo que hace verificable la propiedad.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hay una sola idea para que se lleven de la app, es 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topología de dos clusters no es un capricho: las GPU están del lado del docente.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que responde 'cómo están declarados los servicios'. El cero réplicas es lo que más preguntan.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 escalaban en absoluto' es el argumento que justifica la migración.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detalle del DNS es el que demuestra que se entendió cómo programa Kubernetes, no solo que se copiaron manifiestos.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exclusión del minero es una decisión, no un olvido. Está documentada en un ADR.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Cero llaves estáticas es un ítem explícito del checklist de la cátedra.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detector de secretos como barrera bloqueante es lo que pide el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Métricas, registros y trazas: los tres ejes. Grafana los unifica.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sobre cardinalidad es la que distingue instrumentar bien de instrumentar mucho.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Propagar la traza a través de RabbitMQ es lo que hace que la observabilidad funcione en un sistema desacoplado.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Alertar sobre condiciones de negocio y no solo sobre CPU es lo que hace útil el monitoreo.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honestidad sobre qué se midió y qué se calculó suma credibilidad.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conclusión más fuerte del trabajo y une los dos pilares.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hay que elegir una diapositiva para detenerse, es esta: muestra el método, no solo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Declarar la limitación metodológica antes de que la pregunten.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diciendo qué no funciona demuestra criterio y suma más que presentar todo como un éxito.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803136"/>
            <a:ext cx="405384" cy="54864"/>
          </a:xfrm>
          <a:prstGeom prst="rect">
            <a:avLst/>
          </a:prstGeom>
          <a:solidFill>
            <a:srgbClr val="0B6E4F"/>
          </a:solidFill>
          <a:ln w="12700">
            <a:solidFill>
              <a:srgbClr val="333333"/>
            </a:solidFill>
            <a:prstDash val="solid"/>
          </a:ln>
        </p:spPr>
      </p:sp>
      <p:sp>
        <p:nvSpPr>
          <p:cNvPr id="3" name="Text 1"/>
          <p:cNvSpPr/>
          <p:nvPr/>
        </p:nvSpPr>
        <p:spPr>
          <a:xfrm>
            <a:off x="594360" y="1874520"/>
            <a:ext cx="10058400" cy="274320"/>
          </a:xfrm>
          <a:prstGeom prst="rect">
            <a:avLst/>
          </a:prstGeom>
          <a:noFill/>
          <a:ln/>
        </p:spPr>
        <p:txBody>
          <a:bodyPr wrap="square" lIns="0" tIns="0" rIns="0" bIns="0" rtlCol="0" anchor="ctr"/>
          <a:lstStyle/>
          <a:p>
            <a:pPr indent="0" marL="0">
              <a:buNone/>
            </a:pPr>
            <a:r>
              <a:rPr lang="en-US" sz="1100" b="1" spc="160" kern="0" dirty="0">
                <a:solidFill>
                  <a:srgbClr val="0B6E4F"/>
                </a:solidFill>
                <a:latin typeface="Calibri" pitchFamily="34" charset="0"/>
                <a:ea typeface="Calibri" pitchFamily="34" charset="-122"/>
                <a:cs typeface="Calibri" pitchFamily="34" charset="-120"/>
              </a:rPr>
              <a:t>SISTEMAS DISTRIBUIDOS Y PROGRAMACIÓN PARALELA · UNLU · 2026</a:t>
            </a:r>
            <a:endParaRPr lang="en-US" sz="1100" dirty="0"/>
          </a:p>
        </p:txBody>
      </p:sp>
      <p:sp>
        <p:nvSpPr>
          <p:cNvPr id="4" name="Text 2"/>
          <p:cNvSpPr/>
          <p:nvPr/>
        </p:nvSpPr>
        <p:spPr>
          <a:xfrm>
            <a:off x="594360" y="2240280"/>
            <a:ext cx="10058400" cy="1143000"/>
          </a:xfrm>
          <a:prstGeom prst="rect">
            <a:avLst/>
          </a:prstGeom>
          <a:noFill/>
          <a:ln/>
        </p:spPr>
        <p:txBody>
          <a:bodyPr wrap="square" lIns="0" tIns="0" rIns="0" bIns="0" rtlCol="0" anchor="ctr"/>
          <a:lstStyle/>
          <a:p>
            <a:pPr indent="0" marL="0">
              <a:buNone/>
            </a:pPr>
            <a:r>
              <a:rPr lang="en-US" sz="6200" b="1" dirty="0">
                <a:solidFill>
                  <a:srgbClr val="10202F"/>
                </a:solidFill>
                <a:latin typeface="Cambria" pitchFamily="34" charset="0"/>
                <a:ea typeface="Cambria" pitchFamily="34" charset="-122"/>
                <a:cs typeface="Cambria" pitchFamily="34" charset="-120"/>
              </a:rPr>
              <a:t>Tesera</a:t>
            </a:r>
            <a:endParaRPr lang="en-US" sz="6200" dirty="0"/>
          </a:p>
        </p:txBody>
      </p:sp>
      <p:sp>
        <p:nvSpPr>
          <p:cNvPr id="5" name="Text 3"/>
          <p:cNvSpPr/>
          <p:nvPr/>
        </p:nvSpPr>
        <p:spPr>
          <a:xfrm>
            <a:off x="594360" y="3429000"/>
            <a:ext cx="8412480" cy="822960"/>
          </a:xfrm>
          <a:prstGeom prst="rect">
            <a:avLst/>
          </a:prstGeom>
          <a:noFill/>
          <a:ln/>
        </p:spPr>
        <p:txBody>
          <a:bodyPr wrap="square" lIns="0" tIns="0" rIns="0" bIns="0" rtlCol="0" anchor="ctr"/>
          <a:lstStyle/>
          <a:p>
            <a:pPr indent="0" marL="0">
              <a:lnSpc>
                <a:spcPct val="120000"/>
              </a:lnSpc>
              <a:buNone/>
            </a:pPr>
            <a:r>
              <a:rPr lang="en-US" sz="1700" dirty="0">
                <a:solidFill>
                  <a:srgbClr val="5B6B7B"/>
                </a:solidFill>
                <a:latin typeface="Calibri" pitchFamily="34" charset="0"/>
                <a:ea typeface="Calibri" pitchFamily="34" charset="-122"/>
                <a:cs typeface="Calibri" pitchFamily="34" charset="-120"/>
              </a:rPr>
              <a:t>Sistema de venta de entradas donde cada entrada es un activo criptográfico en una blockchain propia con Proof of Work.</a:t>
            </a:r>
            <a:endParaRPr lang="en-US" sz="1700" dirty="0"/>
          </a:p>
        </p:txBody>
      </p:sp>
      <p:sp>
        <p:nvSpPr>
          <p:cNvPr id="6" name="Shape 4"/>
          <p:cNvSpPr/>
          <p:nvPr/>
        </p:nvSpPr>
        <p:spPr>
          <a:xfrm>
            <a:off x="594360" y="4480560"/>
            <a:ext cx="1828800" cy="274320"/>
          </a:xfrm>
          <a:prstGeom prst="roundRect">
            <a:avLst>
              <a:gd name="adj" fmla="val 16667"/>
            </a:avLst>
          </a:prstGeom>
          <a:solidFill>
            <a:srgbClr val="DEE9F3"/>
          </a:solidFill>
          <a:ln w="12700">
            <a:solidFill>
              <a:srgbClr val="333333"/>
            </a:solidFill>
            <a:prstDash val="solid"/>
          </a:ln>
        </p:spPr>
      </p:sp>
      <p:sp>
        <p:nvSpPr>
          <p:cNvPr id="7" name="Text 5"/>
          <p:cNvSpPr/>
          <p:nvPr/>
        </p:nvSpPr>
        <p:spPr>
          <a:xfrm>
            <a:off x="594360" y="4480560"/>
            <a:ext cx="1828800" cy="274320"/>
          </a:xfrm>
          <a:prstGeom prst="rect">
            <a:avLst/>
          </a:prstGeom>
          <a:noFill/>
          <a:ln/>
        </p:spPr>
        <p:txBody>
          <a:bodyPr wrap="square" lIns="0" tIns="0" rIns="0" bIns="0" rtlCol="0" anchor="ctr"/>
          <a:lstStyle/>
          <a:p>
            <a:pPr algn="ctr" indent="0" marL="0">
              <a:buNone/>
            </a:pPr>
            <a:r>
              <a:rPr lang="en-US" sz="900" dirty="0">
                <a:solidFill>
                  <a:srgbClr val="1F4E79"/>
                </a:solidFill>
                <a:latin typeface="Consolas" pitchFamily="34" charset="0"/>
                <a:ea typeface="Consolas" pitchFamily="34" charset="-122"/>
                <a:cs typeface="Consolas" pitchFamily="34" charset="-120"/>
              </a:rPr>
              <a:t>Pilar 1 · CUDA y GPU</a:t>
            </a:r>
            <a:endParaRPr lang="en-US" sz="900" dirty="0"/>
          </a:p>
        </p:txBody>
      </p:sp>
      <p:sp>
        <p:nvSpPr>
          <p:cNvPr id="8" name="Shape 6"/>
          <p:cNvSpPr/>
          <p:nvPr/>
        </p:nvSpPr>
        <p:spPr>
          <a:xfrm>
            <a:off x="2551176" y="4480560"/>
            <a:ext cx="2728570" cy="274320"/>
          </a:xfrm>
          <a:prstGeom prst="roundRect">
            <a:avLst>
              <a:gd name="adj" fmla="val 16667"/>
            </a:avLst>
          </a:prstGeom>
          <a:solidFill>
            <a:srgbClr val="DEE9F3"/>
          </a:solidFill>
          <a:ln w="12700">
            <a:solidFill>
              <a:srgbClr val="333333"/>
            </a:solidFill>
            <a:prstDash val="solid"/>
          </a:ln>
        </p:spPr>
      </p:sp>
      <p:sp>
        <p:nvSpPr>
          <p:cNvPr id="9" name="Text 7"/>
          <p:cNvSpPr/>
          <p:nvPr/>
        </p:nvSpPr>
        <p:spPr>
          <a:xfrm>
            <a:off x="2551176" y="4480560"/>
            <a:ext cx="2728570" cy="274320"/>
          </a:xfrm>
          <a:prstGeom prst="rect">
            <a:avLst/>
          </a:prstGeom>
          <a:noFill/>
          <a:ln/>
        </p:spPr>
        <p:txBody>
          <a:bodyPr wrap="square" lIns="0" tIns="0" rIns="0" bIns="0" rtlCol="0" anchor="ctr"/>
          <a:lstStyle/>
          <a:p>
            <a:pPr algn="ctr" indent="0" marL="0">
              <a:buNone/>
            </a:pPr>
            <a:r>
              <a:rPr lang="en-US" sz="900" dirty="0">
                <a:solidFill>
                  <a:srgbClr val="1F4E79"/>
                </a:solidFill>
                <a:latin typeface="Consolas" pitchFamily="34" charset="0"/>
                <a:ea typeface="Consolas" pitchFamily="34" charset="-122"/>
                <a:cs typeface="Consolas" pitchFamily="34" charset="-120"/>
              </a:rPr>
              <a:t>Pilar 2 · Blockchain distribuida</a:t>
            </a:r>
            <a:endParaRPr lang="en-US" sz="900" dirty="0"/>
          </a:p>
        </p:txBody>
      </p:sp>
      <p:sp>
        <p:nvSpPr>
          <p:cNvPr id="10" name="Shape 8"/>
          <p:cNvSpPr/>
          <p:nvPr/>
        </p:nvSpPr>
        <p:spPr>
          <a:xfrm>
            <a:off x="5407762" y="4480560"/>
            <a:ext cx="2803550" cy="274320"/>
          </a:xfrm>
          <a:prstGeom prst="roundRect">
            <a:avLst>
              <a:gd name="adj" fmla="val 16667"/>
            </a:avLst>
          </a:prstGeom>
          <a:solidFill>
            <a:srgbClr val="DEE9F3"/>
          </a:solidFill>
          <a:ln w="12700">
            <a:solidFill>
              <a:srgbClr val="333333"/>
            </a:solidFill>
            <a:prstDash val="solid"/>
          </a:ln>
        </p:spPr>
      </p:sp>
      <p:sp>
        <p:nvSpPr>
          <p:cNvPr id="11" name="Text 9"/>
          <p:cNvSpPr/>
          <p:nvPr/>
        </p:nvSpPr>
        <p:spPr>
          <a:xfrm>
            <a:off x="5407762" y="4480560"/>
            <a:ext cx="2803550" cy="274320"/>
          </a:xfrm>
          <a:prstGeom prst="rect">
            <a:avLst/>
          </a:prstGeom>
          <a:noFill/>
          <a:ln/>
        </p:spPr>
        <p:txBody>
          <a:bodyPr wrap="square" lIns="0" tIns="0" rIns="0" bIns="0" rtlCol="0" anchor="ctr"/>
          <a:lstStyle/>
          <a:p>
            <a:pPr algn="ctr" indent="0" marL="0">
              <a:buNone/>
            </a:pPr>
            <a:r>
              <a:rPr lang="en-US" sz="900" dirty="0">
                <a:solidFill>
                  <a:srgbClr val="1F4E79"/>
                </a:solidFill>
                <a:latin typeface="Consolas" pitchFamily="34" charset="0"/>
                <a:ea typeface="Consolas" pitchFamily="34" charset="-122"/>
                <a:cs typeface="Consolas" pitchFamily="34" charset="-120"/>
              </a:rPr>
              <a:t>Pilar 3 · Infraestructura y CI/CD</a:t>
            </a:r>
            <a:endParaRPr lang="en-US" sz="900" dirty="0"/>
          </a:p>
        </p:txBody>
      </p:sp>
      <p:sp>
        <p:nvSpPr>
          <p:cNvPr id="12" name="Shape 10"/>
          <p:cNvSpPr/>
          <p:nvPr/>
        </p:nvSpPr>
        <p:spPr>
          <a:xfrm>
            <a:off x="8339328" y="4480560"/>
            <a:ext cx="1378915" cy="274320"/>
          </a:xfrm>
          <a:prstGeom prst="roundRect">
            <a:avLst>
              <a:gd name="adj" fmla="val 16667"/>
            </a:avLst>
          </a:prstGeom>
          <a:solidFill>
            <a:srgbClr val="E6EBF0"/>
          </a:solidFill>
          <a:ln w="12700">
            <a:solidFill>
              <a:srgbClr val="333333"/>
            </a:solidFill>
            <a:prstDash val="solid"/>
          </a:ln>
        </p:spPr>
      </p:sp>
      <p:sp>
        <p:nvSpPr>
          <p:cNvPr id="13" name="Text 11"/>
          <p:cNvSpPr/>
          <p:nvPr/>
        </p:nvSpPr>
        <p:spPr>
          <a:xfrm>
            <a:off x="8339328" y="4480560"/>
            <a:ext cx="1378915" cy="274320"/>
          </a:xfrm>
          <a:prstGeom prst="rect">
            <a:avLst/>
          </a:prstGeom>
          <a:noFill/>
          <a:ln/>
        </p:spPr>
        <p:txBody>
          <a:bodyPr wrap="square" lIns="0" tIns="0" rIns="0" bIns="0" rtlCol="0" anchor="ctr"/>
          <a:lstStyle/>
          <a:p>
            <a:pPr algn="ctr" indent="0" marL="0">
              <a:buNone/>
            </a:pPr>
            <a:r>
              <a:rPr lang="en-US" sz="900" dirty="0">
                <a:solidFill>
                  <a:srgbClr val="10202F"/>
                </a:solidFill>
                <a:latin typeface="Consolas" pitchFamily="34" charset="0"/>
                <a:ea typeface="Consolas" pitchFamily="34" charset="-122"/>
                <a:cs typeface="Consolas" pitchFamily="34" charset="-120"/>
              </a:rPr>
              <a:t>Aplicación web</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APERTURA</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2 / 30</a:t>
            </a:r>
            <a:endParaRPr lang="en-US" sz="900" dirty="0"/>
          </a:p>
        </p:txBody>
      </p:sp>
      <p:sp>
        <p:nvSpPr>
          <p:cNvPr id="5" name="Shape 3"/>
          <p:cNvSpPr/>
          <p:nvPr/>
        </p:nvSpPr>
        <p:spPr>
          <a:xfrm>
            <a:off x="0" y="6803136"/>
            <a:ext cx="810768"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EL PROBLEMA</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Una entrada no es una fila en una base de datos</a:t>
            </a:r>
            <a:endParaRPr lang="en-US" sz="2700" dirty="0"/>
          </a:p>
        </p:txBody>
      </p:sp>
      <p:sp>
        <p:nvSpPr>
          <p:cNvPr id="8" name="Text 6"/>
          <p:cNvSpPr/>
          <p:nvPr/>
        </p:nvSpPr>
        <p:spPr>
          <a:xfrm>
            <a:off x="594360" y="1572768"/>
            <a:ext cx="5669280" cy="1097280"/>
          </a:xfrm>
          <a:prstGeom prst="rect">
            <a:avLst/>
          </a:prstGeom>
          <a:noFill/>
          <a:ln/>
        </p:spPr>
        <p:txBody>
          <a:bodyPr wrap="square" lIns="0" tIns="0" rIns="0" bIns="0" rtlCol="0" anchor="ctr"/>
          <a:lstStyle/>
          <a:p>
            <a:pPr indent="0" marL="0">
              <a:lnSpc>
                <a:spcPct val="120000"/>
              </a:lnSpc>
              <a:buNone/>
            </a:pPr>
            <a:r>
              <a:rPr lang="en-US" sz="1150" dirty="0">
                <a:solidFill>
                  <a:srgbClr val="5B6B7B"/>
                </a:solidFill>
                <a:latin typeface="Calibri" pitchFamily="34" charset="0"/>
                <a:ea typeface="Calibri" pitchFamily="34" charset="-122"/>
                <a:cs typeface="Calibri" pitchFamily="34" charset="-120"/>
              </a:rPr>
              <a:t>La venta de entradas tiene dos problemas que el software tradicional resuelve mal: la duplicación —la misma entrada vendida o usada dos veces— y la reventa fraudulenta, donde el comprador no puede verificar que quien le vende realmente la tiene.</a:t>
            </a:r>
            <a:endParaRPr lang="en-US" sz="1150" dirty="0"/>
          </a:p>
        </p:txBody>
      </p:sp>
      <p:sp>
        <p:nvSpPr>
          <p:cNvPr id="9" name="Text 7"/>
          <p:cNvSpPr/>
          <p:nvPr/>
        </p:nvSpPr>
        <p:spPr>
          <a:xfrm>
            <a:off x="594360" y="2743200"/>
            <a:ext cx="5669280" cy="822960"/>
          </a:xfrm>
          <a:prstGeom prst="rect">
            <a:avLst/>
          </a:prstGeom>
          <a:noFill/>
          <a:ln/>
        </p:spPr>
        <p:txBody>
          <a:bodyPr wrap="square" lIns="0" tIns="0" rIns="0" bIns="0" rtlCol="0" anchor="ctr"/>
          <a:lstStyle/>
          <a:p>
            <a:pPr indent="0" marL="0">
              <a:lnSpc>
                <a:spcPct val="120000"/>
              </a:lnSpc>
              <a:buNone/>
            </a:pPr>
            <a:r>
              <a:rPr lang="en-US" sz="1150" dirty="0">
                <a:solidFill>
                  <a:srgbClr val="5B6B7B"/>
                </a:solidFill>
                <a:latin typeface="Calibri" pitchFamily="34" charset="0"/>
                <a:ea typeface="Calibri" pitchFamily="34" charset="-122"/>
                <a:cs typeface="Calibri" pitchFamily="34" charset="-120"/>
              </a:rPr>
              <a:t>En un sistema centralizado, la respuesta a “¿esta entrada es válida?” depende de confiar en el emisor. No hay forma de que el asistente lo pruebe por su cuenta.</a:t>
            </a:r>
            <a:endParaRPr lang="en-US" sz="1150" dirty="0"/>
          </a:p>
        </p:txBody>
      </p:sp>
      <p:sp>
        <p:nvSpPr>
          <p:cNvPr id="10" name="Shape 8"/>
          <p:cNvSpPr/>
          <p:nvPr/>
        </p:nvSpPr>
        <p:spPr>
          <a:xfrm>
            <a:off x="6629400" y="1572768"/>
            <a:ext cx="4937760" cy="1691640"/>
          </a:xfrm>
          <a:prstGeom prst="roundRect">
            <a:avLst>
              <a:gd name="adj" fmla="val 3243"/>
            </a:avLst>
          </a:prstGeom>
          <a:solidFill>
            <a:srgbClr val="DCEFE6"/>
          </a:solidFill>
          <a:ln w="12700">
            <a:solidFill>
              <a:srgbClr val="333333"/>
            </a:solidFill>
            <a:prstDash val="solid"/>
          </a:ln>
        </p:spPr>
      </p:sp>
      <p:sp>
        <p:nvSpPr>
          <p:cNvPr id="11" name="Text 9"/>
          <p:cNvSpPr/>
          <p:nvPr/>
        </p:nvSpPr>
        <p:spPr>
          <a:xfrm>
            <a:off x="6858000" y="1700784"/>
            <a:ext cx="4480560" cy="1435608"/>
          </a:xfrm>
          <a:prstGeom prst="rect">
            <a:avLst/>
          </a:prstGeom>
          <a:noFill/>
          <a:ln/>
        </p:spPr>
        <p:txBody>
          <a:bodyPr wrap="square" lIns="0" tIns="0" rIns="0" bIns="0" rtlCol="0" anchor="t"/>
          <a:lstStyle/>
          <a:p>
            <a:pPr indent="0" marL="0">
              <a:lnSpc>
                <a:spcPct val="118000"/>
              </a:lnSpc>
              <a:buNone/>
            </a:pPr>
            <a:r>
              <a:rPr lang="en-US" sz="1200" b="1" dirty="0">
                <a:solidFill>
                  <a:srgbClr val="0B6E4F"/>
                </a:solidFill>
                <a:latin typeface="Calibri" pitchFamily="34" charset="0"/>
                <a:ea typeface="Calibri" pitchFamily="34" charset="-122"/>
                <a:cs typeface="Calibri" pitchFamily="34" charset="-120"/>
              </a:rPr>
              <a:t>La propuesta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Cada entrada pertenece a una clave pública. Cada transferencia va firmada. La cadena registra quién es el dueño en cada momento, y esa cadena la construyen mineros distribuidos resolviendo Proof of Work.</a:t>
            </a:r>
            <a:endParaRPr lang="en-US" sz="1050" dirty="0"/>
          </a:p>
        </p:txBody>
      </p:sp>
      <p:sp>
        <p:nvSpPr>
          <p:cNvPr id="12" name="Text 10"/>
          <p:cNvSpPr/>
          <p:nvPr/>
        </p:nvSpPr>
        <p:spPr>
          <a:xfrm>
            <a:off x="6629400" y="3429000"/>
            <a:ext cx="4937760" cy="137160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No se puede duplicar — la propiedad es única en la cadena</a:t>
            </a:r>
            <a:endParaRPr lang="en-US" sz="1050" dirty="0"/>
          </a:p>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No se puede usar dos veces — validar transfiere la entrada</a:t>
            </a:r>
            <a:endParaRPr lang="en-US" sz="1050" dirty="0"/>
          </a:p>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No hace falta confiar — la firma se verifica sola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MAPA</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3 / 30</a:t>
            </a:r>
            <a:endParaRPr lang="en-US" sz="900" dirty="0"/>
          </a:p>
        </p:txBody>
      </p:sp>
      <p:sp>
        <p:nvSpPr>
          <p:cNvPr id="5" name="Shape 3"/>
          <p:cNvSpPr/>
          <p:nvPr/>
        </p:nvSpPr>
        <p:spPr>
          <a:xfrm>
            <a:off x="0" y="6803136"/>
            <a:ext cx="1216152"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CÓMO ESTÁ COMPUESTO EL TRABAJO</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Tres pilares que se integran en un sistema</a:t>
            </a:r>
            <a:endParaRPr lang="en-US" sz="2700" dirty="0"/>
          </a:p>
        </p:txBody>
      </p:sp>
      <p:sp>
        <p:nvSpPr>
          <p:cNvPr id="8" name="Shape 6"/>
          <p:cNvSpPr/>
          <p:nvPr/>
        </p:nvSpPr>
        <p:spPr>
          <a:xfrm>
            <a:off x="594360" y="1600200"/>
            <a:ext cx="3502152" cy="2606040"/>
          </a:xfrm>
          <a:prstGeom prst="roundRect">
            <a:avLst>
              <a:gd name="adj" fmla="val 2105"/>
            </a:avLst>
          </a:prstGeom>
          <a:solidFill>
            <a:srgbClr val="F0F3F6"/>
          </a:solidFill>
          <a:ln w="12700">
            <a:solidFill>
              <a:srgbClr val="333333"/>
            </a:solidFill>
            <a:prstDash val="solid"/>
          </a:ln>
        </p:spPr>
      </p:sp>
      <p:sp>
        <p:nvSpPr>
          <p:cNvPr id="9" name="Shape 7"/>
          <p:cNvSpPr/>
          <p:nvPr/>
        </p:nvSpPr>
        <p:spPr>
          <a:xfrm>
            <a:off x="795528" y="1764792"/>
            <a:ext cx="819302" cy="237744"/>
          </a:xfrm>
          <a:prstGeom prst="roundRect">
            <a:avLst>
              <a:gd name="adj" fmla="val 19231"/>
            </a:avLst>
          </a:prstGeom>
          <a:solidFill>
            <a:srgbClr val="DEE9F3"/>
          </a:solidFill>
          <a:ln w="12700">
            <a:solidFill>
              <a:srgbClr val="333333"/>
            </a:solidFill>
            <a:prstDash val="solid"/>
          </a:ln>
        </p:spPr>
      </p:sp>
      <p:sp>
        <p:nvSpPr>
          <p:cNvPr id="10" name="Text 8"/>
          <p:cNvSpPr/>
          <p:nvPr/>
        </p:nvSpPr>
        <p:spPr>
          <a:xfrm>
            <a:off x="795528" y="1764792"/>
            <a:ext cx="819302" cy="237744"/>
          </a:xfrm>
          <a:prstGeom prst="rect">
            <a:avLst/>
          </a:prstGeom>
          <a:noFill/>
          <a:ln/>
        </p:spPr>
        <p:txBody>
          <a:bodyPr wrap="square" lIns="0" tIns="0" rIns="0" bIns="0" rtlCol="0" anchor="ctr"/>
          <a:lstStyle/>
          <a:p>
            <a:pPr algn="ctr" indent="0" marL="0">
              <a:buNone/>
            </a:pPr>
            <a:r>
              <a:rPr lang="en-US" sz="900" dirty="0">
                <a:solidFill>
                  <a:srgbClr val="1F4E79"/>
                </a:solidFill>
                <a:latin typeface="Consolas" pitchFamily="34" charset="0"/>
                <a:ea typeface="Consolas" pitchFamily="34" charset="-122"/>
                <a:cs typeface="Consolas" pitchFamily="34" charset="-120"/>
              </a:rPr>
              <a:t>Pilar 1</a:t>
            </a:r>
            <a:endParaRPr lang="en-US" sz="900" dirty="0"/>
          </a:p>
        </p:txBody>
      </p:sp>
      <p:sp>
        <p:nvSpPr>
          <p:cNvPr id="11" name="Text 9"/>
          <p:cNvSpPr/>
          <p:nvPr/>
        </p:nvSpPr>
        <p:spPr>
          <a:xfrm>
            <a:off x="795528" y="2112264"/>
            <a:ext cx="3099816"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Programación GPU con CUDA</a:t>
            </a:r>
            <a:endParaRPr lang="en-US" sz="1250" dirty="0"/>
          </a:p>
        </p:txBody>
      </p:sp>
      <p:sp>
        <p:nvSpPr>
          <p:cNvPr id="12" name="Text 10"/>
          <p:cNvSpPr/>
          <p:nvPr/>
        </p:nvSpPr>
        <p:spPr>
          <a:xfrm>
            <a:off x="795528" y="2423160"/>
            <a:ext cx="3099816" cy="164592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Siete hitos progresivos, de “hola mundo” en CUDA a fuerza bruta de MD5 con rango acotado. Cierra con un benchmark de GPU contra CPU.</a:t>
            </a:r>
            <a:endParaRPr lang="en-US" sz="1050" dirty="0"/>
          </a:p>
        </p:txBody>
      </p:sp>
      <p:sp>
        <p:nvSpPr>
          <p:cNvPr id="13" name="Shape 11"/>
          <p:cNvSpPr/>
          <p:nvPr/>
        </p:nvSpPr>
        <p:spPr>
          <a:xfrm>
            <a:off x="4325112" y="1600200"/>
            <a:ext cx="3502152" cy="2606040"/>
          </a:xfrm>
          <a:prstGeom prst="roundRect">
            <a:avLst>
              <a:gd name="adj" fmla="val 2105"/>
            </a:avLst>
          </a:prstGeom>
          <a:solidFill>
            <a:srgbClr val="F0F3F6"/>
          </a:solidFill>
          <a:ln w="12700">
            <a:solidFill>
              <a:srgbClr val="333333"/>
            </a:solidFill>
            <a:prstDash val="solid"/>
          </a:ln>
        </p:spPr>
      </p:sp>
      <p:sp>
        <p:nvSpPr>
          <p:cNvPr id="14" name="Shape 12"/>
          <p:cNvSpPr/>
          <p:nvPr/>
        </p:nvSpPr>
        <p:spPr>
          <a:xfrm>
            <a:off x="4526280" y="1764792"/>
            <a:ext cx="819302" cy="237744"/>
          </a:xfrm>
          <a:prstGeom prst="roundRect">
            <a:avLst>
              <a:gd name="adj" fmla="val 19231"/>
            </a:avLst>
          </a:prstGeom>
          <a:solidFill>
            <a:srgbClr val="DEE9F3"/>
          </a:solidFill>
          <a:ln w="12700">
            <a:solidFill>
              <a:srgbClr val="333333"/>
            </a:solidFill>
            <a:prstDash val="solid"/>
          </a:ln>
        </p:spPr>
      </p:sp>
      <p:sp>
        <p:nvSpPr>
          <p:cNvPr id="15" name="Text 13"/>
          <p:cNvSpPr/>
          <p:nvPr/>
        </p:nvSpPr>
        <p:spPr>
          <a:xfrm>
            <a:off x="4526280" y="1764792"/>
            <a:ext cx="819302" cy="237744"/>
          </a:xfrm>
          <a:prstGeom prst="rect">
            <a:avLst/>
          </a:prstGeom>
          <a:noFill/>
          <a:ln/>
        </p:spPr>
        <p:txBody>
          <a:bodyPr wrap="square" lIns="0" tIns="0" rIns="0" bIns="0" rtlCol="0" anchor="ctr"/>
          <a:lstStyle/>
          <a:p>
            <a:pPr algn="ctr" indent="0" marL="0">
              <a:buNone/>
            </a:pPr>
            <a:r>
              <a:rPr lang="en-US" sz="900" dirty="0">
                <a:solidFill>
                  <a:srgbClr val="1F4E79"/>
                </a:solidFill>
                <a:latin typeface="Consolas" pitchFamily="34" charset="0"/>
                <a:ea typeface="Consolas" pitchFamily="34" charset="-122"/>
                <a:cs typeface="Consolas" pitchFamily="34" charset="-120"/>
              </a:rPr>
              <a:t>Pilar 2</a:t>
            </a:r>
            <a:endParaRPr lang="en-US" sz="900" dirty="0"/>
          </a:p>
        </p:txBody>
      </p:sp>
      <p:sp>
        <p:nvSpPr>
          <p:cNvPr id="16" name="Text 14"/>
          <p:cNvSpPr/>
          <p:nvPr/>
        </p:nvSpPr>
        <p:spPr>
          <a:xfrm>
            <a:off x="4526280" y="2112264"/>
            <a:ext cx="3099816"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Blockchain distribuida</a:t>
            </a:r>
            <a:endParaRPr lang="en-US" sz="1250" dirty="0"/>
          </a:p>
        </p:txBody>
      </p:sp>
      <p:sp>
        <p:nvSpPr>
          <p:cNvPr id="17" name="Text 15"/>
          <p:cNvSpPr/>
          <p:nvPr/>
        </p:nvSpPr>
        <p:spPr>
          <a:xfrm>
            <a:off x="4526280" y="2423160"/>
            <a:ext cx="3099816" cy="164592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Cinco iteraciones, de un nodo monolítico a un sistema con coordinador, repartidor de tareas, colas, persistencia y respaldo automático.</a:t>
            </a:r>
            <a:endParaRPr lang="en-US" sz="1050" dirty="0"/>
          </a:p>
        </p:txBody>
      </p:sp>
      <p:sp>
        <p:nvSpPr>
          <p:cNvPr id="18" name="Shape 16"/>
          <p:cNvSpPr/>
          <p:nvPr/>
        </p:nvSpPr>
        <p:spPr>
          <a:xfrm>
            <a:off x="8055864" y="1600200"/>
            <a:ext cx="3502152" cy="2606040"/>
          </a:xfrm>
          <a:prstGeom prst="roundRect">
            <a:avLst>
              <a:gd name="adj" fmla="val 2105"/>
            </a:avLst>
          </a:prstGeom>
          <a:solidFill>
            <a:srgbClr val="F0F3F6"/>
          </a:solidFill>
          <a:ln w="12700">
            <a:solidFill>
              <a:srgbClr val="333333"/>
            </a:solidFill>
            <a:prstDash val="solid"/>
          </a:ln>
        </p:spPr>
      </p:sp>
      <p:sp>
        <p:nvSpPr>
          <p:cNvPr id="19" name="Shape 17"/>
          <p:cNvSpPr/>
          <p:nvPr/>
        </p:nvSpPr>
        <p:spPr>
          <a:xfrm>
            <a:off x="8257032" y="1764792"/>
            <a:ext cx="819302" cy="237744"/>
          </a:xfrm>
          <a:prstGeom prst="roundRect">
            <a:avLst>
              <a:gd name="adj" fmla="val 19231"/>
            </a:avLst>
          </a:prstGeom>
          <a:solidFill>
            <a:srgbClr val="DEE9F3"/>
          </a:solidFill>
          <a:ln w="12700">
            <a:solidFill>
              <a:srgbClr val="333333"/>
            </a:solidFill>
            <a:prstDash val="solid"/>
          </a:ln>
        </p:spPr>
      </p:sp>
      <p:sp>
        <p:nvSpPr>
          <p:cNvPr id="20" name="Text 18"/>
          <p:cNvSpPr/>
          <p:nvPr/>
        </p:nvSpPr>
        <p:spPr>
          <a:xfrm>
            <a:off x="8257032" y="1764792"/>
            <a:ext cx="819302" cy="237744"/>
          </a:xfrm>
          <a:prstGeom prst="rect">
            <a:avLst/>
          </a:prstGeom>
          <a:noFill/>
          <a:ln/>
        </p:spPr>
        <p:txBody>
          <a:bodyPr wrap="square" lIns="0" tIns="0" rIns="0" bIns="0" rtlCol="0" anchor="ctr"/>
          <a:lstStyle/>
          <a:p>
            <a:pPr algn="ctr" indent="0" marL="0">
              <a:buNone/>
            </a:pPr>
            <a:r>
              <a:rPr lang="en-US" sz="900" dirty="0">
                <a:solidFill>
                  <a:srgbClr val="1F4E79"/>
                </a:solidFill>
                <a:latin typeface="Consolas" pitchFamily="34" charset="0"/>
                <a:ea typeface="Consolas" pitchFamily="34" charset="-122"/>
                <a:cs typeface="Consolas" pitchFamily="34" charset="-120"/>
              </a:rPr>
              <a:t>Pilar 3</a:t>
            </a:r>
            <a:endParaRPr lang="en-US" sz="900" dirty="0"/>
          </a:p>
        </p:txBody>
      </p:sp>
      <p:sp>
        <p:nvSpPr>
          <p:cNvPr id="21" name="Text 19"/>
          <p:cNvSpPr/>
          <p:nvPr/>
        </p:nvSpPr>
        <p:spPr>
          <a:xfrm>
            <a:off x="8257032" y="2112264"/>
            <a:ext cx="3099816"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Infraestructura y despliegue</a:t>
            </a:r>
            <a:endParaRPr lang="en-US" sz="1250" dirty="0"/>
          </a:p>
        </p:txBody>
      </p:sp>
      <p:sp>
        <p:nvSpPr>
          <p:cNvPr id="22" name="Text 20"/>
          <p:cNvSpPr/>
          <p:nvPr/>
        </p:nvSpPr>
        <p:spPr>
          <a:xfrm>
            <a:off x="8257032" y="2423160"/>
            <a:ext cx="3099816" cy="164592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Infraestructura como código sobre Google Cloud, dos clusters de Kubernetes, cinco tuberías de integración continua y observabilidad completa.</a:t>
            </a:r>
            <a:endParaRPr lang="en-US" sz="1050" dirty="0"/>
          </a:p>
        </p:txBody>
      </p:sp>
      <p:sp>
        <p:nvSpPr>
          <p:cNvPr id="23" name="Text 21"/>
          <p:cNvSpPr/>
          <p:nvPr/>
        </p:nvSpPr>
        <p:spPr>
          <a:xfrm>
            <a:off x="795528" y="3767328"/>
            <a:ext cx="3099816" cy="274320"/>
          </a:xfrm>
          <a:prstGeom prst="rect">
            <a:avLst/>
          </a:prstGeom>
          <a:noFill/>
          <a:ln/>
        </p:spPr>
        <p:txBody>
          <a:bodyPr wrap="square" lIns="0" tIns="0" rIns="0" bIns="0" rtlCol="0" anchor="ctr"/>
          <a:lstStyle/>
          <a:p>
            <a:pPr indent="0" marL="0">
              <a:buNone/>
            </a:pPr>
            <a:r>
              <a:rPr lang="en-US" sz="1000" b="1" dirty="0">
                <a:solidFill>
                  <a:srgbClr val="0B6E4F"/>
                </a:solidFill>
                <a:latin typeface="Calibri" pitchFamily="34" charset="0"/>
                <a:ea typeface="Calibri" pitchFamily="34" charset="-122"/>
                <a:cs typeface="Calibri" pitchFamily="34" charset="-120"/>
              </a:rPr>
              <a:t>Produce el binario que mina.</a:t>
            </a:r>
            <a:endParaRPr lang="en-US" sz="1000" dirty="0"/>
          </a:p>
        </p:txBody>
      </p:sp>
      <p:sp>
        <p:nvSpPr>
          <p:cNvPr id="24" name="Text 22"/>
          <p:cNvSpPr/>
          <p:nvPr/>
        </p:nvSpPr>
        <p:spPr>
          <a:xfrm>
            <a:off x="4526280" y="3767328"/>
            <a:ext cx="3099816" cy="274320"/>
          </a:xfrm>
          <a:prstGeom prst="rect">
            <a:avLst/>
          </a:prstGeom>
          <a:noFill/>
          <a:ln/>
        </p:spPr>
        <p:txBody>
          <a:bodyPr wrap="square" lIns="0" tIns="0" rIns="0" bIns="0" rtlCol="0" anchor="ctr"/>
          <a:lstStyle/>
          <a:p>
            <a:pPr indent="0" marL="0">
              <a:buNone/>
            </a:pPr>
            <a:r>
              <a:rPr lang="en-US" sz="1000" b="1" dirty="0">
                <a:solidFill>
                  <a:srgbClr val="0B6E4F"/>
                </a:solidFill>
                <a:latin typeface="Calibri" pitchFamily="34" charset="0"/>
                <a:ea typeface="Calibri" pitchFamily="34" charset="-122"/>
                <a:cs typeface="Calibri" pitchFamily="34" charset="-120"/>
              </a:rPr>
              <a:t>Produce la cadena y el consenso.</a:t>
            </a:r>
            <a:endParaRPr lang="en-US" sz="1000" dirty="0"/>
          </a:p>
        </p:txBody>
      </p:sp>
      <p:sp>
        <p:nvSpPr>
          <p:cNvPr id="25" name="Text 23"/>
          <p:cNvSpPr/>
          <p:nvPr/>
        </p:nvSpPr>
        <p:spPr>
          <a:xfrm>
            <a:off x="8257032" y="3767328"/>
            <a:ext cx="3099816" cy="274320"/>
          </a:xfrm>
          <a:prstGeom prst="rect">
            <a:avLst/>
          </a:prstGeom>
          <a:noFill/>
          <a:ln/>
        </p:spPr>
        <p:txBody>
          <a:bodyPr wrap="square" lIns="0" tIns="0" rIns="0" bIns="0" rtlCol="0" anchor="ctr"/>
          <a:lstStyle/>
          <a:p>
            <a:pPr indent="0" marL="0">
              <a:buNone/>
            </a:pPr>
            <a:r>
              <a:rPr lang="en-US" sz="1000" b="1" dirty="0">
                <a:solidFill>
                  <a:srgbClr val="0B6E4F"/>
                </a:solidFill>
                <a:latin typeface="Calibri" pitchFamily="34" charset="0"/>
                <a:ea typeface="Calibri" pitchFamily="34" charset="-122"/>
                <a:cs typeface="Calibri" pitchFamily="34" charset="-120"/>
              </a:rPr>
              <a:t>Produce el entorno donde todo corre.</a:t>
            </a:r>
            <a:endParaRPr lang="en-US" sz="1000" dirty="0"/>
          </a:p>
        </p:txBody>
      </p:sp>
      <p:sp>
        <p:nvSpPr>
          <p:cNvPr id="26" name="Shape 24"/>
          <p:cNvSpPr/>
          <p:nvPr/>
        </p:nvSpPr>
        <p:spPr>
          <a:xfrm>
            <a:off x="594360" y="4434840"/>
            <a:ext cx="10972800" cy="1051560"/>
          </a:xfrm>
          <a:prstGeom prst="roundRect">
            <a:avLst>
              <a:gd name="adj" fmla="val 5217"/>
            </a:avLst>
          </a:prstGeom>
          <a:solidFill>
            <a:srgbClr val="F0F3F6"/>
          </a:solidFill>
          <a:ln w="12700">
            <a:solidFill>
              <a:srgbClr val="333333"/>
            </a:solidFill>
            <a:prstDash val="solid"/>
          </a:ln>
        </p:spPr>
      </p:sp>
      <p:sp>
        <p:nvSpPr>
          <p:cNvPr id="27" name="Text 25"/>
          <p:cNvSpPr/>
          <p:nvPr/>
        </p:nvSpPr>
        <p:spPr>
          <a:xfrm>
            <a:off x="822960" y="4562856"/>
            <a:ext cx="10515600" cy="795528"/>
          </a:xfrm>
          <a:prstGeom prst="rect">
            <a:avLst/>
          </a:prstGeom>
          <a:noFill/>
          <a:ln/>
        </p:spPr>
        <p:txBody>
          <a:bodyPr wrap="square" lIns="0" tIns="0" rIns="0" bIns="0" rtlCol="0" anchor="t"/>
          <a:lstStyle/>
          <a:p>
            <a:pPr indent="0" marL="0">
              <a:lnSpc>
                <a:spcPct val="118000"/>
              </a:lnSpc>
              <a:buNone/>
            </a:pPr>
            <a:r>
              <a:rPr lang="en-US" sz="1050" b="1" dirty="0">
                <a:solidFill>
                  <a:srgbClr val="10202F"/>
                </a:solidFill>
                <a:latin typeface="Calibri" pitchFamily="34" charset="0"/>
                <a:ea typeface="Calibri" pitchFamily="34" charset="-122"/>
                <a:cs typeface="Calibri" pitchFamily="34" charset="-120"/>
              </a:rPr>
              <a:t>La aplicación web es la capa que los integra: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gestiona eventos y entradas, firma las transacciones con la clave del usuario, y habla con la blockchain para emitir, transferir y validar. El binario CUDA del Pilar 1 es literalmente el que mina los bloques que registran las entradas.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1 · GPU</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4 / 30</a:t>
            </a:r>
            <a:endParaRPr lang="en-US" sz="900" dirty="0"/>
          </a:p>
        </p:txBody>
      </p:sp>
      <p:sp>
        <p:nvSpPr>
          <p:cNvPr id="5" name="Shape 3"/>
          <p:cNvSpPr/>
          <p:nvPr/>
        </p:nvSpPr>
        <p:spPr>
          <a:xfrm>
            <a:off x="0" y="6803136"/>
            <a:ext cx="1621536"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1</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De “hola mundo” en CUDA a un minero funcional</a:t>
            </a:r>
            <a:endParaRPr lang="en-US" sz="2700" dirty="0"/>
          </a:p>
        </p:txBody>
      </p:sp>
      <p:sp>
        <p:nvSpPr>
          <p:cNvPr id="8" name="Shape 6"/>
          <p:cNvSpPr/>
          <p:nvPr/>
        </p:nvSpPr>
        <p:spPr>
          <a:xfrm>
            <a:off x="594360" y="1600200"/>
            <a:ext cx="2606040" cy="1920240"/>
          </a:xfrm>
          <a:prstGeom prst="roundRect">
            <a:avLst>
              <a:gd name="adj" fmla="val 2857"/>
            </a:avLst>
          </a:prstGeom>
          <a:solidFill>
            <a:srgbClr val="F0F3F6"/>
          </a:solidFill>
          <a:ln w="12700">
            <a:solidFill>
              <a:srgbClr val="333333"/>
            </a:solidFill>
            <a:prstDash val="solid"/>
          </a:ln>
        </p:spPr>
      </p:sp>
      <p:sp>
        <p:nvSpPr>
          <p:cNvPr id="9" name="Text 7"/>
          <p:cNvSpPr/>
          <p:nvPr/>
        </p:nvSpPr>
        <p:spPr>
          <a:xfrm>
            <a:off x="795528" y="1764792"/>
            <a:ext cx="22037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Hitos 1 a 3</a:t>
            </a:r>
            <a:endParaRPr lang="en-US" sz="1250" dirty="0"/>
          </a:p>
        </p:txBody>
      </p:sp>
      <p:sp>
        <p:nvSpPr>
          <p:cNvPr id="10" name="Text 8"/>
          <p:cNvSpPr/>
          <p:nvPr/>
        </p:nvSpPr>
        <p:spPr>
          <a:xfrm>
            <a:off x="795528" y="2075688"/>
            <a:ext cx="2203704" cy="1307592"/>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Entorno CUDA, bloques y threads, sincronización, y las bibliotecas del ecosistema.</a:t>
            </a:r>
            <a:endParaRPr lang="en-US" sz="1000" dirty="0"/>
          </a:p>
        </p:txBody>
      </p:sp>
      <p:sp>
        <p:nvSpPr>
          <p:cNvPr id="11" name="Shape 9"/>
          <p:cNvSpPr/>
          <p:nvPr/>
        </p:nvSpPr>
        <p:spPr>
          <a:xfrm>
            <a:off x="3401568" y="1600200"/>
            <a:ext cx="2606040" cy="1920240"/>
          </a:xfrm>
          <a:prstGeom prst="roundRect">
            <a:avLst>
              <a:gd name="adj" fmla="val 2857"/>
            </a:avLst>
          </a:prstGeom>
          <a:solidFill>
            <a:srgbClr val="F0F3F6"/>
          </a:solidFill>
          <a:ln w="12700">
            <a:solidFill>
              <a:srgbClr val="333333"/>
            </a:solidFill>
            <a:prstDash val="solid"/>
          </a:ln>
        </p:spPr>
      </p:sp>
      <p:sp>
        <p:nvSpPr>
          <p:cNvPr id="12" name="Text 10"/>
          <p:cNvSpPr/>
          <p:nvPr/>
        </p:nvSpPr>
        <p:spPr>
          <a:xfrm>
            <a:off x="3602736" y="1764792"/>
            <a:ext cx="22037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Hito 4</a:t>
            </a:r>
            <a:endParaRPr lang="en-US" sz="1250" dirty="0"/>
          </a:p>
        </p:txBody>
      </p:sp>
      <p:sp>
        <p:nvSpPr>
          <p:cNvPr id="13" name="Text 11"/>
          <p:cNvSpPr/>
          <p:nvPr/>
        </p:nvSpPr>
        <p:spPr>
          <a:xfrm>
            <a:off x="3602736" y="2075688"/>
            <a:ext cx="2203704" cy="1307592"/>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Implementación de MD5 en CUDA, comparada contra la misma función en Python.</a:t>
            </a:r>
            <a:endParaRPr lang="en-US" sz="1000" dirty="0"/>
          </a:p>
        </p:txBody>
      </p:sp>
      <p:sp>
        <p:nvSpPr>
          <p:cNvPr id="14" name="Shape 12"/>
          <p:cNvSpPr/>
          <p:nvPr/>
        </p:nvSpPr>
        <p:spPr>
          <a:xfrm>
            <a:off x="6208776" y="1600200"/>
            <a:ext cx="2606040" cy="1920240"/>
          </a:xfrm>
          <a:prstGeom prst="roundRect">
            <a:avLst>
              <a:gd name="adj" fmla="val 2857"/>
            </a:avLst>
          </a:prstGeom>
          <a:solidFill>
            <a:srgbClr val="F0F3F6"/>
          </a:solidFill>
          <a:ln w="12700">
            <a:solidFill>
              <a:srgbClr val="333333"/>
            </a:solidFill>
            <a:prstDash val="solid"/>
          </a:ln>
        </p:spPr>
      </p:sp>
      <p:sp>
        <p:nvSpPr>
          <p:cNvPr id="15" name="Text 13"/>
          <p:cNvSpPr/>
          <p:nvPr/>
        </p:nvSpPr>
        <p:spPr>
          <a:xfrm>
            <a:off x="6409944" y="1764792"/>
            <a:ext cx="22037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Hitos 5 y 6</a:t>
            </a:r>
            <a:endParaRPr lang="en-US" sz="1250" dirty="0"/>
          </a:p>
        </p:txBody>
      </p:sp>
      <p:sp>
        <p:nvSpPr>
          <p:cNvPr id="16" name="Text 14"/>
          <p:cNvSpPr/>
          <p:nvPr/>
        </p:nvSpPr>
        <p:spPr>
          <a:xfrm>
            <a:off x="6409944" y="2075688"/>
            <a:ext cx="2203704" cy="1307592"/>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Fuerza bruta de nonce sin límite y el benchmark de tiempo contra longitud de prefijo.</a:t>
            </a:r>
            <a:endParaRPr lang="en-US" sz="1000" dirty="0"/>
          </a:p>
        </p:txBody>
      </p:sp>
      <p:sp>
        <p:nvSpPr>
          <p:cNvPr id="17" name="Shape 15"/>
          <p:cNvSpPr/>
          <p:nvPr/>
        </p:nvSpPr>
        <p:spPr>
          <a:xfrm>
            <a:off x="9015984" y="1600200"/>
            <a:ext cx="2606040" cy="1920240"/>
          </a:xfrm>
          <a:prstGeom prst="roundRect">
            <a:avLst>
              <a:gd name="adj" fmla="val 2857"/>
            </a:avLst>
          </a:prstGeom>
          <a:solidFill>
            <a:srgbClr val="DCEFE6"/>
          </a:solidFill>
          <a:ln w="12700">
            <a:solidFill>
              <a:srgbClr val="333333"/>
            </a:solidFill>
            <a:prstDash val="solid"/>
          </a:ln>
        </p:spPr>
      </p:sp>
      <p:sp>
        <p:nvSpPr>
          <p:cNvPr id="18" name="Text 16"/>
          <p:cNvSpPr/>
          <p:nvPr/>
        </p:nvSpPr>
        <p:spPr>
          <a:xfrm>
            <a:off x="9217152" y="1764792"/>
            <a:ext cx="22037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Hito 7</a:t>
            </a:r>
            <a:endParaRPr lang="en-US" sz="1250" dirty="0"/>
          </a:p>
        </p:txBody>
      </p:sp>
      <p:sp>
        <p:nvSpPr>
          <p:cNvPr id="19" name="Text 17"/>
          <p:cNvSpPr/>
          <p:nvPr/>
        </p:nvSpPr>
        <p:spPr>
          <a:xfrm>
            <a:off x="9217152" y="2075688"/>
            <a:ext cx="2203704" cy="1307592"/>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Fuerza bruta sobre un rango acotado. Es la pieza que el sistema distribuido necesita.</a:t>
            </a:r>
            <a:endParaRPr lang="en-US" sz="1000" dirty="0"/>
          </a:p>
        </p:txBody>
      </p:sp>
      <p:sp>
        <p:nvSpPr>
          <p:cNvPr id="20" name="Shape 18"/>
          <p:cNvSpPr/>
          <p:nvPr/>
        </p:nvSpPr>
        <p:spPr>
          <a:xfrm>
            <a:off x="594360" y="3840480"/>
            <a:ext cx="10972800" cy="1371600"/>
          </a:xfrm>
          <a:prstGeom prst="roundRect">
            <a:avLst>
              <a:gd name="adj" fmla="val 4000"/>
            </a:avLst>
          </a:prstGeom>
          <a:solidFill>
            <a:srgbClr val="DCEFE6"/>
          </a:solidFill>
          <a:ln w="12700">
            <a:solidFill>
              <a:srgbClr val="333333"/>
            </a:solidFill>
            <a:prstDash val="solid"/>
          </a:ln>
        </p:spPr>
      </p:sp>
      <p:sp>
        <p:nvSpPr>
          <p:cNvPr id="21" name="Text 19"/>
          <p:cNvSpPr/>
          <p:nvPr/>
        </p:nvSpPr>
        <p:spPr>
          <a:xfrm>
            <a:off x="822960" y="3968496"/>
            <a:ext cx="10515600" cy="111556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Por qué el hito 7 importa tanto: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sin la capacidad de buscar en un rango [inicio, fin] en lugar de “desde cero hasta encontrarlo”, no habría forma de dividir el espacio de nonces entre varios mineros. Todo el reparto de trabajo del Pilar 2 se apoya en esa firma.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1 · GPU</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5 / 30</a:t>
            </a:r>
            <a:endParaRPr lang="en-US" sz="900" dirty="0"/>
          </a:p>
        </p:txBody>
      </p:sp>
      <p:sp>
        <p:nvSpPr>
          <p:cNvPr id="5" name="Shape 3"/>
          <p:cNvSpPr/>
          <p:nvPr/>
        </p:nvSpPr>
        <p:spPr>
          <a:xfrm>
            <a:off x="0" y="6803136"/>
            <a:ext cx="2026920"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1 · RESULTADOS</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GPU contra CPU: dónde conviene cada una</a:t>
            </a:r>
            <a:endParaRPr lang="en-US" sz="2700" dirty="0"/>
          </a:p>
        </p:txBody>
      </p:sp>
      <p:sp>
        <p:nvSpPr>
          <p:cNvPr id="8" name="Text 6"/>
          <p:cNvSpPr/>
          <p:nvPr/>
        </p:nvSpPr>
        <p:spPr>
          <a:xfrm>
            <a:off x="594360" y="1554480"/>
            <a:ext cx="1188720" cy="384048"/>
          </a:xfrm>
          <a:prstGeom prst="rect">
            <a:avLst/>
          </a:prstGeom>
          <a:noFill/>
          <a:ln/>
        </p:spPr>
        <p:txBody>
          <a:bodyPr wrap="square" lIns="0" tIns="0" rIns="0" bIns="0" rtlCol="0" anchor="ctr"/>
          <a:lstStyle/>
          <a:p>
            <a:pPr algn="l" indent="0" marL="0">
              <a:buNone/>
            </a:pPr>
            <a:r>
              <a:rPr lang="en-US" sz="850" b="1" spc="80" kern="0" dirty="0">
                <a:solidFill>
                  <a:srgbClr val="5B6B7B"/>
                </a:solidFill>
                <a:latin typeface="Calibri" pitchFamily="34" charset="0"/>
                <a:ea typeface="Calibri" pitchFamily="34" charset="-122"/>
                <a:cs typeface="Calibri" pitchFamily="34" charset="-120"/>
              </a:rPr>
              <a:t>PREFIJO</a:t>
            </a:r>
            <a:endParaRPr lang="en-US" sz="850" dirty="0"/>
          </a:p>
        </p:txBody>
      </p:sp>
      <p:sp>
        <p:nvSpPr>
          <p:cNvPr id="9" name="Text 7"/>
          <p:cNvSpPr/>
          <p:nvPr/>
        </p:nvSpPr>
        <p:spPr>
          <a:xfrm>
            <a:off x="1783080" y="1554480"/>
            <a:ext cx="1554480" cy="384048"/>
          </a:xfrm>
          <a:prstGeom prst="rect">
            <a:avLst/>
          </a:prstGeom>
          <a:noFill/>
          <a:ln/>
        </p:spPr>
        <p:txBody>
          <a:bodyPr wrap="square" lIns="0" tIns="0" rIns="0" bIns="0" rtlCol="0" anchor="ctr"/>
          <a:lstStyle/>
          <a:p>
            <a:pPr algn="r" indent="0" marL="0">
              <a:buNone/>
            </a:pPr>
            <a:r>
              <a:rPr lang="en-US" sz="850" b="1" spc="80" kern="0" dirty="0">
                <a:solidFill>
                  <a:srgbClr val="5B6B7B"/>
                </a:solidFill>
                <a:latin typeface="Calibri" pitchFamily="34" charset="0"/>
                <a:ea typeface="Calibri" pitchFamily="34" charset="-122"/>
                <a:cs typeface="Calibri" pitchFamily="34" charset="-120"/>
              </a:rPr>
              <a:t>NONCE</a:t>
            </a:r>
            <a:endParaRPr lang="en-US" sz="850" dirty="0"/>
          </a:p>
        </p:txBody>
      </p:sp>
      <p:sp>
        <p:nvSpPr>
          <p:cNvPr id="10" name="Text 8"/>
          <p:cNvSpPr/>
          <p:nvPr/>
        </p:nvSpPr>
        <p:spPr>
          <a:xfrm>
            <a:off x="3337560" y="1554480"/>
            <a:ext cx="1371600" cy="384048"/>
          </a:xfrm>
          <a:prstGeom prst="rect">
            <a:avLst/>
          </a:prstGeom>
          <a:noFill/>
          <a:ln/>
        </p:spPr>
        <p:txBody>
          <a:bodyPr wrap="square" lIns="0" tIns="0" rIns="0" bIns="0" rtlCol="0" anchor="ctr"/>
          <a:lstStyle/>
          <a:p>
            <a:pPr algn="r" indent="0" marL="0">
              <a:buNone/>
            </a:pPr>
            <a:r>
              <a:rPr lang="en-US" sz="850" b="1" spc="80" kern="0" dirty="0">
                <a:solidFill>
                  <a:srgbClr val="5B6B7B"/>
                </a:solidFill>
                <a:latin typeface="Calibri" pitchFamily="34" charset="0"/>
                <a:ea typeface="Calibri" pitchFamily="34" charset="-122"/>
                <a:cs typeface="Calibri" pitchFamily="34" charset="-120"/>
              </a:rPr>
              <a:t>GPU</a:t>
            </a:r>
            <a:endParaRPr lang="en-US" sz="850" dirty="0"/>
          </a:p>
        </p:txBody>
      </p:sp>
      <p:sp>
        <p:nvSpPr>
          <p:cNvPr id="11" name="Text 9"/>
          <p:cNvSpPr/>
          <p:nvPr/>
        </p:nvSpPr>
        <p:spPr>
          <a:xfrm>
            <a:off x="4709160" y="1554480"/>
            <a:ext cx="1371600" cy="384048"/>
          </a:xfrm>
          <a:prstGeom prst="rect">
            <a:avLst/>
          </a:prstGeom>
          <a:noFill/>
          <a:ln/>
        </p:spPr>
        <p:txBody>
          <a:bodyPr wrap="square" lIns="0" tIns="0" rIns="0" bIns="0" rtlCol="0" anchor="ctr"/>
          <a:lstStyle/>
          <a:p>
            <a:pPr algn="r" indent="0" marL="0">
              <a:buNone/>
            </a:pPr>
            <a:r>
              <a:rPr lang="en-US" sz="850" b="1" spc="80" kern="0" dirty="0">
                <a:solidFill>
                  <a:srgbClr val="5B6B7B"/>
                </a:solidFill>
                <a:latin typeface="Calibri" pitchFamily="34" charset="0"/>
                <a:ea typeface="Calibri" pitchFamily="34" charset="-122"/>
                <a:cs typeface="Calibri" pitchFamily="34" charset="-120"/>
              </a:rPr>
              <a:t>CPU</a:t>
            </a:r>
            <a:endParaRPr lang="en-US" sz="850" dirty="0"/>
          </a:p>
        </p:txBody>
      </p:sp>
      <p:sp>
        <p:nvSpPr>
          <p:cNvPr id="12" name="Text 10"/>
          <p:cNvSpPr/>
          <p:nvPr/>
        </p:nvSpPr>
        <p:spPr>
          <a:xfrm>
            <a:off x="6080760" y="1554480"/>
            <a:ext cx="1371600" cy="384048"/>
          </a:xfrm>
          <a:prstGeom prst="rect">
            <a:avLst/>
          </a:prstGeom>
          <a:noFill/>
          <a:ln/>
        </p:spPr>
        <p:txBody>
          <a:bodyPr wrap="square" lIns="0" tIns="0" rIns="0" bIns="0" rtlCol="0" anchor="ctr"/>
          <a:lstStyle/>
          <a:p>
            <a:pPr algn="r" indent="0" marL="0">
              <a:buNone/>
            </a:pPr>
            <a:r>
              <a:rPr lang="en-US" sz="850" b="1" spc="80" kern="0" dirty="0">
                <a:solidFill>
                  <a:srgbClr val="5B6B7B"/>
                </a:solidFill>
                <a:latin typeface="Calibri" pitchFamily="34" charset="0"/>
                <a:ea typeface="Calibri" pitchFamily="34" charset="-122"/>
                <a:cs typeface="Calibri" pitchFamily="34" charset="-120"/>
              </a:rPr>
              <a:t>ACELERACIÓN</a:t>
            </a:r>
            <a:endParaRPr lang="en-US" sz="850" dirty="0"/>
          </a:p>
        </p:txBody>
      </p:sp>
      <p:sp>
        <p:nvSpPr>
          <p:cNvPr id="13" name="Shape 11"/>
          <p:cNvSpPr/>
          <p:nvPr/>
        </p:nvSpPr>
        <p:spPr>
          <a:xfrm>
            <a:off x="594360" y="1920240"/>
            <a:ext cx="6858000" cy="16459"/>
          </a:xfrm>
          <a:prstGeom prst="rect">
            <a:avLst/>
          </a:prstGeom>
          <a:solidFill>
            <a:srgbClr val="DDE3E9"/>
          </a:solidFill>
          <a:ln w="12700">
            <a:solidFill>
              <a:srgbClr val="333333"/>
            </a:solidFill>
            <a:prstDash val="solid"/>
          </a:ln>
        </p:spPr>
      </p:sp>
      <p:sp>
        <p:nvSpPr>
          <p:cNvPr id="14" name="Text 12"/>
          <p:cNvSpPr/>
          <p:nvPr/>
        </p:nvSpPr>
        <p:spPr>
          <a:xfrm>
            <a:off x="594360" y="1938528"/>
            <a:ext cx="1188720" cy="384048"/>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0</a:t>
            </a:r>
            <a:endParaRPr lang="en-US" sz="1000" dirty="0"/>
          </a:p>
        </p:txBody>
      </p:sp>
      <p:sp>
        <p:nvSpPr>
          <p:cNvPr id="15" name="Text 13"/>
          <p:cNvSpPr/>
          <p:nvPr/>
        </p:nvSpPr>
        <p:spPr>
          <a:xfrm>
            <a:off x="1783080" y="1938528"/>
            <a:ext cx="155448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0</a:t>
            </a:r>
            <a:endParaRPr lang="en-US" sz="1000" dirty="0"/>
          </a:p>
        </p:txBody>
      </p:sp>
      <p:sp>
        <p:nvSpPr>
          <p:cNvPr id="16" name="Text 14"/>
          <p:cNvSpPr/>
          <p:nvPr/>
        </p:nvSpPr>
        <p:spPr>
          <a:xfrm>
            <a:off x="3337560" y="1938528"/>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0,85 ms</a:t>
            </a:r>
            <a:endParaRPr lang="en-US" sz="1000" dirty="0"/>
          </a:p>
        </p:txBody>
      </p:sp>
      <p:sp>
        <p:nvSpPr>
          <p:cNvPr id="17" name="Text 15"/>
          <p:cNvSpPr/>
          <p:nvPr/>
        </p:nvSpPr>
        <p:spPr>
          <a:xfrm>
            <a:off x="4709160" y="1938528"/>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0,02 ms</a:t>
            </a:r>
            <a:endParaRPr lang="en-US" sz="1000" dirty="0"/>
          </a:p>
        </p:txBody>
      </p:sp>
      <p:sp>
        <p:nvSpPr>
          <p:cNvPr id="18" name="Text 16"/>
          <p:cNvSpPr/>
          <p:nvPr/>
        </p:nvSpPr>
        <p:spPr>
          <a:xfrm>
            <a:off x="6080760" y="1938528"/>
            <a:ext cx="1371600" cy="384048"/>
          </a:xfrm>
          <a:prstGeom prst="rect">
            <a:avLst/>
          </a:prstGeom>
          <a:noFill/>
          <a:ln/>
        </p:spPr>
        <p:txBody>
          <a:bodyPr wrap="square" lIns="0" tIns="0" rIns="0" bIns="0" rtlCol="0" anchor="ctr"/>
          <a:lstStyle/>
          <a:p>
            <a:pPr algn="r" indent="0" marL="0">
              <a:buNone/>
            </a:pPr>
            <a:r>
              <a:rPr lang="en-US" sz="1000" dirty="0">
                <a:solidFill>
                  <a:srgbClr val="A85B12"/>
                </a:solidFill>
                <a:latin typeface="Calibri" pitchFamily="34" charset="0"/>
                <a:ea typeface="Calibri" pitchFamily="34" charset="-122"/>
                <a:cs typeface="Calibri" pitchFamily="34" charset="-120"/>
              </a:rPr>
              <a:t>0,02×</a:t>
            </a:r>
            <a:endParaRPr lang="en-US" sz="1000" dirty="0"/>
          </a:p>
        </p:txBody>
      </p:sp>
      <p:sp>
        <p:nvSpPr>
          <p:cNvPr id="19" name="Shape 17"/>
          <p:cNvSpPr/>
          <p:nvPr/>
        </p:nvSpPr>
        <p:spPr>
          <a:xfrm>
            <a:off x="594360" y="2313432"/>
            <a:ext cx="6858000" cy="7315"/>
          </a:xfrm>
          <a:prstGeom prst="rect">
            <a:avLst/>
          </a:prstGeom>
          <a:solidFill>
            <a:srgbClr val="DDE3E9"/>
          </a:solidFill>
          <a:ln w="12700">
            <a:solidFill>
              <a:srgbClr val="333333"/>
            </a:solidFill>
            <a:prstDash val="solid"/>
          </a:ln>
        </p:spPr>
      </p:sp>
      <p:sp>
        <p:nvSpPr>
          <p:cNvPr id="20" name="Text 18"/>
          <p:cNvSpPr/>
          <p:nvPr/>
        </p:nvSpPr>
        <p:spPr>
          <a:xfrm>
            <a:off x="594360" y="2322576"/>
            <a:ext cx="1188720" cy="384048"/>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00</a:t>
            </a:r>
            <a:endParaRPr lang="en-US" sz="1000" dirty="0"/>
          </a:p>
        </p:txBody>
      </p:sp>
      <p:sp>
        <p:nvSpPr>
          <p:cNvPr id="21" name="Text 19"/>
          <p:cNvSpPr/>
          <p:nvPr/>
        </p:nvSpPr>
        <p:spPr>
          <a:xfrm>
            <a:off x="1783080" y="2322576"/>
            <a:ext cx="155448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42</a:t>
            </a:r>
            <a:endParaRPr lang="en-US" sz="1000" dirty="0"/>
          </a:p>
        </p:txBody>
      </p:sp>
      <p:sp>
        <p:nvSpPr>
          <p:cNvPr id="22" name="Text 20"/>
          <p:cNvSpPr/>
          <p:nvPr/>
        </p:nvSpPr>
        <p:spPr>
          <a:xfrm>
            <a:off x="3337560" y="2322576"/>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0,92 ms</a:t>
            </a:r>
            <a:endParaRPr lang="en-US" sz="1000" dirty="0"/>
          </a:p>
        </p:txBody>
      </p:sp>
      <p:sp>
        <p:nvSpPr>
          <p:cNvPr id="23" name="Text 21"/>
          <p:cNvSpPr/>
          <p:nvPr/>
        </p:nvSpPr>
        <p:spPr>
          <a:xfrm>
            <a:off x="4709160" y="2322576"/>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0,06 ms</a:t>
            </a:r>
            <a:endParaRPr lang="en-US" sz="1000" dirty="0"/>
          </a:p>
        </p:txBody>
      </p:sp>
      <p:sp>
        <p:nvSpPr>
          <p:cNvPr id="24" name="Text 22"/>
          <p:cNvSpPr/>
          <p:nvPr/>
        </p:nvSpPr>
        <p:spPr>
          <a:xfrm>
            <a:off x="6080760" y="2322576"/>
            <a:ext cx="1371600" cy="384048"/>
          </a:xfrm>
          <a:prstGeom prst="rect">
            <a:avLst/>
          </a:prstGeom>
          <a:noFill/>
          <a:ln/>
        </p:spPr>
        <p:txBody>
          <a:bodyPr wrap="square" lIns="0" tIns="0" rIns="0" bIns="0" rtlCol="0" anchor="ctr"/>
          <a:lstStyle/>
          <a:p>
            <a:pPr algn="r" indent="0" marL="0">
              <a:buNone/>
            </a:pPr>
            <a:r>
              <a:rPr lang="en-US" sz="1000" dirty="0">
                <a:solidFill>
                  <a:srgbClr val="A85B12"/>
                </a:solidFill>
                <a:latin typeface="Calibri" pitchFamily="34" charset="0"/>
                <a:ea typeface="Calibri" pitchFamily="34" charset="-122"/>
                <a:cs typeface="Calibri" pitchFamily="34" charset="-120"/>
              </a:rPr>
              <a:t>0,07×</a:t>
            </a:r>
            <a:endParaRPr lang="en-US" sz="1000" dirty="0"/>
          </a:p>
        </p:txBody>
      </p:sp>
      <p:sp>
        <p:nvSpPr>
          <p:cNvPr id="25" name="Shape 23"/>
          <p:cNvSpPr/>
          <p:nvPr/>
        </p:nvSpPr>
        <p:spPr>
          <a:xfrm>
            <a:off x="594360" y="2697480"/>
            <a:ext cx="6858000" cy="7315"/>
          </a:xfrm>
          <a:prstGeom prst="rect">
            <a:avLst/>
          </a:prstGeom>
          <a:solidFill>
            <a:srgbClr val="DDE3E9"/>
          </a:solidFill>
          <a:ln w="12700">
            <a:solidFill>
              <a:srgbClr val="333333"/>
            </a:solidFill>
            <a:prstDash val="solid"/>
          </a:ln>
        </p:spPr>
      </p:sp>
      <p:sp>
        <p:nvSpPr>
          <p:cNvPr id="26" name="Text 24"/>
          <p:cNvSpPr/>
          <p:nvPr/>
        </p:nvSpPr>
        <p:spPr>
          <a:xfrm>
            <a:off x="594360" y="2706624"/>
            <a:ext cx="1188720" cy="384048"/>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000</a:t>
            </a:r>
            <a:endParaRPr lang="en-US" sz="1000" dirty="0"/>
          </a:p>
        </p:txBody>
      </p:sp>
      <p:sp>
        <p:nvSpPr>
          <p:cNvPr id="27" name="Text 25"/>
          <p:cNvSpPr/>
          <p:nvPr/>
        </p:nvSpPr>
        <p:spPr>
          <a:xfrm>
            <a:off x="1783080" y="2706624"/>
            <a:ext cx="155448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5.519</a:t>
            </a:r>
            <a:endParaRPr lang="en-US" sz="1000" dirty="0"/>
          </a:p>
        </p:txBody>
      </p:sp>
      <p:sp>
        <p:nvSpPr>
          <p:cNvPr id="28" name="Text 26"/>
          <p:cNvSpPr/>
          <p:nvPr/>
        </p:nvSpPr>
        <p:spPr>
          <a:xfrm>
            <a:off x="3337560" y="2706624"/>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0,92 ms</a:t>
            </a:r>
            <a:endParaRPr lang="en-US" sz="1000" dirty="0"/>
          </a:p>
        </p:txBody>
      </p:sp>
      <p:sp>
        <p:nvSpPr>
          <p:cNvPr id="29" name="Text 27"/>
          <p:cNvSpPr/>
          <p:nvPr/>
        </p:nvSpPr>
        <p:spPr>
          <a:xfrm>
            <a:off x="4709160" y="2706624"/>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6,01 ms</a:t>
            </a:r>
            <a:endParaRPr lang="en-US" sz="1000" dirty="0"/>
          </a:p>
        </p:txBody>
      </p:sp>
      <p:sp>
        <p:nvSpPr>
          <p:cNvPr id="30" name="Text 28"/>
          <p:cNvSpPr/>
          <p:nvPr/>
        </p:nvSpPr>
        <p:spPr>
          <a:xfrm>
            <a:off x="6080760" y="2706624"/>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6,5×</a:t>
            </a:r>
            <a:endParaRPr lang="en-US" sz="1000" dirty="0"/>
          </a:p>
        </p:txBody>
      </p:sp>
      <p:sp>
        <p:nvSpPr>
          <p:cNvPr id="31" name="Shape 29"/>
          <p:cNvSpPr/>
          <p:nvPr/>
        </p:nvSpPr>
        <p:spPr>
          <a:xfrm>
            <a:off x="594360" y="3081528"/>
            <a:ext cx="6858000" cy="7315"/>
          </a:xfrm>
          <a:prstGeom prst="rect">
            <a:avLst/>
          </a:prstGeom>
          <a:solidFill>
            <a:srgbClr val="DDE3E9"/>
          </a:solidFill>
          <a:ln w="12700">
            <a:solidFill>
              <a:srgbClr val="333333"/>
            </a:solidFill>
            <a:prstDash val="solid"/>
          </a:ln>
        </p:spPr>
      </p:sp>
      <p:sp>
        <p:nvSpPr>
          <p:cNvPr id="32" name="Text 30"/>
          <p:cNvSpPr/>
          <p:nvPr/>
        </p:nvSpPr>
        <p:spPr>
          <a:xfrm>
            <a:off x="594360" y="3090672"/>
            <a:ext cx="1188720" cy="384048"/>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0000</a:t>
            </a:r>
            <a:endParaRPr lang="en-US" sz="1000" dirty="0"/>
          </a:p>
        </p:txBody>
      </p:sp>
      <p:sp>
        <p:nvSpPr>
          <p:cNvPr id="33" name="Text 31"/>
          <p:cNvSpPr/>
          <p:nvPr/>
        </p:nvSpPr>
        <p:spPr>
          <a:xfrm>
            <a:off x="1783080" y="3090672"/>
            <a:ext cx="155448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16.374</a:t>
            </a:r>
            <a:endParaRPr lang="en-US" sz="1000" dirty="0"/>
          </a:p>
        </p:txBody>
      </p:sp>
      <p:sp>
        <p:nvSpPr>
          <p:cNvPr id="34" name="Text 32"/>
          <p:cNvSpPr/>
          <p:nvPr/>
        </p:nvSpPr>
        <p:spPr>
          <a:xfrm>
            <a:off x="3337560" y="3090672"/>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0,91 ms</a:t>
            </a:r>
            <a:endParaRPr lang="en-US" sz="1000" dirty="0"/>
          </a:p>
        </p:txBody>
      </p:sp>
      <p:sp>
        <p:nvSpPr>
          <p:cNvPr id="35" name="Text 33"/>
          <p:cNvSpPr/>
          <p:nvPr/>
        </p:nvSpPr>
        <p:spPr>
          <a:xfrm>
            <a:off x="4709160" y="3090672"/>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17,20 ms</a:t>
            </a:r>
            <a:endParaRPr lang="en-US" sz="1000" dirty="0"/>
          </a:p>
        </p:txBody>
      </p:sp>
      <p:sp>
        <p:nvSpPr>
          <p:cNvPr id="36" name="Text 34"/>
          <p:cNvSpPr/>
          <p:nvPr/>
        </p:nvSpPr>
        <p:spPr>
          <a:xfrm>
            <a:off x="6080760" y="3090672"/>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18,9×</a:t>
            </a:r>
            <a:endParaRPr lang="en-US" sz="1000" dirty="0"/>
          </a:p>
        </p:txBody>
      </p:sp>
      <p:sp>
        <p:nvSpPr>
          <p:cNvPr id="37" name="Shape 35"/>
          <p:cNvSpPr/>
          <p:nvPr/>
        </p:nvSpPr>
        <p:spPr>
          <a:xfrm>
            <a:off x="594360" y="3465576"/>
            <a:ext cx="6858000" cy="7315"/>
          </a:xfrm>
          <a:prstGeom prst="rect">
            <a:avLst/>
          </a:prstGeom>
          <a:solidFill>
            <a:srgbClr val="DDE3E9"/>
          </a:solidFill>
          <a:ln w="12700">
            <a:solidFill>
              <a:srgbClr val="333333"/>
            </a:solidFill>
            <a:prstDash val="solid"/>
          </a:ln>
        </p:spPr>
      </p:sp>
      <p:sp>
        <p:nvSpPr>
          <p:cNvPr id="38" name="Text 36"/>
          <p:cNvSpPr/>
          <p:nvPr/>
        </p:nvSpPr>
        <p:spPr>
          <a:xfrm>
            <a:off x="594360" y="3474720"/>
            <a:ext cx="1188720" cy="384048"/>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00000</a:t>
            </a:r>
            <a:endParaRPr lang="en-US" sz="1000" dirty="0"/>
          </a:p>
        </p:txBody>
      </p:sp>
      <p:sp>
        <p:nvSpPr>
          <p:cNvPr id="39" name="Text 37"/>
          <p:cNvSpPr/>
          <p:nvPr/>
        </p:nvSpPr>
        <p:spPr>
          <a:xfrm>
            <a:off x="1783080" y="3474720"/>
            <a:ext cx="155448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105.281</a:t>
            </a:r>
            <a:endParaRPr lang="en-US" sz="1000" dirty="0"/>
          </a:p>
        </p:txBody>
      </p:sp>
      <p:sp>
        <p:nvSpPr>
          <p:cNvPr id="40" name="Text 38"/>
          <p:cNvSpPr/>
          <p:nvPr/>
        </p:nvSpPr>
        <p:spPr>
          <a:xfrm>
            <a:off x="3337560" y="3474720"/>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1,78 ms</a:t>
            </a:r>
            <a:endParaRPr lang="en-US" sz="1000" dirty="0"/>
          </a:p>
        </p:txBody>
      </p:sp>
      <p:sp>
        <p:nvSpPr>
          <p:cNvPr id="41" name="Text 39"/>
          <p:cNvSpPr/>
          <p:nvPr/>
        </p:nvSpPr>
        <p:spPr>
          <a:xfrm>
            <a:off x="4709160" y="3474720"/>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115,41 ms</a:t>
            </a:r>
            <a:endParaRPr lang="en-US" sz="1000" dirty="0"/>
          </a:p>
        </p:txBody>
      </p:sp>
      <p:sp>
        <p:nvSpPr>
          <p:cNvPr id="42" name="Text 40"/>
          <p:cNvSpPr/>
          <p:nvPr/>
        </p:nvSpPr>
        <p:spPr>
          <a:xfrm>
            <a:off x="6080760" y="3474720"/>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64,8×</a:t>
            </a:r>
            <a:endParaRPr lang="en-US" sz="1000" dirty="0"/>
          </a:p>
        </p:txBody>
      </p:sp>
      <p:sp>
        <p:nvSpPr>
          <p:cNvPr id="43" name="Shape 41"/>
          <p:cNvSpPr/>
          <p:nvPr/>
        </p:nvSpPr>
        <p:spPr>
          <a:xfrm>
            <a:off x="594360" y="3849624"/>
            <a:ext cx="6858000" cy="7315"/>
          </a:xfrm>
          <a:prstGeom prst="rect">
            <a:avLst/>
          </a:prstGeom>
          <a:solidFill>
            <a:srgbClr val="DDE3E9"/>
          </a:solidFill>
          <a:ln w="12700">
            <a:solidFill>
              <a:srgbClr val="333333"/>
            </a:solidFill>
            <a:prstDash val="solid"/>
          </a:ln>
        </p:spPr>
      </p:sp>
      <p:sp>
        <p:nvSpPr>
          <p:cNvPr id="44" name="Text 42"/>
          <p:cNvSpPr/>
          <p:nvPr/>
        </p:nvSpPr>
        <p:spPr>
          <a:xfrm>
            <a:off x="594360" y="3858768"/>
            <a:ext cx="1188720" cy="384048"/>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000000</a:t>
            </a:r>
            <a:endParaRPr lang="en-US" sz="1000" dirty="0"/>
          </a:p>
        </p:txBody>
      </p:sp>
      <p:sp>
        <p:nvSpPr>
          <p:cNvPr id="45" name="Text 43"/>
          <p:cNvSpPr/>
          <p:nvPr/>
        </p:nvSpPr>
        <p:spPr>
          <a:xfrm>
            <a:off x="1783080" y="3858768"/>
            <a:ext cx="155448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1.736.235</a:t>
            </a:r>
            <a:endParaRPr lang="en-US" sz="1000" dirty="0"/>
          </a:p>
        </p:txBody>
      </p:sp>
      <p:sp>
        <p:nvSpPr>
          <p:cNvPr id="46" name="Text 44"/>
          <p:cNvSpPr/>
          <p:nvPr/>
        </p:nvSpPr>
        <p:spPr>
          <a:xfrm>
            <a:off x="3337560" y="3858768"/>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15,05 ms</a:t>
            </a:r>
            <a:endParaRPr lang="en-US" sz="1000" dirty="0"/>
          </a:p>
        </p:txBody>
      </p:sp>
      <p:sp>
        <p:nvSpPr>
          <p:cNvPr id="47" name="Text 45"/>
          <p:cNvSpPr/>
          <p:nvPr/>
        </p:nvSpPr>
        <p:spPr>
          <a:xfrm>
            <a:off x="4709160" y="3858768"/>
            <a:ext cx="137160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1.919,94 ms</a:t>
            </a:r>
            <a:endParaRPr lang="en-US" sz="1000" dirty="0"/>
          </a:p>
        </p:txBody>
      </p:sp>
      <p:sp>
        <p:nvSpPr>
          <p:cNvPr id="48" name="Text 46"/>
          <p:cNvSpPr/>
          <p:nvPr/>
        </p:nvSpPr>
        <p:spPr>
          <a:xfrm>
            <a:off x="6080760" y="3858768"/>
            <a:ext cx="1371600" cy="384048"/>
          </a:xfrm>
          <a:prstGeom prst="rect">
            <a:avLst/>
          </a:prstGeom>
          <a:noFill/>
          <a:ln/>
        </p:spPr>
        <p:txBody>
          <a:bodyPr wrap="square" lIns="0" tIns="0" rIns="0" bIns="0" rtlCol="0" anchor="ctr"/>
          <a:lstStyle/>
          <a:p>
            <a:pPr algn="r" indent="0" marL="0">
              <a:buNone/>
            </a:pPr>
            <a:r>
              <a:rPr lang="en-US" sz="1000" b="1" dirty="0">
                <a:solidFill>
                  <a:srgbClr val="0B6E4F"/>
                </a:solidFill>
                <a:latin typeface="Calibri" pitchFamily="34" charset="0"/>
                <a:ea typeface="Calibri" pitchFamily="34" charset="-122"/>
                <a:cs typeface="Calibri" pitchFamily="34" charset="-120"/>
              </a:rPr>
              <a:t>127,6×</a:t>
            </a:r>
            <a:endParaRPr lang="en-US" sz="1000" dirty="0"/>
          </a:p>
        </p:txBody>
      </p:sp>
      <p:sp>
        <p:nvSpPr>
          <p:cNvPr id="49" name="Shape 47"/>
          <p:cNvSpPr/>
          <p:nvPr/>
        </p:nvSpPr>
        <p:spPr>
          <a:xfrm>
            <a:off x="7726680" y="1554480"/>
            <a:ext cx="3840480" cy="1234440"/>
          </a:xfrm>
          <a:prstGeom prst="roundRect">
            <a:avLst>
              <a:gd name="adj" fmla="val 4444"/>
            </a:avLst>
          </a:prstGeom>
          <a:solidFill>
            <a:srgbClr val="F7E9D8"/>
          </a:solidFill>
          <a:ln w="12700">
            <a:solidFill>
              <a:srgbClr val="333333"/>
            </a:solidFill>
            <a:prstDash val="solid"/>
          </a:ln>
        </p:spPr>
      </p:sp>
      <p:sp>
        <p:nvSpPr>
          <p:cNvPr id="50" name="Text 48"/>
          <p:cNvSpPr/>
          <p:nvPr/>
        </p:nvSpPr>
        <p:spPr>
          <a:xfrm>
            <a:off x="7955280" y="1682496"/>
            <a:ext cx="3383280" cy="978408"/>
          </a:xfrm>
          <a:prstGeom prst="rect">
            <a:avLst/>
          </a:prstGeom>
          <a:noFill/>
          <a:ln/>
        </p:spPr>
        <p:txBody>
          <a:bodyPr wrap="square" lIns="0" tIns="0" rIns="0" bIns="0" rtlCol="0" anchor="t"/>
          <a:lstStyle/>
          <a:p>
            <a:pPr indent="0" marL="0">
              <a:lnSpc>
                <a:spcPct val="118000"/>
              </a:lnSpc>
              <a:buNone/>
            </a:pPr>
            <a:r>
              <a:rPr lang="en-US" sz="1050" b="1" dirty="0">
                <a:solidFill>
                  <a:srgbClr val="A85B12"/>
                </a:solidFill>
                <a:latin typeface="Calibri" pitchFamily="34" charset="0"/>
                <a:ea typeface="Calibri" pitchFamily="34" charset="-122"/>
                <a:cs typeface="Calibri" pitchFamily="34" charset="-120"/>
              </a:rPr>
              <a:t>Con prefijos cortos gana la CPU.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El costo fijo de lanzar el kernel supera al cómputo mismo.</a:t>
            </a:r>
            <a:endParaRPr lang="en-US" sz="1050" dirty="0"/>
          </a:p>
        </p:txBody>
      </p:sp>
      <p:sp>
        <p:nvSpPr>
          <p:cNvPr id="51" name="Shape 49"/>
          <p:cNvSpPr/>
          <p:nvPr/>
        </p:nvSpPr>
        <p:spPr>
          <a:xfrm>
            <a:off x="7726680" y="2926080"/>
            <a:ext cx="3840480" cy="1234440"/>
          </a:xfrm>
          <a:prstGeom prst="roundRect">
            <a:avLst>
              <a:gd name="adj" fmla="val 4444"/>
            </a:avLst>
          </a:prstGeom>
          <a:solidFill>
            <a:srgbClr val="DCEFE6"/>
          </a:solidFill>
          <a:ln w="12700">
            <a:solidFill>
              <a:srgbClr val="333333"/>
            </a:solidFill>
            <a:prstDash val="solid"/>
          </a:ln>
        </p:spPr>
      </p:sp>
      <p:sp>
        <p:nvSpPr>
          <p:cNvPr id="52" name="Text 50"/>
          <p:cNvSpPr/>
          <p:nvPr/>
        </p:nvSpPr>
        <p:spPr>
          <a:xfrm>
            <a:off x="7955280" y="3054096"/>
            <a:ext cx="3383280" cy="97840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El cruce está entre 2 y 3 caracteres.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A partir de ahí la ventaja crece de forma acelerada.</a:t>
            </a:r>
            <a:endParaRPr lang="en-US" sz="1050" dirty="0"/>
          </a:p>
        </p:txBody>
      </p:sp>
      <p:sp>
        <p:nvSpPr>
          <p:cNvPr id="53" name="Text 51"/>
          <p:cNvSpPr/>
          <p:nvPr/>
        </p:nvSpPr>
        <p:spPr>
          <a:xfrm>
            <a:off x="594360" y="4617720"/>
            <a:ext cx="10972800" cy="822960"/>
          </a:xfrm>
          <a:prstGeom prst="rect">
            <a:avLst/>
          </a:prstGeom>
          <a:noFill/>
          <a:ln/>
        </p:spPr>
        <p:txBody>
          <a:bodyPr wrap="square" lIns="0" tIns="0" rIns="0" bIns="0" rtlCol="0" anchor="ctr"/>
          <a:lstStyle/>
          <a:p>
            <a:pPr indent="0" marL="0">
              <a:lnSpc>
                <a:spcPct val="120000"/>
              </a:lnSpc>
              <a:buNone/>
            </a:pPr>
            <a:r>
              <a:rPr lang="en-US" sz="1100" dirty="0">
                <a:solidFill>
                  <a:srgbClr val="5B6B7B"/>
                </a:solidFill>
                <a:latin typeface="Calibri" pitchFamily="34" charset="0"/>
                <a:ea typeface="Calibri" pitchFamily="34" charset="-122"/>
                <a:cs typeface="Calibri" pitchFamily="34" charset="-120"/>
              </a:rPr>
              <a:t>El tiempo de GPU se mantiene casi plano hasta el quinto cero: lo que se mide es básicamente el arranque. Recién en el sexto el cómputo domina. </a:t>
            </a:r>
            <a:pPr indent="0" marL="0">
              <a:lnSpc>
                <a:spcPct val="120000"/>
              </a:lnSpc>
              <a:buNone/>
            </a:pPr>
            <a:r>
              <a:rPr lang="en-US" sz="1100" b="1" dirty="0">
                <a:solidFill>
                  <a:srgbClr val="10202F"/>
                </a:solidFill>
                <a:latin typeface="Calibri" pitchFamily="34" charset="0"/>
                <a:ea typeface="Calibri" pitchFamily="34" charset="-122"/>
                <a:cs typeface="Calibri" pitchFamily="34" charset="-120"/>
              </a:rPr>
              <a:t>Es exactamente por eso que las blockchains reales minan en GPU.</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2 · BLOCKCHAIN</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6 / 30</a:t>
            </a:r>
            <a:endParaRPr lang="en-US" sz="900" dirty="0"/>
          </a:p>
        </p:txBody>
      </p:sp>
      <p:sp>
        <p:nvSpPr>
          <p:cNvPr id="5" name="Shape 3"/>
          <p:cNvSpPr/>
          <p:nvPr/>
        </p:nvSpPr>
        <p:spPr>
          <a:xfrm>
            <a:off x="0" y="6803136"/>
            <a:ext cx="2432304"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2</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Cinco iteraciones hasta el sistema final</a:t>
            </a:r>
            <a:endParaRPr lang="en-US" sz="2700" dirty="0"/>
          </a:p>
        </p:txBody>
      </p:sp>
      <p:sp>
        <p:nvSpPr>
          <p:cNvPr id="8" name="Shape 6"/>
          <p:cNvSpPr/>
          <p:nvPr/>
        </p:nvSpPr>
        <p:spPr>
          <a:xfrm>
            <a:off x="594360" y="1572768"/>
            <a:ext cx="1989734" cy="1417320"/>
          </a:xfrm>
          <a:prstGeom prst="roundRect">
            <a:avLst>
              <a:gd name="adj" fmla="val 3871"/>
            </a:avLst>
          </a:prstGeom>
          <a:solidFill>
            <a:srgbClr val="F0F3F6"/>
          </a:solidFill>
          <a:ln w="12700">
            <a:solidFill>
              <a:srgbClr val="333333"/>
            </a:solidFill>
            <a:prstDash val="solid"/>
          </a:ln>
        </p:spPr>
      </p:sp>
      <p:sp>
        <p:nvSpPr>
          <p:cNvPr id="9" name="Text 7"/>
          <p:cNvSpPr/>
          <p:nvPr/>
        </p:nvSpPr>
        <p:spPr>
          <a:xfrm>
            <a:off x="740664" y="1691640"/>
            <a:ext cx="1697126"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P1</a:t>
            </a:r>
            <a:endParaRPr lang="en-US" sz="900" dirty="0"/>
          </a:p>
        </p:txBody>
      </p:sp>
      <p:sp>
        <p:nvSpPr>
          <p:cNvPr id="10" name="Text 8"/>
          <p:cNvSpPr/>
          <p:nvPr/>
        </p:nvSpPr>
        <p:spPr>
          <a:xfrm>
            <a:off x="740664" y="1901952"/>
            <a:ext cx="1697126"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Nodo monolítico</a:t>
            </a:r>
            <a:endParaRPr lang="en-US" sz="1050" dirty="0"/>
          </a:p>
        </p:txBody>
      </p:sp>
      <p:sp>
        <p:nvSpPr>
          <p:cNvPr id="11" name="Text 9"/>
          <p:cNvSpPr/>
          <p:nvPr/>
        </p:nvSpPr>
        <p:spPr>
          <a:xfrm>
            <a:off x="740664" y="2176272"/>
            <a:ext cx="1697126" cy="68580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Un proceso acepta, mina y guarda en memoria.</a:t>
            </a:r>
            <a:endParaRPr lang="en-US" sz="900" dirty="0"/>
          </a:p>
        </p:txBody>
      </p:sp>
      <p:sp>
        <p:nvSpPr>
          <p:cNvPr id="12" name="Text 10"/>
          <p:cNvSpPr/>
          <p:nvPr/>
        </p:nvSpPr>
        <p:spPr>
          <a:xfrm>
            <a:off x="2584094" y="1572768"/>
            <a:ext cx="256032" cy="141732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2840126" y="1572768"/>
            <a:ext cx="1989734" cy="1417320"/>
          </a:xfrm>
          <a:prstGeom prst="roundRect">
            <a:avLst>
              <a:gd name="adj" fmla="val 3871"/>
            </a:avLst>
          </a:prstGeom>
          <a:solidFill>
            <a:srgbClr val="F0F3F6"/>
          </a:solidFill>
          <a:ln w="12700">
            <a:solidFill>
              <a:srgbClr val="333333"/>
            </a:solidFill>
            <a:prstDash val="solid"/>
          </a:ln>
        </p:spPr>
      </p:sp>
      <p:sp>
        <p:nvSpPr>
          <p:cNvPr id="14" name="Text 12"/>
          <p:cNvSpPr/>
          <p:nvPr/>
        </p:nvSpPr>
        <p:spPr>
          <a:xfrm>
            <a:off x="2986430" y="1691640"/>
            <a:ext cx="1697126"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P2</a:t>
            </a:r>
            <a:endParaRPr lang="en-US" sz="900" dirty="0"/>
          </a:p>
        </p:txBody>
      </p:sp>
      <p:sp>
        <p:nvSpPr>
          <p:cNvPr id="15" name="Text 13"/>
          <p:cNvSpPr/>
          <p:nvPr/>
        </p:nvSpPr>
        <p:spPr>
          <a:xfrm>
            <a:off x="2986430" y="1901952"/>
            <a:ext cx="1697126"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Minería distribuida</a:t>
            </a:r>
            <a:endParaRPr lang="en-US" sz="1050" dirty="0"/>
          </a:p>
        </p:txBody>
      </p:sp>
      <p:sp>
        <p:nvSpPr>
          <p:cNvPr id="16" name="Text 14"/>
          <p:cNvSpPr/>
          <p:nvPr/>
        </p:nvSpPr>
        <p:spPr>
          <a:xfrm>
            <a:off x="2986430" y="2176272"/>
            <a:ext cx="1697126" cy="68580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Se separa el minado. Aparecen las colas y los workers.</a:t>
            </a:r>
            <a:endParaRPr lang="en-US" sz="900" dirty="0"/>
          </a:p>
        </p:txBody>
      </p:sp>
      <p:sp>
        <p:nvSpPr>
          <p:cNvPr id="17" name="Text 15"/>
          <p:cNvSpPr/>
          <p:nvPr/>
        </p:nvSpPr>
        <p:spPr>
          <a:xfrm>
            <a:off x="4829861" y="1572768"/>
            <a:ext cx="256032" cy="141732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5085893" y="1572768"/>
            <a:ext cx="1989734" cy="1417320"/>
          </a:xfrm>
          <a:prstGeom prst="roundRect">
            <a:avLst>
              <a:gd name="adj" fmla="val 3871"/>
            </a:avLst>
          </a:prstGeom>
          <a:solidFill>
            <a:srgbClr val="F0F3F6"/>
          </a:solidFill>
          <a:ln w="12700">
            <a:solidFill>
              <a:srgbClr val="333333"/>
            </a:solidFill>
            <a:prstDash val="solid"/>
          </a:ln>
        </p:spPr>
      </p:sp>
      <p:sp>
        <p:nvSpPr>
          <p:cNvPr id="19" name="Text 17"/>
          <p:cNvSpPr/>
          <p:nvPr/>
        </p:nvSpPr>
        <p:spPr>
          <a:xfrm>
            <a:off x="5232197" y="1691640"/>
            <a:ext cx="1697126"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P3</a:t>
            </a:r>
            <a:endParaRPr lang="en-US" sz="900" dirty="0"/>
          </a:p>
        </p:txBody>
      </p:sp>
      <p:sp>
        <p:nvSpPr>
          <p:cNvPr id="20" name="Text 18"/>
          <p:cNvSpPr/>
          <p:nvPr/>
        </p:nvSpPr>
        <p:spPr>
          <a:xfrm>
            <a:off x="5232197" y="1901952"/>
            <a:ext cx="1697126"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Persistencia</a:t>
            </a:r>
            <a:endParaRPr lang="en-US" sz="1050" dirty="0"/>
          </a:p>
        </p:txBody>
      </p:sp>
      <p:sp>
        <p:nvSpPr>
          <p:cNvPr id="21" name="Text 19"/>
          <p:cNvSpPr/>
          <p:nvPr/>
        </p:nvSpPr>
        <p:spPr>
          <a:xfrm>
            <a:off x="5232197" y="2176272"/>
            <a:ext cx="1697126" cy="68580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El estado pasa a Redis. Sobrevive reinicios.</a:t>
            </a:r>
            <a:endParaRPr lang="en-US" sz="900" dirty="0"/>
          </a:p>
        </p:txBody>
      </p:sp>
      <p:sp>
        <p:nvSpPr>
          <p:cNvPr id="22" name="Text 20"/>
          <p:cNvSpPr/>
          <p:nvPr/>
        </p:nvSpPr>
        <p:spPr>
          <a:xfrm>
            <a:off x="7075627" y="1572768"/>
            <a:ext cx="256032" cy="141732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7331659" y="1572768"/>
            <a:ext cx="1989734" cy="1417320"/>
          </a:xfrm>
          <a:prstGeom prst="roundRect">
            <a:avLst>
              <a:gd name="adj" fmla="val 3871"/>
            </a:avLst>
          </a:prstGeom>
          <a:solidFill>
            <a:srgbClr val="F0F3F6"/>
          </a:solidFill>
          <a:ln w="12700">
            <a:solidFill>
              <a:srgbClr val="333333"/>
            </a:solidFill>
            <a:prstDash val="solid"/>
          </a:ln>
        </p:spPr>
      </p:sp>
      <p:sp>
        <p:nvSpPr>
          <p:cNvPr id="24" name="Text 22"/>
          <p:cNvSpPr/>
          <p:nvPr/>
        </p:nvSpPr>
        <p:spPr>
          <a:xfrm>
            <a:off x="7477963" y="1691640"/>
            <a:ext cx="1697126"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P4</a:t>
            </a:r>
            <a:endParaRPr lang="en-US" sz="900" dirty="0"/>
          </a:p>
        </p:txBody>
      </p:sp>
      <p:sp>
        <p:nvSpPr>
          <p:cNvPr id="25" name="Text 23"/>
          <p:cNvSpPr/>
          <p:nvPr/>
        </p:nvSpPr>
        <p:spPr>
          <a:xfrm>
            <a:off x="7477963" y="1901952"/>
            <a:ext cx="1697126"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Nodo endurecido</a:t>
            </a:r>
            <a:endParaRPr lang="en-US" sz="1050" dirty="0"/>
          </a:p>
        </p:txBody>
      </p:sp>
      <p:sp>
        <p:nvSpPr>
          <p:cNvPr id="26" name="Text 24"/>
          <p:cNvSpPr/>
          <p:nvPr/>
        </p:nvSpPr>
        <p:spPr>
          <a:xfrm>
            <a:off x="7477963" y="2176272"/>
            <a:ext cx="1697126" cy="68580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Lock distribuido, verificación y dificultad dinámica.</a:t>
            </a:r>
            <a:endParaRPr lang="en-US" sz="900" dirty="0"/>
          </a:p>
        </p:txBody>
      </p:sp>
      <p:sp>
        <p:nvSpPr>
          <p:cNvPr id="27" name="Text 25"/>
          <p:cNvSpPr/>
          <p:nvPr/>
        </p:nvSpPr>
        <p:spPr>
          <a:xfrm>
            <a:off x="9321394" y="1572768"/>
            <a:ext cx="256032" cy="141732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9577426" y="1572768"/>
            <a:ext cx="1989734" cy="1417320"/>
          </a:xfrm>
          <a:prstGeom prst="roundRect">
            <a:avLst>
              <a:gd name="adj" fmla="val 3871"/>
            </a:avLst>
          </a:prstGeom>
          <a:solidFill>
            <a:srgbClr val="DCEFE6"/>
          </a:solidFill>
          <a:ln w="12700">
            <a:solidFill>
              <a:srgbClr val="333333"/>
            </a:solidFill>
            <a:prstDash val="solid"/>
          </a:ln>
        </p:spPr>
      </p:sp>
      <p:sp>
        <p:nvSpPr>
          <p:cNvPr id="29" name="Text 27"/>
          <p:cNvSpPr/>
          <p:nvPr/>
        </p:nvSpPr>
        <p:spPr>
          <a:xfrm>
            <a:off x="9723730" y="1691640"/>
            <a:ext cx="1697126"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P5</a:t>
            </a:r>
            <a:endParaRPr lang="en-US" sz="900" dirty="0"/>
          </a:p>
        </p:txBody>
      </p:sp>
      <p:sp>
        <p:nvSpPr>
          <p:cNvPr id="30" name="Text 28"/>
          <p:cNvSpPr/>
          <p:nvPr/>
        </p:nvSpPr>
        <p:spPr>
          <a:xfrm>
            <a:off x="9723730" y="1901952"/>
            <a:ext cx="1697126"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Versión final</a:t>
            </a:r>
            <a:endParaRPr lang="en-US" sz="1050" dirty="0"/>
          </a:p>
        </p:txBody>
      </p:sp>
      <p:sp>
        <p:nvSpPr>
          <p:cNvPr id="31" name="Text 29"/>
          <p:cNvSpPr/>
          <p:nvPr/>
        </p:nvSpPr>
        <p:spPr>
          <a:xfrm>
            <a:off x="9723730" y="2176272"/>
            <a:ext cx="1697126" cy="68580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Repartidor, respaldo a CPU, entradas y observabilidad.</a:t>
            </a:r>
            <a:endParaRPr lang="en-US" sz="900" dirty="0"/>
          </a:p>
        </p:txBody>
      </p:sp>
      <p:sp>
        <p:nvSpPr>
          <p:cNvPr id="32" name="Text 30"/>
          <p:cNvSpPr/>
          <p:nvPr/>
        </p:nvSpPr>
        <p:spPr>
          <a:xfrm>
            <a:off x="594360" y="3246120"/>
            <a:ext cx="530352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Lo que agregó cada capa</a:t>
            </a:r>
            <a:endParaRPr lang="en-US" sz="1250" dirty="0"/>
          </a:p>
        </p:txBody>
      </p:sp>
      <p:sp>
        <p:nvSpPr>
          <p:cNvPr id="33" name="Text 31"/>
          <p:cNvSpPr/>
          <p:nvPr/>
        </p:nvSpPr>
        <p:spPr>
          <a:xfrm>
            <a:off x="594360" y="3566160"/>
            <a:ext cx="5303520" cy="164592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P2 — desacople: el nodo deja de minar y pasa a coordinar</a:t>
            </a:r>
            <a:endParaRPr lang="en-US" sz="1050" dirty="0"/>
          </a:p>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P3 — durabilidad: el estado deja de vivir en memoria</a:t>
            </a:r>
            <a:endParaRPr lang="en-US" sz="1050" dirty="0"/>
          </a:p>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P4 — concurrencia segura: dos réplicas sin minar dos veces</a:t>
            </a:r>
            <a:endParaRPr lang="en-US" sz="1050" dirty="0"/>
          </a:p>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P5 — resiliencia y dominio: respaldo automático y entradas</a:t>
            </a:r>
            <a:endParaRPr lang="en-US" sz="1050" dirty="0"/>
          </a:p>
        </p:txBody>
      </p:sp>
      <p:sp>
        <p:nvSpPr>
          <p:cNvPr id="34" name="Shape 32"/>
          <p:cNvSpPr/>
          <p:nvPr/>
        </p:nvSpPr>
        <p:spPr>
          <a:xfrm>
            <a:off x="6263640" y="3246120"/>
            <a:ext cx="5303520" cy="1920240"/>
          </a:xfrm>
          <a:prstGeom prst="roundRect">
            <a:avLst>
              <a:gd name="adj" fmla="val 2857"/>
            </a:avLst>
          </a:prstGeom>
          <a:solidFill>
            <a:srgbClr val="F0F3F6"/>
          </a:solidFill>
          <a:ln w="12700">
            <a:solidFill>
              <a:srgbClr val="333333"/>
            </a:solidFill>
            <a:prstDash val="solid"/>
          </a:ln>
        </p:spPr>
      </p:sp>
      <p:sp>
        <p:nvSpPr>
          <p:cNvPr id="35" name="Text 33"/>
          <p:cNvSpPr/>
          <p:nvPr/>
        </p:nvSpPr>
        <p:spPr>
          <a:xfrm>
            <a:off x="6492240" y="3374136"/>
            <a:ext cx="4846320" cy="1664208"/>
          </a:xfrm>
          <a:prstGeom prst="rect">
            <a:avLst/>
          </a:prstGeom>
          <a:noFill/>
          <a:ln/>
        </p:spPr>
        <p:txBody>
          <a:bodyPr wrap="square" lIns="0" tIns="0" rIns="0" bIns="0" rtlCol="0" anchor="t"/>
          <a:lstStyle/>
          <a:p>
            <a:pPr indent="0" marL="0">
              <a:lnSpc>
                <a:spcPct val="118000"/>
              </a:lnSpc>
              <a:buNone/>
            </a:pPr>
            <a:r>
              <a:rPr lang="en-US" sz="1050" b="1" dirty="0">
                <a:solidFill>
                  <a:srgbClr val="10202F"/>
                </a:solidFill>
                <a:latin typeface="Calibri" pitchFamily="34" charset="0"/>
                <a:ea typeface="Calibri" pitchFamily="34" charset="-122"/>
                <a:cs typeface="Calibri" pitchFamily="34" charset="-120"/>
              </a:rPr>
              <a:t>Las cinco versiones siguen en el repositorio.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No se reemplazaron: cada una es un directorio con su código y sus manifiestos. La progresión es parte de lo que se entrega, porque muestra cómo se llegó al diseño final y no solo cuál fue.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2 · BLOCKCHAIN</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7 / 30</a:t>
            </a:r>
            <a:endParaRPr lang="en-US" sz="900" dirty="0"/>
          </a:p>
        </p:txBody>
      </p:sp>
      <p:sp>
        <p:nvSpPr>
          <p:cNvPr id="5" name="Shape 3"/>
          <p:cNvSpPr/>
          <p:nvPr/>
        </p:nvSpPr>
        <p:spPr>
          <a:xfrm>
            <a:off x="0" y="6803136"/>
            <a:ext cx="2837688"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2 · ARQUITECTURA</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Los servicios que componen la blockchain</a:t>
            </a:r>
            <a:endParaRPr lang="en-US" sz="2700" dirty="0"/>
          </a:p>
        </p:txBody>
      </p:sp>
      <p:sp>
        <p:nvSpPr>
          <p:cNvPr id="8" name="Shape 6"/>
          <p:cNvSpPr/>
          <p:nvPr/>
        </p:nvSpPr>
        <p:spPr>
          <a:xfrm>
            <a:off x="594360" y="1554480"/>
            <a:ext cx="5349240" cy="1783080"/>
          </a:xfrm>
          <a:prstGeom prst="roundRect">
            <a:avLst>
              <a:gd name="adj" fmla="val 3077"/>
            </a:avLst>
          </a:prstGeom>
          <a:solidFill>
            <a:srgbClr val="F0F3F6"/>
          </a:solidFill>
          <a:ln w="12700">
            <a:solidFill>
              <a:srgbClr val="333333"/>
            </a:solidFill>
            <a:prstDash val="solid"/>
          </a:ln>
        </p:spPr>
      </p:sp>
      <p:sp>
        <p:nvSpPr>
          <p:cNvPr id="9" name="Shape 7"/>
          <p:cNvSpPr/>
          <p:nvPr/>
        </p:nvSpPr>
        <p:spPr>
          <a:xfrm>
            <a:off x="795528" y="1719072"/>
            <a:ext cx="685800" cy="237744"/>
          </a:xfrm>
          <a:prstGeom prst="roundRect">
            <a:avLst>
              <a:gd name="adj" fmla="val 19231"/>
            </a:avLst>
          </a:prstGeom>
          <a:solidFill>
            <a:srgbClr val="DCEFE6"/>
          </a:solidFill>
          <a:ln w="12700">
            <a:solidFill>
              <a:srgbClr val="333333"/>
            </a:solidFill>
            <a:prstDash val="solid"/>
          </a:ln>
        </p:spPr>
      </p:sp>
      <p:sp>
        <p:nvSpPr>
          <p:cNvPr id="10" name="Text 8"/>
          <p:cNvSpPr/>
          <p:nvPr/>
        </p:nvSpPr>
        <p:spPr>
          <a:xfrm>
            <a:off x="795528" y="1719072"/>
            <a:ext cx="685800" cy="237744"/>
          </a:xfrm>
          <a:prstGeom prst="rect">
            <a:avLst/>
          </a:prstGeom>
          <a:noFill/>
          <a:ln/>
        </p:spPr>
        <p:txBody>
          <a:bodyPr wrap="square" lIns="0" tIns="0" rIns="0" bIns="0" rtlCol="0" anchor="ctr"/>
          <a:lstStyle/>
          <a:p>
            <a:pPr algn="ctr" indent="0" marL="0">
              <a:buNone/>
            </a:pPr>
            <a:r>
              <a:rPr lang="en-US" sz="900" dirty="0">
                <a:solidFill>
                  <a:srgbClr val="0B6E4F"/>
                </a:solidFill>
                <a:latin typeface="Consolas" pitchFamily="34" charset="0"/>
                <a:ea typeface="Consolas" pitchFamily="34" charset="-122"/>
                <a:cs typeface="Consolas" pitchFamily="34" charset="-120"/>
              </a:rPr>
              <a:t>NCT</a:t>
            </a:r>
            <a:endParaRPr lang="en-US" sz="900" dirty="0"/>
          </a:p>
        </p:txBody>
      </p:sp>
      <p:sp>
        <p:nvSpPr>
          <p:cNvPr id="11" name="Text 9"/>
          <p:cNvSpPr/>
          <p:nvPr/>
        </p:nvSpPr>
        <p:spPr>
          <a:xfrm>
            <a:off x="795528" y="2066544"/>
            <a:ext cx="49469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Nodo Coordinador de Tareas</a:t>
            </a:r>
            <a:endParaRPr lang="en-US" sz="1250" dirty="0"/>
          </a:p>
        </p:txBody>
      </p:sp>
      <p:sp>
        <p:nvSpPr>
          <p:cNvPr id="12" name="Text 10"/>
          <p:cNvSpPr/>
          <p:nvPr/>
        </p:nvSpPr>
        <p:spPr>
          <a:xfrm>
            <a:off x="795528" y="2377440"/>
            <a:ext cx="4946904" cy="82296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Es la autoridad. Expone la API, verifica firmas, arma los bloques, valida el Proof of Work y es el único que escribe la cadena. Mantiene el índice de propiedad.</a:t>
            </a:r>
            <a:endParaRPr lang="en-US" sz="1000" dirty="0"/>
          </a:p>
        </p:txBody>
      </p:sp>
      <p:sp>
        <p:nvSpPr>
          <p:cNvPr id="13" name="Shape 11"/>
          <p:cNvSpPr/>
          <p:nvPr/>
        </p:nvSpPr>
        <p:spPr>
          <a:xfrm>
            <a:off x="6217920" y="1554480"/>
            <a:ext cx="5349240" cy="1783080"/>
          </a:xfrm>
          <a:prstGeom prst="roundRect">
            <a:avLst>
              <a:gd name="adj" fmla="val 3077"/>
            </a:avLst>
          </a:prstGeom>
          <a:solidFill>
            <a:srgbClr val="F0F3F6"/>
          </a:solidFill>
          <a:ln w="12700">
            <a:solidFill>
              <a:srgbClr val="333333"/>
            </a:solidFill>
            <a:prstDash val="solid"/>
          </a:ln>
        </p:spPr>
      </p:sp>
      <p:sp>
        <p:nvSpPr>
          <p:cNvPr id="14" name="Shape 12"/>
          <p:cNvSpPr/>
          <p:nvPr/>
        </p:nvSpPr>
        <p:spPr>
          <a:xfrm>
            <a:off x="6419088" y="1719072"/>
            <a:ext cx="685800" cy="237744"/>
          </a:xfrm>
          <a:prstGeom prst="roundRect">
            <a:avLst>
              <a:gd name="adj" fmla="val 19231"/>
            </a:avLst>
          </a:prstGeom>
          <a:solidFill>
            <a:srgbClr val="DCEFE6"/>
          </a:solidFill>
          <a:ln w="12700">
            <a:solidFill>
              <a:srgbClr val="333333"/>
            </a:solidFill>
            <a:prstDash val="solid"/>
          </a:ln>
        </p:spPr>
      </p:sp>
      <p:sp>
        <p:nvSpPr>
          <p:cNvPr id="15" name="Text 13"/>
          <p:cNvSpPr/>
          <p:nvPr/>
        </p:nvSpPr>
        <p:spPr>
          <a:xfrm>
            <a:off x="6419088" y="1719072"/>
            <a:ext cx="685800" cy="237744"/>
          </a:xfrm>
          <a:prstGeom prst="rect">
            <a:avLst/>
          </a:prstGeom>
          <a:noFill/>
          <a:ln/>
        </p:spPr>
        <p:txBody>
          <a:bodyPr wrap="square" lIns="0" tIns="0" rIns="0" bIns="0" rtlCol="0" anchor="ctr"/>
          <a:lstStyle/>
          <a:p>
            <a:pPr algn="ctr" indent="0" marL="0">
              <a:buNone/>
            </a:pPr>
            <a:r>
              <a:rPr lang="en-US" sz="900" dirty="0">
                <a:solidFill>
                  <a:srgbClr val="0B6E4F"/>
                </a:solidFill>
                <a:latin typeface="Consolas" pitchFamily="34" charset="0"/>
                <a:ea typeface="Consolas" pitchFamily="34" charset="-122"/>
                <a:cs typeface="Consolas" pitchFamily="34" charset="-120"/>
              </a:rPr>
              <a:t>TrP</a:t>
            </a:r>
            <a:endParaRPr lang="en-US" sz="900" dirty="0"/>
          </a:p>
        </p:txBody>
      </p:sp>
      <p:sp>
        <p:nvSpPr>
          <p:cNvPr id="16" name="Text 14"/>
          <p:cNvSpPr/>
          <p:nvPr/>
        </p:nvSpPr>
        <p:spPr>
          <a:xfrm>
            <a:off x="6419088" y="2066544"/>
            <a:ext cx="49469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Repartidor de tareas</a:t>
            </a:r>
            <a:endParaRPr lang="en-US" sz="1250" dirty="0"/>
          </a:p>
        </p:txBody>
      </p:sp>
      <p:sp>
        <p:nvSpPr>
          <p:cNvPr id="17" name="Text 15"/>
          <p:cNvSpPr/>
          <p:nvPr/>
        </p:nvSpPr>
        <p:spPr>
          <a:xfrm>
            <a:off x="6419088" y="2377440"/>
            <a:ext cx="4946904" cy="82296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Divide el espacio de nonces en fragmentos disjuntos para los mineros. Vigila la salud de la GPU y dispara el respaldo a CPU cuando deja de responder.</a:t>
            </a:r>
            <a:endParaRPr lang="en-US" sz="1000" dirty="0"/>
          </a:p>
        </p:txBody>
      </p:sp>
      <p:sp>
        <p:nvSpPr>
          <p:cNvPr id="18" name="Shape 16"/>
          <p:cNvSpPr/>
          <p:nvPr/>
        </p:nvSpPr>
        <p:spPr>
          <a:xfrm>
            <a:off x="594360" y="3474720"/>
            <a:ext cx="5349240" cy="1600200"/>
          </a:xfrm>
          <a:prstGeom prst="roundRect">
            <a:avLst>
              <a:gd name="adj" fmla="val 3429"/>
            </a:avLst>
          </a:prstGeom>
          <a:solidFill>
            <a:srgbClr val="F0F3F6"/>
          </a:solidFill>
          <a:ln w="12700">
            <a:solidFill>
              <a:srgbClr val="333333"/>
            </a:solidFill>
            <a:prstDash val="solid"/>
          </a:ln>
        </p:spPr>
      </p:sp>
      <p:sp>
        <p:nvSpPr>
          <p:cNvPr id="19" name="Shape 17"/>
          <p:cNvSpPr/>
          <p:nvPr/>
        </p:nvSpPr>
        <p:spPr>
          <a:xfrm>
            <a:off x="795528" y="3639312"/>
            <a:ext cx="1060704" cy="237744"/>
          </a:xfrm>
          <a:prstGeom prst="roundRect">
            <a:avLst>
              <a:gd name="adj" fmla="val 19231"/>
            </a:avLst>
          </a:prstGeom>
          <a:solidFill>
            <a:srgbClr val="DCEFE6"/>
          </a:solidFill>
          <a:ln w="12700">
            <a:solidFill>
              <a:srgbClr val="333333"/>
            </a:solidFill>
            <a:prstDash val="solid"/>
          </a:ln>
        </p:spPr>
      </p:sp>
      <p:sp>
        <p:nvSpPr>
          <p:cNvPr id="20" name="Text 18"/>
          <p:cNvSpPr/>
          <p:nvPr/>
        </p:nvSpPr>
        <p:spPr>
          <a:xfrm>
            <a:off x="795528" y="3639312"/>
            <a:ext cx="1060704" cy="237744"/>
          </a:xfrm>
          <a:prstGeom prst="rect">
            <a:avLst/>
          </a:prstGeom>
          <a:noFill/>
          <a:ln/>
        </p:spPr>
        <p:txBody>
          <a:bodyPr wrap="square" lIns="0" tIns="0" rIns="0" bIns="0" rtlCol="0" anchor="ctr"/>
          <a:lstStyle/>
          <a:p>
            <a:pPr algn="ctr" indent="0" marL="0">
              <a:buNone/>
            </a:pPr>
            <a:r>
              <a:rPr lang="en-US" sz="900" dirty="0">
                <a:solidFill>
                  <a:srgbClr val="0B6E4F"/>
                </a:solidFill>
                <a:latin typeface="Consolas" pitchFamily="34" charset="0"/>
                <a:ea typeface="Consolas" pitchFamily="34" charset="-122"/>
                <a:cs typeface="Consolas" pitchFamily="34" charset="-120"/>
              </a:rPr>
              <a:t>Worker GPU</a:t>
            </a:r>
            <a:endParaRPr lang="en-US" sz="900" dirty="0"/>
          </a:p>
        </p:txBody>
      </p:sp>
      <p:sp>
        <p:nvSpPr>
          <p:cNvPr id="21" name="Text 19"/>
          <p:cNvSpPr/>
          <p:nvPr/>
        </p:nvSpPr>
        <p:spPr>
          <a:xfrm>
            <a:off x="795528" y="3986784"/>
            <a:ext cx="49469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Minero acelerado</a:t>
            </a:r>
            <a:endParaRPr lang="en-US" sz="1250" dirty="0"/>
          </a:p>
        </p:txBody>
      </p:sp>
      <p:sp>
        <p:nvSpPr>
          <p:cNvPr id="22" name="Text 20"/>
          <p:cNvSpPr/>
          <p:nvPr/>
        </p:nvSpPr>
        <p:spPr>
          <a:xfrm>
            <a:off x="795528" y="4297680"/>
            <a:ext cx="4946904" cy="64008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Delega el cómputo pesado a un servidor con GPU que envuelve el binario CUDA. Corre en el cluster del docente, donde están las placas.</a:t>
            </a:r>
            <a:endParaRPr lang="en-US" sz="1000" dirty="0"/>
          </a:p>
        </p:txBody>
      </p:sp>
      <p:sp>
        <p:nvSpPr>
          <p:cNvPr id="23" name="Shape 21"/>
          <p:cNvSpPr/>
          <p:nvPr/>
        </p:nvSpPr>
        <p:spPr>
          <a:xfrm>
            <a:off x="6217920" y="3474720"/>
            <a:ext cx="5349240" cy="1600200"/>
          </a:xfrm>
          <a:prstGeom prst="roundRect">
            <a:avLst>
              <a:gd name="adj" fmla="val 3429"/>
            </a:avLst>
          </a:prstGeom>
          <a:solidFill>
            <a:srgbClr val="F0F3F6"/>
          </a:solidFill>
          <a:ln w="12700">
            <a:solidFill>
              <a:srgbClr val="333333"/>
            </a:solidFill>
            <a:prstDash val="solid"/>
          </a:ln>
        </p:spPr>
      </p:sp>
      <p:sp>
        <p:nvSpPr>
          <p:cNvPr id="24" name="Shape 22"/>
          <p:cNvSpPr/>
          <p:nvPr/>
        </p:nvSpPr>
        <p:spPr>
          <a:xfrm>
            <a:off x="6419088" y="3639312"/>
            <a:ext cx="1060704" cy="237744"/>
          </a:xfrm>
          <a:prstGeom prst="roundRect">
            <a:avLst>
              <a:gd name="adj" fmla="val 19231"/>
            </a:avLst>
          </a:prstGeom>
          <a:solidFill>
            <a:srgbClr val="DCEFE6"/>
          </a:solidFill>
          <a:ln w="12700">
            <a:solidFill>
              <a:srgbClr val="333333"/>
            </a:solidFill>
            <a:prstDash val="solid"/>
          </a:ln>
        </p:spPr>
      </p:sp>
      <p:sp>
        <p:nvSpPr>
          <p:cNvPr id="25" name="Text 23"/>
          <p:cNvSpPr/>
          <p:nvPr/>
        </p:nvSpPr>
        <p:spPr>
          <a:xfrm>
            <a:off x="6419088" y="3639312"/>
            <a:ext cx="1060704" cy="237744"/>
          </a:xfrm>
          <a:prstGeom prst="rect">
            <a:avLst/>
          </a:prstGeom>
          <a:noFill/>
          <a:ln/>
        </p:spPr>
        <p:txBody>
          <a:bodyPr wrap="square" lIns="0" tIns="0" rIns="0" bIns="0" rtlCol="0" anchor="ctr"/>
          <a:lstStyle/>
          <a:p>
            <a:pPr algn="ctr" indent="0" marL="0">
              <a:buNone/>
            </a:pPr>
            <a:r>
              <a:rPr lang="en-US" sz="900" dirty="0">
                <a:solidFill>
                  <a:srgbClr val="0B6E4F"/>
                </a:solidFill>
                <a:latin typeface="Consolas" pitchFamily="34" charset="0"/>
                <a:ea typeface="Consolas" pitchFamily="34" charset="-122"/>
                <a:cs typeface="Consolas" pitchFamily="34" charset="-120"/>
              </a:rPr>
              <a:t>Worker CPU</a:t>
            </a:r>
            <a:endParaRPr lang="en-US" sz="900" dirty="0"/>
          </a:p>
        </p:txBody>
      </p:sp>
      <p:sp>
        <p:nvSpPr>
          <p:cNvPr id="26" name="Text 24"/>
          <p:cNvSpPr/>
          <p:nvPr/>
        </p:nvSpPr>
        <p:spPr>
          <a:xfrm>
            <a:off x="6419088" y="3986784"/>
            <a:ext cx="49469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Minero de respaldo</a:t>
            </a:r>
            <a:endParaRPr lang="en-US" sz="1250" dirty="0"/>
          </a:p>
        </p:txBody>
      </p:sp>
      <p:sp>
        <p:nvSpPr>
          <p:cNvPr id="27" name="Text 25"/>
          <p:cNvSpPr/>
          <p:nvPr/>
        </p:nvSpPr>
        <p:spPr>
          <a:xfrm>
            <a:off x="6419088" y="4297680"/>
            <a:ext cx="4946904" cy="64008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Mismo contrato, cómputo en Python puro. Arranca apagado y solo se levanta cuando la GPU desaparece.</a:t>
            </a:r>
            <a:endParaRPr lang="en-US" sz="1000" dirty="0"/>
          </a:p>
        </p:txBody>
      </p:sp>
      <p:sp>
        <p:nvSpPr>
          <p:cNvPr id="28" name="Shape 26"/>
          <p:cNvSpPr/>
          <p:nvPr/>
        </p:nvSpPr>
        <p:spPr>
          <a:xfrm>
            <a:off x="594360" y="5212080"/>
            <a:ext cx="5349240" cy="685800"/>
          </a:xfrm>
          <a:prstGeom prst="roundRect">
            <a:avLst>
              <a:gd name="adj" fmla="val 8000"/>
            </a:avLst>
          </a:prstGeom>
          <a:solidFill>
            <a:srgbClr val="F0F3F6"/>
          </a:solidFill>
          <a:ln w="12700">
            <a:solidFill>
              <a:srgbClr val="333333"/>
            </a:solidFill>
            <a:prstDash val="solid"/>
          </a:ln>
        </p:spPr>
      </p:sp>
      <p:sp>
        <p:nvSpPr>
          <p:cNvPr id="29" name="Text 27"/>
          <p:cNvSpPr/>
          <p:nvPr/>
        </p:nvSpPr>
        <p:spPr>
          <a:xfrm>
            <a:off x="822960" y="5340096"/>
            <a:ext cx="4892040" cy="429768"/>
          </a:xfrm>
          <a:prstGeom prst="rect">
            <a:avLst/>
          </a:prstGeom>
          <a:noFill/>
          <a:ln/>
        </p:spPr>
        <p:txBody>
          <a:bodyPr wrap="square" lIns="0" tIns="0" rIns="0" bIns="0" rtlCol="0" anchor="t"/>
          <a:lstStyle/>
          <a:p>
            <a:pPr indent="0" marL="0">
              <a:lnSpc>
                <a:spcPct val="118000"/>
              </a:lnSpc>
              <a:buNone/>
            </a:pPr>
            <a:r>
              <a:rPr lang="en-US" sz="1000" b="1" dirty="0">
                <a:solidFill>
                  <a:srgbClr val="10202F"/>
                </a:solidFill>
                <a:latin typeface="Calibri" pitchFamily="34" charset="0"/>
                <a:ea typeface="Calibri" pitchFamily="34" charset="-122"/>
                <a:cs typeface="Calibri" pitchFamily="34" charset="-120"/>
              </a:rPr>
              <a:t>Redis </a:t>
            </a:r>
            <a:pPr indent="0" marL="0">
              <a:lnSpc>
                <a:spcPct val="118000"/>
              </a:lnSpc>
              <a:buNone/>
            </a:pPr>
            <a:r>
              <a:rPr lang="en-US" sz="1000" dirty="0">
                <a:solidFill>
                  <a:srgbClr val="5B6B7B"/>
                </a:solidFill>
                <a:latin typeface="Calibri" pitchFamily="34" charset="0"/>
                <a:ea typeface="Calibri" pitchFamily="34" charset="-122"/>
                <a:cs typeface="Calibri" pitchFamily="34" charset="-120"/>
              </a:rPr>
              <a:t>guarda el estado: la cadena, las pendientes, la propiedad, los latidos y el lock de minado.</a:t>
            </a:r>
            <a:endParaRPr lang="en-US" sz="1000" dirty="0"/>
          </a:p>
        </p:txBody>
      </p:sp>
      <p:sp>
        <p:nvSpPr>
          <p:cNvPr id="30" name="Shape 28"/>
          <p:cNvSpPr/>
          <p:nvPr/>
        </p:nvSpPr>
        <p:spPr>
          <a:xfrm>
            <a:off x="6217920" y="5212080"/>
            <a:ext cx="5349240" cy="685800"/>
          </a:xfrm>
          <a:prstGeom prst="roundRect">
            <a:avLst>
              <a:gd name="adj" fmla="val 8000"/>
            </a:avLst>
          </a:prstGeom>
          <a:solidFill>
            <a:srgbClr val="F0F3F6"/>
          </a:solidFill>
          <a:ln w="12700">
            <a:solidFill>
              <a:srgbClr val="333333"/>
            </a:solidFill>
            <a:prstDash val="solid"/>
          </a:ln>
        </p:spPr>
      </p:sp>
      <p:sp>
        <p:nvSpPr>
          <p:cNvPr id="31" name="Text 29"/>
          <p:cNvSpPr/>
          <p:nvPr/>
        </p:nvSpPr>
        <p:spPr>
          <a:xfrm>
            <a:off x="6446520" y="5340096"/>
            <a:ext cx="4892040" cy="429768"/>
          </a:xfrm>
          <a:prstGeom prst="rect">
            <a:avLst/>
          </a:prstGeom>
          <a:noFill/>
          <a:ln/>
        </p:spPr>
        <p:txBody>
          <a:bodyPr wrap="square" lIns="0" tIns="0" rIns="0" bIns="0" rtlCol="0" anchor="t"/>
          <a:lstStyle/>
          <a:p>
            <a:pPr indent="0" marL="0">
              <a:lnSpc>
                <a:spcPct val="118000"/>
              </a:lnSpc>
              <a:buNone/>
            </a:pPr>
            <a:r>
              <a:rPr lang="en-US" sz="1000" b="1" dirty="0">
                <a:solidFill>
                  <a:srgbClr val="10202F"/>
                </a:solidFill>
                <a:latin typeface="Calibri" pitchFamily="34" charset="0"/>
                <a:ea typeface="Calibri" pitchFamily="34" charset="-122"/>
                <a:cs typeface="Calibri" pitchFamily="34" charset="-120"/>
              </a:rPr>
              <a:t>RabbitMQ </a:t>
            </a:r>
            <a:pPr indent="0" marL="0">
              <a:lnSpc>
                <a:spcPct val="118000"/>
              </a:lnSpc>
              <a:buNone/>
            </a:pPr>
            <a:r>
              <a:rPr lang="en-US" sz="1000" dirty="0">
                <a:solidFill>
                  <a:srgbClr val="5B6B7B"/>
                </a:solidFill>
                <a:latin typeface="Calibri" pitchFamily="34" charset="0"/>
                <a:ea typeface="Calibri" pitchFamily="34" charset="-122"/>
                <a:cs typeface="Calibri" pitchFamily="34" charset="-120"/>
              </a:rPr>
              <a:t>transporta el trabajo: cuatro colas que desacoplan productores de consumidores.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2 · BLOCKCHAIN</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8 / 30</a:t>
            </a:r>
            <a:endParaRPr lang="en-US" sz="900" dirty="0"/>
          </a:p>
        </p:txBody>
      </p:sp>
      <p:sp>
        <p:nvSpPr>
          <p:cNvPr id="5" name="Shape 3"/>
          <p:cNvSpPr/>
          <p:nvPr/>
        </p:nvSpPr>
        <p:spPr>
          <a:xfrm>
            <a:off x="0" y="6803136"/>
            <a:ext cx="3243072"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2 · FLUJO</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Qué pasa cuando se emiten entradas</a:t>
            </a:r>
            <a:endParaRPr lang="en-US" sz="2700" dirty="0"/>
          </a:p>
        </p:txBody>
      </p:sp>
      <p:sp>
        <p:nvSpPr>
          <p:cNvPr id="8" name="Shape 6"/>
          <p:cNvSpPr/>
          <p:nvPr/>
        </p:nvSpPr>
        <p:spPr>
          <a:xfrm>
            <a:off x="594360" y="1572768"/>
            <a:ext cx="1615440" cy="1463040"/>
          </a:xfrm>
          <a:prstGeom prst="roundRect">
            <a:avLst>
              <a:gd name="adj" fmla="val 3750"/>
            </a:avLst>
          </a:prstGeom>
          <a:solidFill>
            <a:srgbClr val="F0F3F6"/>
          </a:solidFill>
          <a:ln w="12700">
            <a:solidFill>
              <a:srgbClr val="333333"/>
            </a:solidFill>
            <a:prstDash val="solid"/>
          </a:ln>
        </p:spPr>
      </p:sp>
      <p:sp>
        <p:nvSpPr>
          <p:cNvPr id="9" name="Text 7"/>
          <p:cNvSpPr/>
          <p:nvPr/>
        </p:nvSpPr>
        <p:spPr>
          <a:xfrm>
            <a:off x="740664" y="1691640"/>
            <a:ext cx="1322832"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1</a:t>
            </a:r>
            <a:endParaRPr lang="en-US" sz="900" dirty="0"/>
          </a:p>
        </p:txBody>
      </p:sp>
      <p:sp>
        <p:nvSpPr>
          <p:cNvPr id="10" name="Text 8"/>
          <p:cNvSpPr/>
          <p:nvPr/>
        </p:nvSpPr>
        <p:spPr>
          <a:xfrm>
            <a:off x="740664" y="1901952"/>
            <a:ext cx="1322832"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La app firma</a:t>
            </a:r>
            <a:endParaRPr lang="en-US" sz="1050" dirty="0"/>
          </a:p>
        </p:txBody>
      </p:sp>
      <p:sp>
        <p:nvSpPr>
          <p:cNvPr id="11" name="Text 9"/>
          <p:cNvSpPr/>
          <p:nvPr/>
        </p:nvSpPr>
        <p:spPr>
          <a:xfrm>
            <a:off x="740664" y="2176272"/>
            <a:ext cx="1322832" cy="73152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El organizador firma la emisión en el navegador.</a:t>
            </a:r>
            <a:endParaRPr lang="en-US" sz="900" dirty="0"/>
          </a:p>
        </p:txBody>
      </p:sp>
      <p:sp>
        <p:nvSpPr>
          <p:cNvPr id="12" name="Text 10"/>
          <p:cNvSpPr/>
          <p:nvPr/>
        </p:nvSpPr>
        <p:spPr>
          <a:xfrm>
            <a:off x="2209800" y="1572768"/>
            <a:ext cx="256032" cy="146304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2465832" y="1572768"/>
            <a:ext cx="1615440" cy="1463040"/>
          </a:xfrm>
          <a:prstGeom prst="roundRect">
            <a:avLst>
              <a:gd name="adj" fmla="val 3750"/>
            </a:avLst>
          </a:prstGeom>
          <a:solidFill>
            <a:srgbClr val="F0F3F6"/>
          </a:solidFill>
          <a:ln w="12700">
            <a:solidFill>
              <a:srgbClr val="333333"/>
            </a:solidFill>
            <a:prstDash val="solid"/>
          </a:ln>
        </p:spPr>
      </p:sp>
      <p:sp>
        <p:nvSpPr>
          <p:cNvPr id="14" name="Text 12"/>
          <p:cNvSpPr/>
          <p:nvPr/>
        </p:nvSpPr>
        <p:spPr>
          <a:xfrm>
            <a:off x="2612136" y="1691640"/>
            <a:ext cx="1322832"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2</a:t>
            </a:r>
            <a:endParaRPr lang="en-US" sz="900" dirty="0"/>
          </a:p>
        </p:txBody>
      </p:sp>
      <p:sp>
        <p:nvSpPr>
          <p:cNvPr id="15" name="Text 13"/>
          <p:cNvSpPr/>
          <p:nvPr/>
        </p:nvSpPr>
        <p:spPr>
          <a:xfrm>
            <a:off x="2612136" y="1901952"/>
            <a:ext cx="1322832"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El NCT verifica</a:t>
            </a:r>
            <a:endParaRPr lang="en-US" sz="1050" dirty="0"/>
          </a:p>
        </p:txBody>
      </p:sp>
      <p:sp>
        <p:nvSpPr>
          <p:cNvPr id="16" name="Text 14"/>
          <p:cNvSpPr/>
          <p:nvPr/>
        </p:nvSpPr>
        <p:spPr>
          <a:xfrm>
            <a:off x="2612136" y="2176272"/>
            <a:ext cx="1322832" cy="73152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Comprueba la firma y encola la transacción.</a:t>
            </a:r>
            <a:endParaRPr lang="en-US" sz="900" dirty="0"/>
          </a:p>
        </p:txBody>
      </p:sp>
      <p:sp>
        <p:nvSpPr>
          <p:cNvPr id="17" name="Text 15"/>
          <p:cNvSpPr/>
          <p:nvPr/>
        </p:nvSpPr>
        <p:spPr>
          <a:xfrm>
            <a:off x="4081272" y="1572768"/>
            <a:ext cx="256032" cy="146304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4337304" y="1572768"/>
            <a:ext cx="1615440" cy="1463040"/>
          </a:xfrm>
          <a:prstGeom prst="roundRect">
            <a:avLst>
              <a:gd name="adj" fmla="val 3750"/>
            </a:avLst>
          </a:prstGeom>
          <a:solidFill>
            <a:srgbClr val="F0F3F6"/>
          </a:solidFill>
          <a:ln w="12700">
            <a:solidFill>
              <a:srgbClr val="333333"/>
            </a:solidFill>
            <a:prstDash val="solid"/>
          </a:ln>
        </p:spPr>
      </p:sp>
      <p:sp>
        <p:nvSpPr>
          <p:cNvPr id="19" name="Text 17"/>
          <p:cNvSpPr/>
          <p:nvPr/>
        </p:nvSpPr>
        <p:spPr>
          <a:xfrm>
            <a:off x="4483608" y="1691640"/>
            <a:ext cx="1322832"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3</a:t>
            </a:r>
            <a:endParaRPr lang="en-US" sz="900" dirty="0"/>
          </a:p>
        </p:txBody>
      </p:sp>
      <p:sp>
        <p:nvSpPr>
          <p:cNvPr id="20" name="Text 18"/>
          <p:cNvSpPr/>
          <p:nvPr/>
        </p:nvSpPr>
        <p:spPr>
          <a:xfrm>
            <a:off x="4483608" y="1901952"/>
            <a:ext cx="1322832"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Arma el bloque</a:t>
            </a:r>
            <a:endParaRPr lang="en-US" sz="1050" dirty="0"/>
          </a:p>
        </p:txBody>
      </p:sp>
      <p:sp>
        <p:nvSpPr>
          <p:cNvPr id="21" name="Text 19"/>
          <p:cNvSpPr/>
          <p:nvPr/>
        </p:nvSpPr>
        <p:spPr>
          <a:xfrm>
            <a:off x="4483608" y="2176272"/>
            <a:ext cx="1322832" cy="73152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Junta las pendientes y publica la tarea de minado.</a:t>
            </a:r>
            <a:endParaRPr lang="en-US" sz="900" dirty="0"/>
          </a:p>
        </p:txBody>
      </p:sp>
      <p:sp>
        <p:nvSpPr>
          <p:cNvPr id="22" name="Text 20"/>
          <p:cNvSpPr/>
          <p:nvPr/>
        </p:nvSpPr>
        <p:spPr>
          <a:xfrm>
            <a:off x="5952744" y="1572768"/>
            <a:ext cx="256032" cy="146304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6208776" y="1572768"/>
            <a:ext cx="1615440" cy="1463040"/>
          </a:xfrm>
          <a:prstGeom prst="roundRect">
            <a:avLst>
              <a:gd name="adj" fmla="val 3750"/>
            </a:avLst>
          </a:prstGeom>
          <a:solidFill>
            <a:srgbClr val="F0F3F6"/>
          </a:solidFill>
          <a:ln w="12700">
            <a:solidFill>
              <a:srgbClr val="333333"/>
            </a:solidFill>
            <a:prstDash val="solid"/>
          </a:ln>
        </p:spPr>
      </p:sp>
      <p:sp>
        <p:nvSpPr>
          <p:cNvPr id="24" name="Text 22"/>
          <p:cNvSpPr/>
          <p:nvPr/>
        </p:nvSpPr>
        <p:spPr>
          <a:xfrm>
            <a:off x="6355080" y="1691640"/>
            <a:ext cx="1322832"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4</a:t>
            </a:r>
            <a:endParaRPr lang="en-US" sz="900" dirty="0"/>
          </a:p>
        </p:txBody>
      </p:sp>
      <p:sp>
        <p:nvSpPr>
          <p:cNvPr id="25" name="Text 23"/>
          <p:cNvSpPr/>
          <p:nvPr/>
        </p:nvSpPr>
        <p:spPr>
          <a:xfrm>
            <a:off x="6355080" y="1901952"/>
            <a:ext cx="1322832"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El TrP reparte</a:t>
            </a:r>
            <a:endParaRPr lang="en-US" sz="1050" dirty="0"/>
          </a:p>
        </p:txBody>
      </p:sp>
      <p:sp>
        <p:nvSpPr>
          <p:cNvPr id="26" name="Text 24"/>
          <p:cNvSpPr/>
          <p:nvPr/>
        </p:nvSpPr>
        <p:spPr>
          <a:xfrm>
            <a:off x="6355080" y="2176272"/>
            <a:ext cx="1322832" cy="73152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Divide el espacio en fragmentos y los publica.</a:t>
            </a:r>
            <a:endParaRPr lang="en-US" sz="900" dirty="0"/>
          </a:p>
        </p:txBody>
      </p:sp>
      <p:sp>
        <p:nvSpPr>
          <p:cNvPr id="27" name="Text 25"/>
          <p:cNvSpPr/>
          <p:nvPr/>
        </p:nvSpPr>
        <p:spPr>
          <a:xfrm>
            <a:off x="7824216" y="1572768"/>
            <a:ext cx="256032" cy="146304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8080248" y="1572768"/>
            <a:ext cx="1615440" cy="1463040"/>
          </a:xfrm>
          <a:prstGeom prst="roundRect">
            <a:avLst>
              <a:gd name="adj" fmla="val 3750"/>
            </a:avLst>
          </a:prstGeom>
          <a:solidFill>
            <a:srgbClr val="F0F3F6"/>
          </a:solidFill>
          <a:ln w="12700">
            <a:solidFill>
              <a:srgbClr val="333333"/>
            </a:solidFill>
            <a:prstDash val="solid"/>
          </a:ln>
        </p:spPr>
      </p:sp>
      <p:sp>
        <p:nvSpPr>
          <p:cNvPr id="29" name="Text 27"/>
          <p:cNvSpPr/>
          <p:nvPr/>
        </p:nvSpPr>
        <p:spPr>
          <a:xfrm>
            <a:off x="8226552" y="1691640"/>
            <a:ext cx="1322832"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5</a:t>
            </a:r>
            <a:endParaRPr lang="en-US" sz="900" dirty="0"/>
          </a:p>
        </p:txBody>
      </p:sp>
      <p:sp>
        <p:nvSpPr>
          <p:cNvPr id="30" name="Text 28"/>
          <p:cNvSpPr/>
          <p:nvPr/>
        </p:nvSpPr>
        <p:spPr>
          <a:xfrm>
            <a:off x="8226552" y="1901952"/>
            <a:ext cx="1322832"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Los mineros minan</a:t>
            </a:r>
            <a:endParaRPr lang="en-US" sz="1050" dirty="0"/>
          </a:p>
        </p:txBody>
      </p:sp>
      <p:sp>
        <p:nvSpPr>
          <p:cNvPr id="31" name="Text 29"/>
          <p:cNvSpPr/>
          <p:nvPr/>
        </p:nvSpPr>
        <p:spPr>
          <a:xfrm>
            <a:off x="8226552" y="2176272"/>
            <a:ext cx="1322832" cy="73152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Cada uno barre su fragmento buscando el prefijo.</a:t>
            </a:r>
            <a:endParaRPr lang="en-US" sz="900" dirty="0"/>
          </a:p>
        </p:txBody>
      </p:sp>
      <p:sp>
        <p:nvSpPr>
          <p:cNvPr id="32" name="Text 30"/>
          <p:cNvSpPr/>
          <p:nvPr/>
        </p:nvSpPr>
        <p:spPr>
          <a:xfrm>
            <a:off x="9695688" y="1572768"/>
            <a:ext cx="256032" cy="146304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33" name="Shape 31"/>
          <p:cNvSpPr/>
          <p:nvPr/>
        </p:nvSpPr>
        <p:spPr>
          <a:xfrm>
            <a:off x="9951720" y="1572768"/>
            <a:ext cx="1615440" cy="1463040"/>
          </a:xfrm>
          <a:prstGeom prst="roundRect">
            <a:avLst>
              <a:gd name="adj" fmla="val 3750"/>
            </a:avLst>
          </a:prstGeom>
          <a:solidFill>
            <a:srgbClr val="DCEFE6"/>
          </a:solidFill>
          <a:ln w="12700">
            <a:solidFill>
              <a:srgbClr val="333333"/>
            </a:solidFill>
            <a:prstDash val="solid"/>
          </a:ln>
        </p:spPr>
      </p:sp>
      <p:sp>
        <p:nvSpPr>
          <p:cNvPr id="34" name="Text 32"/>
          <p:cNvSpPr/>
          <p:nvPr/>
        </p:nvSpPr>
        <p:spPr>
          <a:xfrm>
            <a:off x="10098024" y="1691640"/>
            <a:ext cx="1322832"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6</a:t>
            </a:r>
            <a:endParaRPr lang="en-US" sz="900" dirty="0"/>
          </a:p>
        </p:txBody>
      </p:sp>
      <p:sp>
        <p:nvSpPr>
          <p:cNvPr id="35" name="Text 33"/>
          <p:cNvSpPr/>
          <p:nvPr/>
        </p:nvSpPr>
        <p:spPr>
          <a:xfrm>
            <a:off x="10098024" y="1901952"/>
            <a:ext cx="1322832"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Se confirma</a:t>
            </a:r>
            <a:endParaRPr lang="en-US" sz="1050" dirty="0"/>
          </a:p>
        </p:txBody>
      </p:sp>
      <p:sp>
        <p:nvSpPr>
          <p:cNvPr id="36" name="Text 34"/>
          <p:cNvSpPr/>
          <p:nvPr/>
        </p:nvSpPr>
        <p:spPr>
          <a:xfrm>
            <a:off x="10098024" y="2176272"/>
            <a:ext cx="1322832" cy="73152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El NCT revalida, guarda y aplica los efectos.</a:t>
            </a:r>
            <a:endParaRPr lang="en-US" sz="900" dirty="0"/>
          </a:p>
        </p:txBody>
      </p:sp>
      <p:sp>
        <p:nvSpPr>
          <p:cNvPr id="37" name="Shape 35"/>
          <p:cNvSpPr/>
          <p:nvPr/>
        </p:nvSpPr>
        <p:spPr>
          <a:xfrm>
            <a:off x="594360" y="3337560"/>
            <a:ext cx="5349240" cy="1417320"/>
          </a:xfrm>
          <a:prstGeom prst="roundRect">
            <a:avLst>
              <a:gd name="adj" fmla="val 3871"/>
            </a:avLst>
          </a:prstGeom>
          <a:solidFill>
            <a:srgbClr val="DCEFE6"/>
          </a:solidFill>
          <a:ln w="12700">
            <a:solidFill>
              <a:srgbClr val="333333"/>
            </a:solidFill>
            <a:prstDash val="solid"/>
          </a:ln>
        </p:spPr>
      </p:sp>
      <p:sp>
        <p:nvSpPr>
          <p:cNvPr id="38" name="Text 36"/>
          <p:cNvSpPr/>
          <p:nvPr/>
        </p:nvSpPr>
        <p:spPr>
          <a:xfrm>
            <a:off x="822960" y="3465576"/>
            <a:ext cx="4892040" cy="116128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El NCT nunca confía en el minero.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Recalcula el hash por su cuenta y verifica que cumpla la dificultad antes de aceptar la solución. Un worker que mienta ve su respuesta descartada.</a:t>
            </a:r>
            <a:endParaRPr lang="en-US" sz="1050" dirty="0"/>
          </a:p>
        </p:txBody>
      </p:sp>
      <p:sp>
        <p:nvSpPr>
          <p:cNvPr id="39" name="Shape 37"/>
          <p:cNvSpPr/>
          <p:nvPr/>
        </p:nvSpPr>
        <p:spPr>
          <a:xfrm>
            <a:off x="6217920" y="3337560"/>
            <a:ext cx="5349240" cy="1417320"/>
          </a:xfrm>
          <a:prstGeom prst="roundRect">
            <a:avLst>
              <a:gd name="adj" fmla="val 3871"/>
            </a:avLst>
          </a:prstGeom>
          <a:solidFill>
            <a:srgbClr val="F0F3F6"/>
          </a:solidFill>
          <a:ln w="12700">
            <a:solidFill>
              <a:srgbClr val="333333"/>
            </a:solidFill>
            <a:prstDash val="solid"/>
          </a:ln>
        </p:spPr>
      </p:sp>
      <p:sp>
        <p:nvSpPr>
          <p:cNvPr id="40" name="Text 38"/>
          <p:cNvSpPr/>
          <p:nvPr/>
        </p:nvSpPr>
        <p:spPr>
          <a:xfrm>
            <a:off x="6446520" y="3465576"/>
            <a:ext cx="4892040" cy="1161288"/>
          </a:xfrm>
          <a:prstGeom prst="rect">
            <a:avLst/>
          </a:prstGeom>
          <a:noFill/>
          <a:ln/>
        </p:spPr>
        <p:txBody>
          <a:bodyPr wrap="square" lIns="0" tIns="0" rIns="0" bIns="0" rtlCol="0" anchor="t"/>
          <a:lstStyle/>
          <a:p>
            <a:pPr indent="0" marL="0">
              <a:lnSpc>
                <a:spcPct val="118000"/>
              </a:lnSpc>
              <a:buNone/>
            </a:pPr>
            <a:r>
              <a:rPr lang="en-US" sz="1050" b="1" dirty="0">
                <a:solidFill>
                  <a:srgbClr val="10202F"/>
                </a:solidFill>
                <a:latin typeface="Calibri" pitchFamily="34" charset="0"/>
                <a:ea typeface="Calibri" pitchFamily="34" charset="-122"/>
                <a:cs typeface="Calibri" pitchFamily="34" charset="-120"/>
              </a:rPr>
              <a:t>Las transacciones se confirman por bloque, no de a una.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Todas las que entran en el mismo bloque se resuelven juntas — un detalle que resultó importante al interpretar las mediciones.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2 · BLOCKCHAIN</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9 / 30</a:t>
            </a:r>
            <a:endParaRPr lang="en-US" sz="900" dirty="0"/>
          </a:p>
        </p:txBody>
      </p:sp>
      <p:sp>
        <p:nvSpPr>
          <p:cNvPr id="5" name="Shape 3"/>
          <p:cNvSpPr/>
          <p:nvPr/>
        </p:nvSpPr>
        <p:spPr>
          <a:xfrm>
            <a:off x="0" y="6803136"/>
            <a:ext cx="3648456"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2 · COMUNICACIÓN Y ESTADO</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Las cuatro colas y las claves que sostienen todo</a:t>
            </a:r>
            <a:endParaRPr lang="en-US" sz="2700" dirty="0"/>
          </a:p>
        </p:txBody>
      </p:sp>
      <p:sp>
        <p:nvSpPr>
          <p:cNvPr id="8" name="Text 6"/>
          <p:cNvSpPr/>
          <p:nvPr/>
        </p:nvSpPr>
        <p:spPr>
          <a:xfrm>
            <a:off x="594360" y="1554480"/>
            <a:ext cx="512064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Colas de RabbitMQ</a:t>
            </a:r>
            <a:endParaRPr lang="en-US" sz="1250" dirty="0"/>
          </a:p>
        </p:txBody>
      </p:sp>
      <p:sp>
        <p:nvSpPr>
          <p:cNvPr id="9" name="Text 7"/>
          <p:cNvSpPr/>
          <p:nvPr/>
        </p:nvSpPr>
        <p:spPr>
          <a:xfrm>
            <a:off x="594360" y="1901952"/>
            <a:ext cx="182880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tareas_pool</a:t>
            </a:r>
            <a:endParaRPr lang="en-US" sz="950" dirty="0"/>
          </a:p>
        </p:txBody>
      </p:sp>
      <p:sp>
        <p:nvSpPr>
          <p:cNvPr id="10" name="Text 8"/>
          <p:cNvSpPr/>
          <p:nvPr/>
        </p:nvSpPr>
        <p:spPr>
          <a:xfrm>
            <a:off x="2532888" y="1901952"/>
            <a:ext cx="318211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NCT → TrP · el bloque a minar</a:t>
            </a:r>
            <a:endParaRPr lang="en-US" sz="1000" dirty="0"/>
          </a:p>
        </p:txBody>
      </p:sp>
      <p:sp>
        <p:nvSpPr>
          <p:cNvPr id="11" name="Shape 9"/>
          <p:cNvSpPr/>
          <p:nvPr/>
        </p:nvSpPr>
        <p:spPr>
          <a:xfrm>
            <a:off x="594360" y="2203704"/>
            <a:ext cx="5120640" cy="7315"/>
          </a:xfrm>
          <a:prstGeom prst="rect">
            <a:avLst/>
          </a:prstGeom>
          <a:solidFill>
            <a:srgbClr val="DDE3E9"/>
          </a:solidFill>
          <a:ln w="12700">
            <a:solidFill>
              <a:srgbClr val="333333"/>
            </a:solidFill>
            <a:prstDash val="solid"/>
          </a:ln>
        </p:spPr>
      </p:sp>
      <p:sp>
        <p:nvSpPr>
          <p:cNvPr id="12" name="Text 10"/>
          <p:cNvSpPr/>
          <p:nvPr/>
        </p:nvSpPr>
        <p:spPr>
          <a:xfrm>
            <a:off x="594360" y="2212848"/>
            <a:ext cx="182880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tareas</a:t>
            </a:r>
            <a:endParaRPr lang="en-US" sz="950" dirty="0"/>
          </a:p>
        </p:txBody>
      </p:sp>
      <p:sp>
        <p:nvSpPr>
          <p:cNvPr id="13" name="Text 11"/>
          <p:cNvSpPr/>
          <p:nvPr/>
        </p:nvSpPr>
        <p:spPr>
          <a:xfrm>
            <a:off x="2532888" y="2212848"/>
            <a:ext cx="318211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TrP → mineros · cada fragmento</a:t>
            </a:r>
            <a:endParaRPr lang="en-US" sz="1000" dirty="0"/>
          </a:p>
        </p:txBody>
      </p:sp>
      <p:sp>
        <p:nvSpPr>
          <p:cNvPr id="14" name="Shape 12"/>
          <p:cNvSpPr/>
          <p:nvPr/>
        </p:nvSpPr>
        <p:spPr>
          <a:xfrm>
            <a:off x="594360" y="2514600"/>
            <a:ext cx="5120640" cy="7315"/>
          </a:xfrm>
          <a:prstGeom prst="rect">
            <a:avLst/>
          </a:prstGeom>
          <a:solidFill>
            <a:srgbClr val="DDE3E9"/>
          </a:solidFill>
          <a:ln w="12700">
            <a:solidFill>
              <a:srgbClr val="333333"/>
            </a:solidFill>
            <a:prstDash val="solid"/>
          </a:ln>
        </p:spPr>
      </p:sp>
      <p:sp>
        <p:nvSpPr>
          <p:cNvPr id="15" name="Text 13"/>
          <p:cNvSpPr/>
          <p:nvPr/>
        </p:nvSpPr>
        <p:spPr>
          <a:xfrm>
            <a:off x="594360" y="2523744"/>
            <a:ext cx="182880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soluciones</a:t>
            </a:r>
            <a:endParaRPr lang="en-US" sz="950" dirty="0"/>
          </a:p>
        </p:txBody>
      </p:sp>
      <p:sp>
        <p:nvSpPr>
          <p:cNvPr id="16" name="Text 14"/>
          <p:cNvSpPr/>
          <p:nvPr/>
        </p:nvSpPr>
        <p:spPr>
          <a:xfrm>
            <a:off x="2532888" y="2523744"/>
            <a:ext cx="318211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mineros → NCT · el nonce hallado</a:t>
            </a:r>
            <a:endParaRPr lang="en-US" sz="1000" dirty="0"/>
          </a:p>
        </p:txBody>
      </p:sp>
      <p:sp>
        <p:nvSpPr>
          <p:cNvPr id="17" name="Shape 15"/>
          <p:cNvSpPr/>
          <p:nvPr/>
        </p:nvSpPr>
        <p:spPr>
          <a:xfrm>
            <a:off x="594360" y="2825496"/>
            <a:ext cx="5120640" cy="7315"/>
          </a:xfrm>
          <a:prstGeom prst="rect">
            <a:avLst/>
          </a:prstGeom>
          <a:solidFill>
            <a:srgbClr val="DDE3E9"/>
          </a:solidFill>
          <a:ln w="12700">
            <a:solidFill>
              <a:srgbClr val="333333"/>
            </a:solidFill>
            <a:prstDash val="solid"/>
          </a:ln>
        </p:spPr>
      </p:sp>
      <p:sp>
        <p:nvSpPr>
          <p:cNvPr id="18" name="Text 16"/>
          <p:cNvSpPr/>
          <p:nvPr/>
        </p:nvSpPr>
        <p:spPr>
          <a:xfrm>
            <a:off x="594360" y="2834640"/>
            <a:ext cx="182880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heartbeat_gpu</a:t>
            </a:r>
            <a:endParaRPr lang="en-US" sz="950" dirty="0"/>
          </a:p>
        </p:txBody>
      </p:sp>
      <p:sp>
        <p:nvSpPr>
          <p:cNvPr id="19" name="Text 17"/>
          <p:cNvSpPr/>
          <p:nvPr/>
        </p:nvSpPr>
        <p:spPr>
          <a:xfrm>
            <a:off x="2532888" y="2834640"/>
            <a:ext cx="318211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GPU → TrP · latido cada 10 s</a:t>
            </a:r>
            <a:endParaRPr lang="en-US" sz="1000" dirty="0"/>
          </a:p>
        </p:txBody>
      </p:sp>
      <p:sp>
        <p:nvSpPr>
          <p:cNvPr id="20" name="Shape 18"/>
          <p:cNvSpPr/>
          <p:nvPr/>
        </p:nvSpPr>
        <p:spPr>
          <a:xfrm>
            <a:off x="594360" y="3337560"/>
            <a:ext cx="5120640" cy="914400"/>
          </a:xfrm>
          <a:prstGeom prst="roundRect">
            <a:avLst>
              <a:gd name="adj" fmla="val 6000"/>
            </a:avLst>
          </a:prstGeom>
          <a:solidFill>
            <a:srgbClr val="F0F3F6"/>
          </a:solidFill>
          <a:ln w="12700">
            <a:solidFill>
              <a:srgbClr val="333333"/>
            </a:solidFill>
            <a:prstDash val="solid"/>
          </a:ln>
        </p:spPr>
      </p:sp>
      <p:sp>
        <p:nvSpPr>
          <p:cNvPr id="21" name="Text 19"/>
          <p:cNvSpPr/>
          <p:nvPr/>
        </p:nvSpPr>
        <p:spPr>
          <a:xfrm>
            <a:off x="822960" y="3465576"/>
            <a:ext cx="4663440" cy="658368"/>
          </a:xfrm>
          <a:prstGeom prst="rect">
            <a:avLst/>
          </a:prstGeom>
          <a:noFill/>
          <a:ln/>
        </p:spPr>
        <p:txBody>
          <a:bodyPr wrap="square" lIns="0" tIns="0" rIns="0" bIns="0" rtlCol="0" anchor="t"/>
          <a:lstStyle/>
          <a:p>
            <a:pPr indent="0" marL="0">
              <a:lnSpc>
                <a:spcPct val="118000"/>
              </a:lnSpc>
              <a:buNone/>
            </a:pPr>
            <a:r>
              <a:rPr lang="en-US" sz="1000" dirty="0">
                <a:solidFill>
                  <a:srgbClr val="5B6B7B"/>
                </a:solidFill>
                <a:latin typeface="Calibri" pitchFamily="34" charset="0"/>
                <a:ea typeface="Calibri" pitchFamily="34" charset="-122"/>
                <a:cs typeface="Calibri" pitchFamily="34" charset="-120"/>
              </a:rPr>
              <a:t>Todo el tráfico va cifrado: el broker solo escucha por TLS y no tiene puerto en texto plano, porque los mineros de GPU se conectan desde otro cluster.</a:t>
            </a:r>
            <a:endParaRPr lang="en-US" sz="1000" dirty="0"/>
          </a:p>
        </p:txBody>
      </p:sp>
      <p:sp>
        <p:nvSpPr>
          <p:cNvPr id="22" name="Text 20"/>
          <p:cNvSpPr/>
          <p:nvPr/>
        </p:nvSpPr>
        <p:spPr>
          <a:xfrm>
            <a:off x="6172200" y="1554480"/>
            <a:ext cx="539496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Estado en Redis</a:t>
            </a:r>
            <a:endParaRPr lang="en-US" sz="1250" dirty="0"/>
          </a:p>
        </p:txBody>
      </p:sp>
      <p:sp>
        <p:nvSpPr>
          <p:cNvPr id="23" name="Text 21"/>
          <p:cNvSpPr/>
          <p:nvPr/>
        </p:nvSpPr>
        <p:spPr>
          <a:xfrm>
            <a:off x="6172200" y="1901952"/>
            <a:ext cx="228600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blockchain</a:t>
            </a:r>
            <a:endParaRPr lang="en-US" sz="950" dirty="0"/>
          </a:p>
        </p:txBody>
      </p:sp>
      <p:sp>
        <p:nvSpPr>
          <p:cNvPr id="24" name="Text 22"/>
          <p:cNvSpPr/>
          <p:nvPr/>
        </p:nvSpPr>
        <p:spPr>
          <a:xfrm>
            <a:off x="8567928" y="1901952"/>
            <a:ext cx="299923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la cadena de bloques</a:t>
            </a:r>
            <a:endParaRPr lang="en-US" sz="1000" dirty="0"/>
          </a:p>
        </p:txBody>
      </p:sp>
      <p:sp>
        <p:nvSpPr>
          <p:cNvPr id="25" name="Shape 23"/>
          <p:cNvSpPr/>
          <p:nvPr/>
        </p:nvSpPr>
        <p:spPr>
          <a:xfrm>
            <a:off x="6172200" y="2203704"/>
            <a:ext cx="5394960" cy="7315"/>
          </a:xfrm>
          <a:prstGeom prst="rect">
            <a:avLst/>
          </a:prstGeom>
          <a:solidFill>
            <a:srgbClr val="DDE3E9"/>
          </a:solidFill>
          <a:ln w="12700">
            <a:solidFill>
              <a:srgbClr val="333333"/>
            </a:solidFill>
            <a:prstDash val="solid"/>
          </a:ln>
        </p:spPr>
      </p:sp>
      <p:sp>
        <p:nvSpPr>
          <p:cNvPr id="26" name="Text 24"/>
          <p:cNvSpPr/>
          <p:nvPr/>
        </p:nvSpPr>
        <p:spPr>
          <a:xfrm>
            <a:off x="6172200" y="2212848"/>
            <a:ext cx="228600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pending_transactions</a:t>
            </a:r>
            <a:endParaRPr lang="en-US" sz="950" dirty="0"/>
          </a:p>
        </p:txBody>
      </p:sp>
      <p:sp>
        <p:nvSpPr>
          <p:cNvPr id="27" name="Text 25"/>
          <p:cNvSpPr/>
          <p:nvPr/>
        </p:nvSpPr>
        <p:spPr>
          <a:xfrm>
            <a:off x="8567928" y="2212848"/>
            <a:ext cx="299923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esperando ser minadas</a:t>
            </a:r>
            <a:endParaRPr lang="en-US" sz="1000" dirty="0"/>
          </a:p>
        </p:txBody>
      </p:sp>
      <p:sp>
        <p:nvSpPr>
          <p:cNvPr id="28" name="Shape 26"/>
          <p:cNvSpPr/>
          <p:nvPr/>
        </p:nvSpPr>
        <p:spPr>
          <a:xfrm>
            <a:off x="6172200" y="2514600"/>
            <a:ext cx="5394960" cy="7315"/>
          </a:xfrm>
          <a:prstGeom prst="rect">
            <a:avLst/>
          </a:prstGeom>
          <a:solidFill>
            <a:srgbClr val="DDE3E9"/>
          </a:solidFill>
          <a:ln w="12700">
            <a:solidFill>
              <a:srgbClr val="333333"/>
            </a:solidFill>
            <a:prstDash val="solid"/>
          </a:ln>
        </p:spPr>
      </p:sp>
      <p:sp>
        <p:nvSpPr>
          <p:cNvPr id="29" name="Text 27"/>
          <p:cNvSpPr/>
          <p:nvPr/>
        </p:nvSpPr>
        <p:spPr>
          <a:xfrm>
            <a:off x="6172200" y="2523744"/>
            <a:ext cx="228600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ticket_owner:{id}</a:t>
            </a:r>
            <a:endParaRPr lang="en-US" sz="950" dirty="0"/>
          </a:p>
        </p:txBody>
      </p:sp>
      <p:sp>
        <p:nvSpPr>
          <p:cNvPr id="30" name="Text 28"/>
          <p:cNvSpPr/>
          <p:nvPr/>
        </p:nvSpPr>
        <p:spPr>
          <a:xfrm>
            <a:off x="8567928" y="2523744"/>
            <a:ext cx="299923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quién posee cada entrada</a:t>
            </a:r>
            <a:endParaRPr lang="en-US" sz="1000" dirty="0"/>
          </a:p>
        </p:txBody>
      </p:sp>
      <p:sp>
        <p:nvSpPr>
          <p:cNvPr id="31" name="Shape 29"/>
          <p:cNvSpPr/>
          <p:nvPr/>
        </p:nvSpPr>
        <p:spPr>
          <a:xfrm>
            <a:off x="6172200" y="2825496"/>
            <a:ext cx="5394960" cy="7315"/>
          </a:xfrm>
          <a:prstGeom prst="rect">
            <a:avLst/>
          </a:prstGeom>
          <a:solidFill>
            <a:srgbClr val="DDE3E9"/>
          </a:solidFill>
          <a:ln w="12700">
            <a:solidFill>
              <a:srgbClr val="333333"/>
            </a:solidFill>
            <a:prstDash val="solid"/>
          </a:ln>
        </p:spPr>
      </p:sp>
      <p:sp>
        <p:nvSpPr>
          <p:cNvPr id="32" name="Text 30"/>
          <p:cNvSpPr/>
          <p:nvPr/>
        </p:nvSpPr>
        <p:spPr>
          <a:xfrm>
            <a:off x="6172200" y="2834640"/>
            <a:ext cx="228600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minando</a:t>
            </a:r>
            <a:endParaRPr lang="en-US" sz="950" dirty="0"/>
          </a:p>
        </p:txBody>
      </p:sp>
      <p:sp>
        <p:nvSpPr>
          <p:cNvPr id="33" name="Text 31"/>
          <p:cNvSpPr/>
          <p:nvPr/>
        </p:nvSpPr>
        <p:spPr>
          <a:xfrm>
            <a:off x="8567928" y="2834640"/>
            <a:ext cx="299923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lock distribuido de minado</a:t>
            </a:r>
            <a:endParaRPr lang="en-US" sz="1000" dirty="0"/>
          </a:p>
        </p:txBody>
      </p:sp>
      <p:sp>
        <p:nvSpPr>
          <p:cNvPr id="34" name="Shape 32"/>
          <p:cNvSpPr/>
          <p:nvPr/>
        </p:nvSpPr>
        <p:spPr>
          <a:xfrm>
            <a:off x="6172200" y="3136392"/>
            <a:ext cx="5394960" cy="7315"/>
          </a:xfrm>
          <a:prstGeom prst="rect">
            <a:avLst/>
          </a:prstGeom>
          <a:solidFill>
            <a:srgbClr val="DDE3E9"/>
          </a:solidFill>
          <a:ln w="12700">
            <a:solidFill>
              <a:srgbClr val="333333"/>
            </a:solidFill>
            <a:prstDash val="solid"/>
          </a:ln>
        </p:spPr>
      </p:sp>
      <p:sp>
        <p:nvSpPr>
          <p:cNvPr id="35" name="Text 33"/>
          <p:cNvSpPr/>
          <p:nvPr/>
        </p:nvSpPr>
        <p:spPr>
          <a:xfrm>
            <a:off x="6172200" y="3145536"/>
            <a:ext cx="228600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heartbeat:{worker}</a:t>
            </a:r>
            <a:endParaRPr lang="en-US" sz="950" dirty="0"/>
          </a:p>
        </p:txBody>
      </p:sp>
      <p:sp>
        <p:nvSpPr>
          <p:cNvPr id="36" name="Text 34"/>
          <p:cNvSpPr/>
          <p:nvPr/>
        </p:nvSpPr>
        <p:spPr>
          <a:xfrm>
            <a:off x="8567928" y="3145536"/>
            <a:ext cx="299923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vitalidad, con expiración</a:t>
            </a:r>
            <a:endParaRPr lang="en-US" sz="1000" dirty="0"/>
          </a:p>
        </p:txBody>
      </p:sp>
      <p:sp>
        <p:nvSpPr>
          <p:cNvPr id="37" name="Shape 35"/>
          <p:cNvSpPr/>
          <p:nvPr/>
        </p:nvSpPr>
        <p:spPr>
          <a:xfrm>
            <a:off x="6172200" y="3657600"/>
            <a:ext cx="5394960" cy="658368"/>
          </a:xfrm>
          <a:prstGeom prst="roundRect">
            <a:avLst>
              <a:gd name="adj" fmla="val 8333"/>
            </a:avLst>
          </a:prstGeom>
          <a:solidFill>
            <a:srgbClr val="F0F3F6"/>
          </a:solidFill>
          <a:ln w="12700">
            <a:solidFill>
              <a:srgbClr val="333333"/>
            </a:solidFill>
            <a:prstDash val="solid"/>
          </a:ln>
        </p:spPr>
      </p:sp>
      <p:sp>
        <p:nvSpPr>
          <p:cNvPr id="38" name="Text 36"/>
          <p:cNvSpPr/>
          <p:nvPr/>
        </p:nvSpPr>
        <p:spPr>
          <a:xfrm>
            <a:off x="6400800" y="3785616"/>
            <a:ext cx="4937760" cy="402336"/>
          </a:xfrm>
          <a:prstGeom prst="rect">
            <a:avLst/>
          </a:prstGeom>
          <a:noFill/>
          <a:ln/>
        </p:spPr>
        <p:txBody>
          <a:bodyPr wrap="square" lIns="0" tIns="0" rIns="0" bIns="0" rtlCol="0" anchor="t"/>
          <a:lstStyle/>
          <a:p>
            <a:pPr indent="0" marL="0">
              <a:lnSpc>
                <a:spcPct val="118000"/>
              </a:lnSpc>
              <a:buNone/>
            </a:pPr>
            <a:r>
              <a:rPr lang="en-US" sz="1000" dirty="0">
                <a:solidFill>
                  <a:srgbClr val="5B6B7B"/>
                </a:solidFill>
                <a:latin typeface="Calibri" pitchFamily="34" charset="0"/>
                <a:ea typeface="Calibri" pitchFamily="34" charset="-122"/>
                <a:cs typeface="Calibri" pitchFamily="34" charset="-120"/>
              </a:rPr>
              <a:t>Redis persiste a disco: la cadena sobrevive a un reinicio del contenedor.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2 · BLOCKCHAIN</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10 / 30</a:t>
            </a:r>
            <a:endParaRPr lang="en-US" sz="900" dirty="0"/>
          </a:p>
        </p:txBody>
      </p:sp>
      <p:sp>
        <p:nvSpPr>
          <p:cNvPr id="5" name="Shape 3"/>
          <p:cNvSpPr/>
          <p:nvPr/>
        </p:nvSpPr>
        <p:spPr>
          <a:xfrm>
            <a:off x="0" y="6803136"/>
            <a:ext cx="4053840"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2 · PROTOCOLO</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Cómo se reparte el trabajo entre mineros</a:t>
            </a:r>
            <a:endParaRPr lang="en-US" sz="2700" dirty="0"/>
          </a:p>
        </p:txBody>
      </p:sp>
      <p:sp>
        <p:nvSpPr>
          <p:cNvPr id="8" name="Shape 6"/>
          <p:cNvSpPr/>
          <p:nvPr/>
        </p:nvSpPr>
        <p:spPr>
          <a:xfrm>
            <a:off x="594360" y="1554480"/>
            <a:ext cx="5349240" cy="2514600"/>
          </a:xfrm>
          <a:prstGeom prst="roundRect">
            <a:avLst>
              <a:gd name="adj" fmla="val 2182"/>
            </a:avLst>
          </a:prstGeom>
          <a:solidFill>
            <a:srgbClr val="DCEFE6"/>
          </a:solidFill>
          <a:ln w="12700">
            <a:solidFill>
              <a:srgbClr val="333333"/>
            </a:solidFill>
            <a:prstDash val="solid"/>
          </a:ln>
        </p:spPr>
      </p:sp>
      <p:sp>
        <p:nvSpPr>
          <p:cNvPr id="9" name="Text 7"/>
          <p:cNvSpPr/>
          <p:nvPr/>
        </p:nvSpPr>
        <p:spPr>
          <a:xfrm>
            <a:off x="822960" y="1691640"/>
            <a:ext cx="4892040" cy="274320"/>
          </a:xfrm>
          <a:prstGeom prst="rect">
            <a:avLst/>
          </a:prstGeom>
          <a:noFill/>
          <a:ln/>
        </p:spPr>
        <p:txBody>
          <a:bodyPr wrap="square" lIns="0" tIns="0" rIns="0" bIns="0" rtlCol="0" anchor="ctr"/>
          <a:lstStyle/>
          <a:p>
            <a:pPr indent="0" marL="0">
              <a:buNone/>
            </a:pPr>
            <a:r>
              <a:rPr lang="en-US" sz="1250" b="1" dirty="0">
                <a:solidFill>
                  <a:srgbClr val="0B6E4F"/>
                </a:solidFill>
                <a:latin typeface="Calibri" pitchFamily="34" charset="0"/>
                <a:ea typeface="Calibri" pitchFamily="34" charset="-122"/>
                <a:cs typeface="Calibri" pitchFamily="34" charset="-120"/>
              </a:rPr>
              <a:t>Cooperativo — el que usamos</a:t>
            </a:r>
            <a:endParaRPr lang="en-US" sz="1250" dirty="0"/>
          </a:p>
        </p:txBody>
      </p:sp>
      <p:sp>
        <p:nvSpPr>
          <p:cNvPr id="10" name="Text 8"/>
          <p:cNvSpPr/>
          <p:nvPr/>
        </p:nvSpPr>
        <p:spPr>
          <a:xfrm>
            <a:off x="822960" y="2011680"/>
            <a:ext cx="4892040" cy="50292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El espacio se parte en fragmentos disjuntos. Cada minero barre un tramo que nadie más toca.</a:t>
            </a:r>
            <a:endParaRPr lang="en-US" sz="1050" dirty="0"/>
          </a:p>
        </p:txBody>
      </p:sp>
      <p:sp>
        <p:nvSpPr>
          <p:cNvPr id="11" name="Text 9"/>
          <p:cNvSpPr/>
          <p:nvPr/>
        </p:nvSpPr>
        <p:spPr>
          <a:xfrm>
            <a:off x="822960" y="2560320"/>
            <a:ext cx="4892040" cy="914400"/>
          </a:xfrm>
          <a:prstGeom prst="rect">
            <a:avLst/>
          </a:prstGeom>
          <a:noFill/>
          <a:ln/>
        </p:spPr>
        <p:txBody>
          <a:bodyPr wrap="square" lIns="0" tIns="0" rIns="0" bIns="0" rtlCol="0" anchor="ctr"/>
          <a:lstStyle/>
          <a:p>
            <a:pPr indent="0" marL="0">
              <a:lnSpc>
                <a:spcPct val="125000"/>
              </a:lnSpc>
              <a:buNone/>
            </a:pPr>
            <a:r>
              <a:rPr lang="en-US" sz="950" dirty="0">
                <a:solidFill>
                  <a:srgbClr val="5B6B7B"/>
                </a:solidFill>
                <a:latin typeface="Consolas" pitchFamily="34" charset="0"/>
                <a:ea typeface="Consolas" pitchFamily="34" charset="-122"/>
                <a:cs typeface="Consolas" pitchFamily="34" charset="-120"/>
              </a:rPr>
              <a:t>minero 1 → [0 – 2.5M)</a:t>
            </a:r>
            <a:endParaRPr lang="en-US" sz="950" dirty="0"/>
          </a:p>
          <a:p>
            <a:pPr indent="0" marL="0">
              <a:lnSpc>
                <a:spcPct val="125000"/>
              </a:lnSpc>
              <a:buNone/>
            </a:pPr>
            <a:r>
              <a:rPr lang="en-US" sz="950" dirty="0">
                <a:solidFill>
                  <a:srgbClr val="5B6B7B"/>
                </a:solidFill>
                <a:latin typeface="Consolas" pitchFamily="34" charset="0"/>
                <a:ea typeface="Consolas" pitchFamily="34" charset="-122"/>
                <a:cs typeface="Consolas" pitchFamily="34" charset="-120"/>
              </a:rPr>
              <a:t>minero 2 → [2.5M – 5M)</a:t>
            </a:r>
            <a:endParaRPr lang="en-US" sz="950" dirty="0"/>
          </a:p>
          <a:p>
            <a:pPr indent="0" marL="0">
              <a:lnSpc>
                <a:spcPct val="125000"/>
              </a:lnSpc>
              <a:buNone/>
            </a:pPr>
            <a:r>
              <a:rPr lang="en-US" sz="950" dirty="0">
                <a:solidFill>
                  <a:srgbClr val="5B6B7B"/>
                </a:solidFill>
                <a:latin typeface="Consolas" pitchFamily="34" charset="0"/>
                <a:ea typeface="Consolas" pitchFamily="34" charset="-122"/>
                <a:cs typeface="Consolas" pitchFamily="34" charset="-120"/>
              </a:rPr>
              <a:t>minero 3 → [5M – 7.5M)</a:t>
            </a:r>
            <a:endParaRPr lang="en-US" sz="950" dirty="0"/>
          </a:p>
          <a:p>
            <a:pPr indent="0" marL="0">
              <a:lnSpc>
                <a:spcPct val="125000"/>
              </a:lnSpc>
              <a:buNone/>
            </a:pPr>
            <a:r>
              <a:rPr lang="en-US" sz="950" dirty="0">
                <a:solidFill>
                  <a:srgbClr val="5B6B7B"/>
                </a:solidFill>
                <a:latin typeface="Consolas" pitchFamily="34" charset="0"/>
                <a:ea typeface="Consolas" pitchFamily="34" charset="-122"/>
                <a:cs typeface="Consolas" pitchFamily="34" charset="-120"/>
              </a:rPr>
              <a:t>minero 4 → [7.5M – 10M)</a:t>
            </a:r>
            <a:endParaRPr lang="en-US" sz="950" dirty="0"/>
          </a:p>
        </p:txBody>
      </p:sp>
      <p:sp>
        <p:nvSpPr>
          <p:cNvPr id="12" name="Text 10"/>
          <p:cNvSpPr/>
          <p:nvPr/>
        </p:nvSpPr>
        <p:spPr>
          <a:xfrm>
            <a:off x="822960" y="3566160"/>
            <a:ext cx="4892040" cy="41148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Cubren el espacio una sola vez. Con N mineros se recorre N veces más rápido.</a:t>
            </a:r>
            <a:endParaRPr lang="en-US" sz="1050" dirty="0"/>
          </a:p>
        </p:txBody>
      </p:sp>
      <p:sp>
        <p:nvSpPr>
          <p:cNvPr id="13" name="Shape 11"/>
          <p:cNvSpPr/>
          <p:nvPr/>
        </p:nvSpPr>
        <p:spPr>
          <a:xfrm>
            <a:off x="6217920" y="1554480"/>
            <a:ext cx="5349240" cy="2514600"/>
          </a:xfrm>
          <a:prstGeom prst="roundRect">
            <a:avLst>
              <a:gd name="adj" fmla="val 2182"/>
            </a:avLst>
          </a:prstGeom>
          <a:solidFill>
            <a:srgbClr val="F0F3F6"/>
          </a:solidFill>
          <a:ln w="12700">
            <a:solidFill>
              <a:srgbClr val="333333"/>
            </a:solidFill>
            <a:prstDash val="solid"/>
          </a:ln>
        </p:spPr>
      </p:sp>
      <p:sp>
        <p:nvSpPr>
          <p:cNvPr id="14" name="Text 12"/>
          <p:cNvSpPr/>
          <p:nvPr/>
        </p:nvSpPr>
        <p:spPr>
          <a:xfrm>
            <a:off x="6446520" y="1691640"/>
            <a:ext cx="4892040" cy="274320"/>
          </a:xfrm>
          <a:prstGeom prst="rect">
            <a:avLst/>
          </a:prstGeom>
          <a:noFill/>
          <a:ln/>
        </p:spPr>
        <p:txBody>
          <a:bodyPr wrap="square" lIns="0" tIns="0" rIns="0" bIns="0" rtlCol="0" anchor="ctr"/>
          <a:lstStyle/>
          <a:p>
            <a:pPr indent="0" marL="0">
              <a:buNone/>
            </a:pPr>
            <a:r>
              <a:rPr lang="en-US" sz="1250" b="1" dirty="0">
                <a:solidFill>
                  <a:srgbClr val="A85B12"/>
                </a:solidFill>
                <a:latin typeface="Calibri" pitchFamily="34" charset="0"/>
                <a:ea typeface="Calibri" pitchFamily="34" charset="-122"/>
                <a:cs typeface="Calibri" pitchFamily="34" charset="-120"/>
              </a:rPr>
              <a:t>Competitivo — implementado y medido</a:t>
            </a:r>
            <a:endParaRPr lang="en-US" sz="1250" dirty="0"/>
          </a:p>
        </p:txBody>
      </p:sp>
      <p:sp>
        <p:nvSpPr>
          <p:cNvPr id="15" name="Text 13"/>
          <p:cNvSpPr/>
          <p:nvPr/>
        </p:nvSpPr>
        <p:spPr>
          <a:xfrm>
            <a:off x="6446520" y="2011680"/>
            <a:ext cx="4892040" cy="50292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Todos reciben el rango completo y arrancan en el mismo nonce. Gana el primero.</a:t>
            </a:r>
            <a:endParaRPr lang="en-US" sz="1050" dirty="0"/>
          </a:p>
        </p:txBody>
      </p:sp>
      <p:sp>
        <p:nvSpPr>
          <p:cNvPr id="16" name="Text 14"/>
          <p:cNvSpPr/>
          <p:nvPr/>
        </p:nvSpPr>
        <p:spPr>
          <a:xfrm>
            <a:off x="6446520" y="2560320"/>
            <a:ext cx="4892040" cy="914400"/>
          </a:xfrm>
          <a:prstGeom prst="rect">
            <a:avLst/>
          </a:prstGeom>
          <a:noFill/>
          <a:ln/>
        </p:spPr>
        <p:txBody>
          <a:bodyPr wrap="square" lIns="0" tIns="0" rIns="0" bIns="0" rtlCol="0" anchor="ctr"/>
          <a:lstStyle/>
          <a:p>
            <a:pPr indent="0" marL="0">
              <a:lnSpc>
                <a:spcPct val="125000"/>
              </a:lnSpc>
              <a:buNone/>
            </a:pPr>
            <a:r>
              <a:rPr lang="en-US" sz="950" dirty="0">
                <a:solidFill>
                  <a:srgbClr val="5B6B7B"/>
                </a:solidFill>
                <a:latin typeface="Consolas" pitchFamily="34" charset="0"/>
                <a:ea typeface="Consolas" pitchFamily="34" charset="-122"/>
                <a:cs typeface="Consolas" pitchFamily="34" charset="-120"/>
              </a:rPr>
              <a:t>minero 1 → [0 – 10M)</a:t>
            </a:r>
            <a:endParaRPr lang="en-US" sz="950" dirty="0"/>
          </a:p>
          <a:p>
            <a:pPr indent="0" marL="0">
              <a:lnSpc>
                <a:spcPct val="125000"/>
              </a:lnSpc>
              <a:buNone/>
            </a:pPr>
            <a:r>
              <a:rPr lang="en-US" sz="950" dirty="0">
                <a:solidFill>
                  <a:srgbClr val="5B6B7B"/>
                </a:solidFill>
                <a:latin typeface="Consolas" pitchFamily="34" charset="0"/>
                <a:ea typeface="Consolas" pitchFamily="34" charset="-122"/>
                <a:cs typeface="Consolas" pitchFamily="34" charset="-120"/>
              </a:rPr>
              <a:t>minero 2 → [0 – 10M)</a:t>
            </a:r>
            <a:endParaRPr lang="en-US" sz="950" dirty="0"/>
          </a:p>
          <a:p>
            <a:pPr indent="0" marL="0">
              <a:lnSpc>
                <a:spcPct val="125000"/>
              </a:lnSpc>
              <a:buNone/>
            </a:pPr>
            <a:r>
              <a:rPr lang="en-US" sz="950" dirty="0">
                <a:solidFill>
                  <a:srgbClr val="5B6B7B"/>
                </a:solidFill>
                <a:latin typeface="Consolas" pitchFamily="34" charset="0"/>
                <a:ea typeface="Consolas" pitchFamily="34" charset="-122"/>
                <a:cs typeface="Consolas" pitchFamily="34" charset="-120"/>
              </a:rPr>
              <a:t>minero 3 → [0 – 10M)</a:t>
            </a:r>
            <a:endParaRPr lang="en-US" sz="950" dirty="0"/>
          </a:p>
          <a:p>
            <a:pPr indent="0" marL="0">
              <a:lnSpc>
                <a:spcPct val="125000"/>
              </a:lnSpc>
              <a:buNone/>
            </a:pPr>
            <a:r>
              <a:rPr lang="en-US" sz="950" dirty="0">
                <a:solidFill>
                  <a:srgbClr val="5B6B7B"/>
                </a:solidFill>
                <a:latin typeface="Consolas" pitchFamily="34" charset="0"/>
                <a:ea typeface="Consolas" pitchFamily="34" charset="-122"/>
                <a:cs typeface="Consolas" pitchFamily="34" charset="-120"/>
              </a:rPr>
              <a:t>minero 4 → [0 – 10M)</a:t>
            </a:r>
            <a:endParaRPr lang="en-US" sz="950" dirty="0"/>
          </a:p>
        </p:txBody>
      </p:sp>
      <p:sp>
        <p:nvSpPr>
          <p:cNvPr id="17" name="Text 15"/>
          <p:cNvSpPr/>
          <p:nvPr/>
        </p:nvSpPr>
        <p:spPr>
          <a:xfrm>
            <a:off x="6446520" y="3566160"/>
            <a:ext cx="4892040" cy="41148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Publica el espacio N veces. Agregar mineros no acelera nada.</a:t>
            </a:r>
            <a:endParaRPr lang="en-US" sz="1050" dirty="0"/>
          </a:p>
        </p:txBody>
      </p:sp>
      <p:sp>
        <p:nvSpPr>
          <p:cNvPr id="18" name="Shape 16"/>
          <p:cNvSpPr/>
          <p:nvPr/>
        </p:nvSpPr>
        <p:spPr>
          <a:xfrm>
            <a:off x="594360" y="4251960"/>
            <a:ext cx="10972800" cy="1234440"/>
          </a:xfrm>
          <a:prstGeom prst="roundRect">
            <a:avLst>
              <a:gd name="adj" fmla="val 4444"/>
            </a:avLst>
          </a:prstGeom>
          <a:solidFill>
            <a:srgbClr val="F0F3F6"/>
          </a:solidFill>
          <a:ln w="12700">
            <a:solidFill>
              <a:srgbClr val="333333"/>
            </a:solidFill>
            <a:prstDash val="solid"/>
          </a:ln>
        </p:spPr>
      </p:sp>
      <p:sp>
        <p:nvSpPr>
          <p:cNvPr id="19" name="Text 17"/>
          <p:cNvSpPr/>
          <p:nvPr/>
        </p:nvSpPr>
        <p:spPr>
          <a:xfrm>
            <a:off x="822960" y="4379976"/>
            <a:ext cx="10515600" cy="978408"/>
          </a:xfrm>
          <a:prstGeom prst="rect">
            <a:avLst/>
          </a:prstGeom>
          <a:noFill/>
          <a:ln/>
        </p:spPr>
        <p:txBody>
          <a:bodyPr wrap="square" lIns="0" tIns="0" rIns="0" bIns="0" rtlCol="0" anchor="t"/>
          <a:lstStyle/>
          <a:p>
            <a:pPr indent="0" marL="0">
              <a:lnSpc>
                <a:spcPct val="118000"/>
              </a:lnSpc>
              <a:buNone/>
            </a:pPr>
            <a:r>
              <a:rPr lang="en-US" sz="1050" b="1" dirty="0">
                <a:solidFill>
                  <a:srgbClr val="10202F"/>
                </a:solidFill>
                <a:latin typeface="Calibri" pitchFamily="34" charset="0"/>
                <a:ea typeface="Calibri" pitchFamily="34" charset="-122"/>
                <a:cs typeface="Calibri" pitchFamily="34" charset="-120"/>
              </a:rPr>
              <a:t>¿Por qué existiría el modo que desperdicia?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En una blockchain pública los mineros son desconocidos que no confían entre sí: no se les puede asignar un rango, porque nadie garantiza que busquen donde dijeron. Ahí el desperdicio es el mecanismo de seguridad. Acá los mineros son nuestros, así que el cooperativo es lo correcto — y lo medimos para demostrarlo.</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2 · BLOCKCHAIN</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11 / 30</a:t>
            </a:r>
            <a:endParaRPr lang="en-US" sz="900" dirty="0"/>
          </a:p>
        </p:txBody>
      </p:sp>
      <p:sp>
        <p:nvSpPr>
          <p:cNvPr id="5" name="Shape 3"/>
          <p:cNvSpPr/>
          <p:nvPr/>
        </p:nvSpPr>
        <p:spPr>
          <a:xfrm>
            <a:off x="0" y="6803136"/>
            <a:ext cx="4459224"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2 · RESILIENCIA</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Qué pasa cuando algo se cae</a:t>
            </a:r>
            <a:endParaRPr lang="en-US" sz="2700" dirty="0"/>
          </a:p>
        </p:txBody>
      </p:sp>
      <p:sp>
        <p:nvSpPr>
          <p:cNvPr id="8" name="Text 6"/>
          <p:cNvSpPr/>
          <p:nvPr/>
        </p:nvSpPr>
        <p:spPr>
          <a:xfrm>
            <a:off x="594360" y="1554480"/>
            <a:ext cx="411480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Si desaparece la GPU</a:t>
            </a:r>
            <a:endParaRPr lang="en-US" sz="1250" dirty="0"/>
          </a:p>
        </p:txBody>
      </p:sp>
      <p:sp>
        <p:nvSpPr>
          <p:cNvPr id="9" name="Text 7"/>
          <p:cNvSpPr/>
          <p:nvPr/>
        </p:nvSpPr>
        <p:spPr>
          <a:xfrm>
            <a:off x="594360" y="1874520"/>
            <a:ext cx="4114800" cy="86868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El servidor de GPU late cada 10 s y el repartidor guarda ese latido con vencimiento a 30. Cuando deja de llegar, baja la dificultad y levanta mineros de CPU.</a:t>
            </a:r>
            <a:endParaRPr lang="en-US" sz="1050" dirty="0"/>
          </a:p>
        </p:txBody>
      </p:sp>
      <p:sp>
        <p:nvSpPr>
          <p:cNvPr id="10" name="Text 8"/>
          <p:cNvSpPr/>
          <p:nvPr/>
        </p:nvSpPr>
        <p:spPr>
          <a:xfrm>
            <a:off x="594360" y="2834640"/>
            <a:ext cx="2286000" cy="347472"/>
          </a:xfrm>
          <a:prstGeom prst="rect">
            <a:avLst/>
          </a:prstGeom>
          <a:noFill/>
          <a:ln/>
        </p:spPr>
        <p:txBody>
          <a:bodyPr wrap="square" lIns="0" tIns="0" rIns="0" bIns="0" rtlCol="0" anchor="ctr"/>
          <a:lstStyle/>
          <a:p>
            <a:pPr indent="0" marL="0">
              <a:buNone/>
            </a:pPr>
            <a:r>
              <a:rPr lang="en-US" sz="1000" b="1" dirty="0">
                <a:solidFill>
                  <a:srgbClr val="10202F"/>
                </a:solidFill>
                <a:latin typeface="Calibri" pitchFamily="34" charset="0"/>
                <a:ea typeface="Calibri" pitchFamily="34" charset="-122"/>
                <a:cs typeface="Calibri" pitchFamily="34" charset="-120"/>
              </a:rPr>
              <a:t>GPU vuelve</a:t>
            </a:r>
            <a:endParaRPr lang="en-US" sz="1000" dirty="0"/>
          </a:p>
        </p:txBody>
      </p:sp>
      <p:sp>
        <p:nvSpPr>
          <p:cNvPr id="11" name="Shape 9"/>
          <p:cNvSpPr/>
          <p:nvPr/>
        </p:nvSpPr>
        <p:spPr>
          <a:xfrm>
            <a:off x="2971800" y="2889504"/>
            <a:ext cx="1463040" cy="237744"/>
          </a:xfrm>
          <a:prstGeom prst="roundRect">
            <a:avLst>
              <a:gd name="adj" fmla="val 15385"/>
            </a:avLst>
          </a:prstGeom>
          <a:solidFill>
            <a:srgbClr val="E6EBF0"/>
          </a:solidFill>
          <a:ln w="12700">
            <a:solidFill>
              <a:srgbClr val="333333"/>
            </a:solidFill>
            <a:prstDash val="solid"/>
          </a:ln>
        </p:spPr>
      </p:sp>
      <p:sp>
        <p:nvSpPr>
          <p:cNvPr id="12" name="Shape 10"/>
          <p:cNvSpPr/>
          <p:nvPr/>
        </p:nvSpPr>
        <p:spPr>
          <a:xfrm>
            <a:off x="2971800" y="2889504"/>
            <a:ext cx="877824" cy="237744"/>
          </a:xfrm>
          <a:prstGeom prst="roundRect">
            <a:avLst>
              <a:gd name="adj" fmla="val 15385"/>
            </a:avLst>
          </a:prstGeom>
          <a:solidFill>
            <a:srgbClr val="0B6E4F"/>
          </a:solidFill>
          <a:ln w="12700">
            <a:solidFill>
              <a:srgbClr val="333333"/>
            </a:solidFill>
            <a:prstDash val="solid"/>
          </a:ln>
        </p:spPr>
      </p:sp>
      <p:sp>
        <p:nvSpPr>
          <p:cNvPr id="13" name="Text 11"/>
          <p:cNvSpPr/>
          <p:nvPr/>
        </p:nvSpPr>
        <p:spPr>
          <a:xfrm>
            <a:off x="4562856" y="2834640"/>
            <a:ext cx="914400" cy="347472"/>
          </a:xfrm>
          <a:prstGeom prst="rect">
            <a:avLst/>
          </a:prstGeom>
          <a:noFill/>
          <a:ln/>
        </p:spPr>
        <p:txBody>
          <a:bodyPr wrap="square" lIns="0" tIns="0" rIns="0" bIns="0" rtlCol="0" anchor="ctr"/>
          <a:lstStyle/>
          <a:p>
            <a:pPr algn="r" indent="0" marL="0">
              <a:buNone/>
            </a:pPr>
            <a:r>
              <a:rPr lang="en-US" sz="1050" b="1" dirty="0">
                <a:solidFill>
                  <a:srgbClr val="10202F"/>
                </a:solidFill>
                <a:latin typeface="Calibri" pitchFamily="34" charset="0"/>
                <a:ea typeface="Calibri" pitchFamily="34" charset="-122"/>
                <a:cs typeface="Calibri" pitchFamily="34" charset="-120"/>
              </a:rPr>
              <a:t>27 s</a:t>
            </a:r>
            <a:endParaRPr lang="en-US" sz="1050" dirty="0"/>
          </a:p>
        </p:txBody>
      </p:sp>
      <p:sp>
        <p:nvSpPr>
          <p:cNvPr id="14" name="Text 12"/>
          <p:cNvSpPr/>
          <p:nvPr/>
        </p:nvSpPr>
        <p:spPr>
          <a:xfrm>
            <a:off x="594360" y="3310128"/>
            <a:ext cx="2286000" cy="347472"/>
          </a:xfrm>
          <a:prstGeom prst="rect">
            <a:avLst/>
          </a:prstGeom>
          <a:noFill/>
          <a:ln/>
        </p:spPr>
        <p:txBody>
          <a:bodyPr wrap="square" lIns="0" tIns="0" rIns="0" bIns="0" rtlCol="0" anchor="ctr"/>
          <a:lstStyle/>
          <a:p>
            <a:pPr indent="0" marL="0">
              <a:buNone/>
            </a:pPr>
            <a:r>
              <a:rPr lang="en-US" sz="1000" b="1" dirty="0">
                <a:solidFill>
                  <a:srgbClr val="10202F"/>
                </a:solidFill>
                <a:latin typeface="Calibri" pitchFamily="34" charset="0"/>
                <a:ea typeface="Calibri" pitchFamily="34" charset="-122"/>
                <a:cs typeface="Calibri" pitchFamily="34" charset="-120"/>
              </a:rPr>
              <a:t>GPU cae</a:t>
            </a:r>
            <a:endParaRPr lang="en-US" sz="1000" dirty="0"/>
          </a:p>
        </p:txBody>
      </p:sp>
      <p:sp>
        <p:nvSpPr>
          <p:cNvPr id="15" name="Shape 13"/>
          <p:cNvSpPr/>
          <p:nvPr/>
        </p:nvSpPr>
        <p:spPr>
          <a:xfrm>
            <a:off x="2971800" y="3364992"/>
            <a:ext cx="1463040" cy="237744"/>
          </a:xfrm>
          <a:prstGeom prst="roundRect">
            <a:avLst>
              <a:gd name="adj" fmla="val 15385"/>
            </a:avLst>
          </a:prstGeom>
          <a:solidFill>
            <a:srgbClr val="E6EBF0"/>
          </a:solidFill>
          <a:ln w="12700">
            <a:solidFill>
              <a:srgbClr val="333333"/>
            </a:solidFill>
            <a:prstDash val="solid"/>
          </a:ln>
        </p:spPr>
      </p:sp>
      <p:sp>
        <p:nvSpPr>
          <p:cNvPr id="16" name="Shape 14"/>
          <p:cNvSpPr/>
          <p:nvPr/>
        </p:nvSpPr>
        <p:spPr>
          <a:xfrm>
            <a:off x="2971800" y="3364992"/>
            <a:ext cx="1463040" cy="237744"/>
          </a:xfrm>
          <a:prstGeom prst="roundRect">
            <a:avLst>
              <a:gd name="adj" fmla="val 15385"/>
            </a:avLst>
          </a:prstGeom>
          <a:solidFill>
            <a:srgbClr val="A85B12"/>
          </a:solidFill>
          <a:ln w="12700">
            <a:solidFill>
              <a:srgbClr val="333333"/>
            </a:solidFill>
            <a:prstDash val="solid"/>
          </a:ln>
        </p:spPr>
      </p:sp>
      <p:sp>
        <p:nvSpPr>
          <p:cNvPr id="17" name="Text 15"/>
          <p:cNvSpPr/>
          <p:nvPr/>
        </p:nvSpPr>
        <p:spPr>
          <a:xfrm>
            <a:off x="4562856" y="3310128"/>
            <a:ext cx="914400" cy="347472"/>
          </a:xfrm>
          <a:prstGeom prst="rect">
            <a:avLst/>
          </a:prstGeom>
          <a:noFill/>
          <a:ln/>
        </p:spPr>
        <p:txBody>
          <a:bodyPr wrap="square" lIns="0" tIns="0" rIns="0" bIns="0" rtlCol="0" anchor="ctr"/>
          <a:lstStyle/>
          <a:p>
            <a:pPr algn="r" indent="0" marL="0">
              <a:buNone/>
            </a:pPr>
            <a:r>
              <a:rPr lang="en-US" sz="1050" b="1" dirty="0">
                <a:solidFill>
                  <a:srgbClr val="10202F"/>
                </a:solidFill>
                <a:latin typeface="Calibri" pitchFamily="34" charset="0"/>
                <a:ea typeface="Calibri" pitchFamily="34" charset="-122"/>
                <a:cs typeface="Calibri" pitchFamily="34" charset="-120"/>
              </a:rPr>
              <a:t>45 s</a:t>
            </a:r>
            <a:endParaRPr lang="en-US" sz="1050" dirty="0"/>
          </a:p>
        </p:txBody>
      </p:sp>
      <p:sp>
        <p:nvSpPr>
          <p:cNvPr id="18" name="Shape 16"/>
          <p:cNvSpPr/>
          <p:nvPr/>
        </p:nvSpPr>
        <p:spPr>
          <a:xfrm>
            <a:off x="5166360" y="1554480"/>
            <a:ext cx="6400800" cy="1143000"/>
          </a:xfrm>
          <a:prstGeom prst="roundRect">
            <a:avLst>
              <a:gd name="adj" fmla="val 4800"/>
            </a:avLst>
          </a:prstGeom>
          <a:solidFill>
            <a:srgbClr val="DCEFE6"/>
          </a:solidFill>
          <a:ln w="12700">
            <a:solidFill>
              <a:srgbClr val="333333"/>
            </a:solidFill>
            <a:prstDash val="solid"/>
          </a:ln>
        </p:spPr>
      </p:sp>
      <p:sp>
        <p:nvSpPr>
          <p:cNvPr id="19" name="Text 17"/>
          <p:cNvSpPr/>
          <p:nvPr/>
        </p:nvSpPr>
        <p:spPr>
          <a:xfrm>
            <a:off x="5394960" y="1682496"/>
            <a:ext cx="5943600" cy="88696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La caída tarda más que el regreso, y es por diseño.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El sistema espera a que venza el latido (30 s) más un ciclo de revisión (15 s) antes de declarar muerta la GPU. No reacciona a un solo latido perdido.</a:t>
            </a:r>
            <a:endParaRPr lang="en-US" sz="1050" dirty="0"/>
          </a:p>
        </p:txBody>
      </p:sp>
      <p:sp>
        <p:nvSpPr>
          <p:cNvPr id="20" name="Text 18"/>
          <p:cNvSpPr/>
          <p:nvPr/>
        </p:nvSpPr>
        <p:spPr>
          <a:xfrm>
            <a:off x="5166360" y="2880360"/>
            <a:ext cx="640080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Si se cae un minero a mitad del trabajo</a:t>
            </a:r>
            <a:endParaRPr lang="en-US" sz="1250" dirty="0"/>
          </a:p>
        </p:txBody>
      </p:sp>
      <p:sp>
        <p:nvSpPr>
          <p:cNvPr id="21" name="Text 19"/>
          <p:cNvSpPr/>
          <p:nvPr/>
        </p:nvSpPr>
        <p:spPr>
          <a:xfrm>
            <a:off x="5166360" y="3200400"/>
            <a:ext cx="6400800" cy="137160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Confirmación diferida: el mensaje no se marca como procesado hasta terminar, así que el broker lo reentrega a otro</a:t>
            </a:r>
            <a:endParaRPr lang="en-US" sz="1050" dirty="0"/>
          </a:p>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Reintento acotado: un mensaje inválido se reintenta una vez y se suelta, en lugar de rebotar para siempre</a:t>
            </a:r>
            <a:endParaRPr lang="en-US" sz="1050" dirty="0"/>
          </a:p>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Tiempo límite: si nadie devuelve solución, el coordinador abandona el bloque y lo reintenta</a:t>
            </a:r>
            <a:endParaRPr lang="en-US" sz="1050" dirty="0"/>
          </a:p>
        </p:txBody>
      </p:sp>
      <p:sp>
        <p:nvSpPr>
          <p:cNvPr id="22" name="Shape 20"/>
          <p:cNvSpPr/>
          <p:nvPr/>
        </p:nvSpPr>
        <p:spPr>
          <a:xfrm>
            <a:off x="594360" y="4892040"/>
            <a:ext cx="10972800" cy="640080"/>
          </a:xfrm>
          <a:prstGeom prst="roundRect">
            <a:avLst>
              <a:gd name="adj" fmla="val 8571"/>
            </a:avLst>
          </a:prstGeom>
          <a:solidFill>
            <a:srgbClr val="F0F3F6"/>
          </a:solidFill>
          <a:ln w="12700">
            <a:solidFill>
              <a:srgbClr val="333333"/>
            </a:solidFill>
            <a:prstDash val="solid"/>
          </a:ln>
        </p:spPr>
      </p:sp>
      <p:sp>
        <p:nvSpPr>
          <p:cNvPr id="23" name="Text 21"/>
          <p:cNvSpPr/>
          <p:nvPr/>
        </p:nvSpPr>
        <p:spPr>
          <a:xfrm>
            <a:off x="822960" y="5020056"/>
            <a:ext cx="10515600" cy="384048"/>
          </a:xfrm>
          <a:prstGeom prst="rect">
            <a:avLst/>
          </a:prstGeom>
          <a:noFill/>
          <a:ln/>
        </p:spPr>
        <p:txBody>
          <a:bodyPr wrap="square" lIns="0" tIns="0" rIns="0" bIns="0" rtlCol="0" anchor="t"/>
          <a:lstStyle/>
          <a:p>
            <a:pPr indent="0" marL="0">
              <a:lnSpc>
                <a:spcPct val="118000"/>
              </a:lnSpc>
              <a:buNone/>
            </a:pPr>
            <a:r>
              <a:rPr lang="en-US" sz="1000" b="1" dirty="0">
                <a:solidFill>
                  <a:srgbClr val="10202F"/>
                </a:solidFill>
                <a:latin typeface="Calibri" pitchFamily="34" charset="0"/>
                <a:ea typeface="Calibri" pitchFamily="34" charset="-122"/>
                <a:cs typeface="Calibri" pitchFamily="34" charset="-120"/>
              </a:rPr>
              <a:t>Probado: </a:t>
            </a:r>
            <a:pPr indent="0" marL="0">
              <a:lnSpc>
                <a:spcPct val="118000"/>
              </a:lnSpc>
              <a:buNone/>
            </a:pPr>
            <a:r>
              <a:rPr lang="en-US" sz="1000" dirty="0">
                <a:solidFill>
                  <a:srgbClr val="5B6B7B"/>
                </a:solidFill>
                <a:latin typeface="Calibri" pitchFamily="34" charset="0"/>
                <a:ea typeface="Calibri" pitchFamily="34" charset="-122"/>
                <a:cs typeface="Calibri" pitchFamily="34" charset="-120"/>
              </a:rPr>
              <a:t>se mató un minero a mitad del trabajo, el broker reentregó los cuatro fragmentos y las diez operaciones terminaron confirmadas.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APLICACIÓN</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12 / 30</a:t>
            </a:r>
            <a:endParaRPr lang="en-US" sz="900" dirty="0"/>
          </a:p>
        </p:txBody>
      </p:sp>
      <p:sp>
        <p:nvSpPr>
          <p:cNvPr id="5" name="Shape 3"/>
          <p:cNvSpPr/>
          <p:nvPr/>
        </p:nvSpPr>
        <p:spPr>
          <a:xfrm>
            <a:off x="0" y="6803136"/>
            <a:ext cx="4864608"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LA APLICACIÓN</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La capa que integra todo</a:t>
            </a:r>
            <a:endParaRPr lang="en-US" sz="2700" dirty="0"/>
          </a:p>
        </p:txBody>
      </p:sp>
      <p:sp>
        <p:nvSpPr>
          <p:cNvPr id="8" name="Text 6"/>
          <p:cNvSpPr/>
          <p:nvPr/>
        </p:nvSpPr>
        <p:spPr>
          <a:xfrm>
            <a:off x="594360" y="1554480"/>
            <a:ext cx="6675120" cy="731520"/>
          </a:xfrm>
          <a:prstGeom prst="rect">
            <a:avLst/>
          </a:prstGeom>
          <a:noFill/>
          <a:ln/>
        </p:spPr>
        <p:txBody>
          <a:bodyPr wrap="square" lIns="0" tIns="0" rIns="0" bIns="0" rtlCol="0" anchor="ctr"/>
          <a:lstStyle/>
          <a:p>
            <a:pPr indent="0" marL="0">
              <a:lnSpc>
                <a:spcPct val="120000"/>
              </a:lnSpc>
              <a:buNone/>
            </a:pPr>
            <a:r>
              <a:rPr lang="en-US" sz="1150" dirty="0">
                <a:solidFill>
                  <a:srgbClr val="5B6B7B"/>
                </a:solidFill>
                <a:latin typeface="Calibri" pitchFamily="34" charset="0"/>
                <a:ea typeface="Calibri" pitchFamily="34" charset="-122"/>
                <a:cs typeface="Calibri" pitchFamily="34" charset="-120"/>
              </a:rPr>
              <a:t>Una aplicación web donde los organizadores publican eventos y emiten entradas, los asistentes las compran y las revenden, y en la puerta se validan escaneando un código.</a:t>
            </a:r>
            <a:endParaRPr lang="en-US" sz="1150" dirty="0"/>
          </a:p>
        </p:txBody>
      </p:sp>
      <p:sp>
        <p:nvSpPr>
          <p:cNvPr id="9" name="Shape 7"/>
          <p:cNvSpPr/>
          <p:nvPr/>
        </p:nvSpPr>
        <p:spPr>
          <a:xfrm>
            <a:off x="594360" y="2377440"/>
            <a:ext cx="3246120" cy="1371600"/>
          </a:xfrm>
          <a:prstGeom prst="roundRect">
            <a:avLst>
              <a:gd name="adj" fmla="val 4000"/>
            </a:avLst>
          </a:prstGeom>
          <a:solidFill>
            <a:srgbClr val="F0F3F6"/>
          </a:solidFill>
          <a:ln w="12700">
            <a:solidFill>
              <a:srgbClr val="333333"/>
            </a:solidFill>
            <a:prstDash val="solid"/>
          </a:ln>
        </p:spPr>
      </p:sp>
      <p:sp>
        <p:nvSpPr>
          <p:cNvPr id="10" name="Text 8"/>
          <p:cNvSpPr/>
          <p:nvPr/>
        </p:nvSpPr>
        <p:spPr>
          <a:xfrm>
            <a:off x="795528" y="2542032"/>
            <a:ext cx="284378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Para el organizador</a:t>
            </a:r>
            <a:endParaRPr lang="en-US" sz="1250" dirty="0"/>
          </a:p>
        </p:txBody>
      </p:sp>
      <p:sp>
        <p:nvSpPr>
          <p:cNvPr id="11" name="Text 9"/>
          <p:cNvSpPr/>
          <p:nvPr/>
        </p:nvSpPr>
        <p:spPr>
          <a:xfrm>
            <a:off x="795528" y="2852928"/>
            <a:ext cx="2843784" cy="758952"/>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Crea eventos, emite entradas a la cadena, ve el inventario y valida en la puerta.</a:t>
            </a:r>
            <a:endParaRPr lang="en-US" sz="1000" dirty="0"/>
          </a:p>
        </p:txBody>
      </p:sp>
      <p:sp>
        <p:nvSpPr>
          <p:cNvPr id="12" name="Shape 10"/>
          <p:cNvSpPr/>
          <p:nvPr/>
        </p:nvSpPr>
        <p:spPr>
          <a:xfrm>
            <a:off x="4023360" y="2377440"/>
            <a:ext cx="3246120" cy="1371600"/>
          </a:xfrm>
          <a:prstGeom prst="roundRect">
            <a:avLst>
              <a:gd name="adj" fmla="val 4000"/>
            </a:avLst>
          </a:prstGeom>
          <a:solidFill>
            <a:srgbClr val="F0F3F6"/>
          </a:solidFill>
          <a:ln w="12700">
            <a:solidFill>
              <a:srgbClr val="333333"/>
            </a:solidFill>
            <a:prstDash val="solid"/>
          </a:ln>
        </p:spPr>
      </p:sp>
      <p:sp>
        <p:nvSpPr>
          <p:cNvPr id="13" name="Text 11"/>
          <p:cNvSpPr/>
          <p:nvPr/>
        </p:nvSpPr>
        <p:spPr>
          <a:xfrm>
            <a:off x="4224528" y="2542032"/>
            <a:ext cx="284378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Para el asistente</a:t>
            </a:r>
            <a:endParaRPr lang="en-US" sz="1250" dirty="0"/>
          </a:p>
        </p:txBody>
      </p:sp>
      <p:sp>
        <p:nvSpPr>
          <p:cNvPr id="14" name="Text 12"/>
          <p:cNvSpPr/>
          <p:nvPr/>
        </p:nvSpPr>
        <p:spPr>
          <a:xfrm>
            <a:off x="4224528" y="2852928"/>
            <a:ext cx="2843784" cy="758952"/>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Compra con medios de pago reales, guarda sus entradas y puede revenderlas.</a:t>
            </a:r>
            <a:endParaRPr lang="en-US" sz="1000" dirty="0"/>
          </a:p>
        </p:txBody>
      </p:sp>
      <p:sp>
        <p:nvSpPr>
          <p:cNvPr id="15" name="Shape 13"/>
          <p:cNvSpPr/>
          <p:nvPr/>
        </p:nvSpPr>
        <p:spPr>
          <a:xfrm>
            <a:off x="594360" y="3886200"/>
            <a:ext cx="3246120" cy="1371600"/>
          </a:xfrm>
          <a:prstGeom prst="roundRect">
            <a:avLst>
              <a:gd name="adj" fmla="val 4000"/>
            </a:avLst>
          </a:prstGeom>
          <a:solidFill>
            <a:srgbClr val="F0F3F6"/>
          </a:solidFill>
          <a:ln w="12700">
            <a:solidFill>
              <a:srgbClr val="333333"/>
            </a:solidFill>
            <a:prstDash val="solid"/>
          </a:ln>
        </p:spPr>
      </p:sp>
      <p:sp>
        <p:nvSpPr>
          <p:cNvPr id="16" name="Text 14"/>
          <p:cNvSpPr/>
          <p:nvPr/>
        </p:nvSpPr>
        <p:spPr>
          <a:xfrm>
            <a:off x="795528" y="4050792"/>
            <a:ext cx="284378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Pagos</a:t>
            </a:r>
            <a:endParaRPr lang="en-US" sz="1250" dirty="0"/>
          </a:p>
        </p:txBody>
      </p:sp>
      <p:sp>
        <p:nvSpPr>
          <p:cNvPr id="17" name="Text 15"/>
          <p:cNvSpPr/>
          <p:nvPr/>
        </p:nvSpPr>
        <p:spPr>
          <a:xfrm>
            <a:off x="795528" y="4361688"/>
            <a:ext cx="2843784" cy="758952"/>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Integración con pasarela real. Si la entrega en la cadena falla, se reembolsa solo.</a:t>
            </a:r>
            <a:endParaRPr lang="en-US" sz="1000" dirty="0"/>
          </a:p>
        </p:txBody>
      </p:sp>
      <p:sp>
        <p:nvSpPr>
          <p:cNvPr id="18" name="Shape 16"/>
          <p:cNvSpPr/>
          <p:nvPr/>
        </p:nvSpPr>
        <p:spPr>
          <a:xfrm>
            <a:off x="4023360" y="3886200"/>
            <a:ext cx="3246120" cy="1371600"/>
          </a:xfrm>
          <a:prstGeom prst="roundRect">
            <a:avLst>
              <a:gd name="adj" fmla="val 4000"/>
            </a:avLst>
          </a:prstGeom>
          <a:solidFill>
            <a:srgbClr val="F0F3F6"/>
          </a:solidFill>
          <a:ln w="12700">
            <a:solidFill>
              <a:srgbClr val="333333"/>
            </a:solidFill>
            <a:prstDash val="solid"/>
          </a:ln>
        </p:spPr>
      </p:sp>
      <p:sp>
        <p:nvSpPr>
          <p:cNvPr id="19" name="Text 17"/>
          <p:cNvSpPr/>
          <p:nvPr/>
        </p:nvSpPr>
        <p:spPr>
          <a:xfrm>
            <a:off x="4224528" y="4050792"/>
            <a:ext cx="284378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Panel público</a:t>
            </a:r>
            <a:endParaRPr lang="en-US" sz="1250" dirty="0"/>
          </a:p>
        </p:txBody>
      </p:sp>
      <p:sp>
        <p:nvSpPr>
          <p:cNvPr id="20" name="Text 18"/>
          <p:cNvSpPr/>
          <p:nvPr/>
        </p:nvSpPr>
        <p:spPr>
          <a:xfrm>
            <a:off x="4224528" y="4361688"/>
            <a:ext cx="2843784" cy="758952"/>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Monitor de la blockchain en vivo: bloques, transacciones y estado del minado.</a:t>
            </a:r>
            <a:endParaRPr lang="en-US" sz="1000" dirty="0"/>
          </a:p>
        </p:txBody>
      </p:sp>
      <p:sp>
        <p:nvSpPr>
          <p:cNvPr id="21" name="Shape 19"/>
          <p:cNvSpPr/>
          <p:nvPr/>
        </p:nvSpPr>
        <p:spPr>
          <a:xfrm>
            <a:off x="7543800" y="1554480"/>
            <a:ext cx="4023360" cy="3703320"/>
          </a:xfrm>
          <a:prstGeom prst="roundRect">
            <a:avLst>
              <a:gd name="adj" fmla="val 1481"/>
            </a:avLst>
          </a:prstGeom>
          <a:solidFill>
            <a:srgbClr val="DCEFE6"/>
          </a:solidFill>
          <a:ln w="12700">
            <a:solidFill>
              <a:srgbClr val="333333"/>
            </a:solidFill>
            <a:prstDash val="solid"/>
          </a:ln>
        </p:spPr>
      </p:sp>
      <p:sp>
        <p:nvSpPr>
          <p:cNvPr id="22" name="Text 20"/>
          <p:cNvSpPr/>
          <p:nvPr/>
        </p:nvSpPr>
        <p:spPr>
          <a:xfrm>
            <a:off x="7772400" y="1682496"/>
            <a:ext cx="3566160" cy="3447288"/>
          </a:xfrm>
          <a:prstGeom prst="rect">
            <a:avLst/>
          </a:prstGeom>
          <a:noFill/>
          <a:ln/>
        </p:spPr>
        <p:txBody>
          <a:bodyPr wrap="square" lIns="0" tIns="0" rIns="0" bIns="0" rtlCol="0" anchor="ctr"/>
          <a:lstStyle/>
          <a:p>
            <a:pPr indent="0" marL="0">
              <a:lnSpc>
                <a:spcPct val="118000"/>
              </a:lnSpc>
              <a:buNone/>
            </a:pPr>
            <a:r>
              <a:rPr lang="en-US" sz="1200" b="1" dirty="0">
                <a:solidFill>
                  <a:srgbClr val="0B6E4F"/>
                </a:solidFill>
                <a:latin typeface="Calibri" pitchFamily="34" charset="0"/>
                <a:ea typeface="Calibri" pitchFamily="34" charset="-122"/>
                <a:cs typeface="Calibri" pitchFamily="34" charset="-120"/>
              </a:rPr>
              <a:t>Un invariante que atraviesa todo el diseño:
</a:t>
            </a:r>
            <a:pPr indent="0" marL="0">
              <a:lnSpc>
                <a:spcPct val="118000"/>
              </a:lnSpc>
              <a:buNone/>
            </a:pPr>
            <a:r>
              <a:rPr lang="en-US" sz="1200" b="1" dirty="0">
                <a:solidFill>
                  <a:srgbClr val="10202F"/>
                </a:solidFill>
                <a:latin typeface="Calibri" pitchFamily="34" charset="0"/>
                <a:ea typeface="Calibri" pitchFamily="34" charset="-122"/>
                <a:cs typeface="Calibri" pitchFamily="34" charset="-120"/>
              </a:rPr>
              <a:t>Plata adentro significa entrada entregada, o plata de vuelta.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Si el pago se aprueba pero la transferencia en la cadena falla de forma definitiva, el reembolso se dispara automáticamente. No queda un estado intermedio donde alguien pagó y no tiene nada.</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APLICACIÓN</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13 / 30</a:t>
            </a:r>
            <a:endParaRPr lang="en-US" sz="900" dirty="0"/>
          </a:p>
        </p:txBody>
      </p:sp>
      <p:sp>
        <p:nvSpPr>
          <p:cNvPr id="5" name="Shape 3"/>
          <p:cNvSpPr/>
          <p:nvPr/>
        </p:nvSpPr>
        <p:spPr>
          <a:xfrm>
            <a:off x="0" y="6803136"/>
            <a:ext cx="5269992"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APLICACIÓN · MODELO CRIPTOGRÁFICO</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La identidad es un par de claves, no un usuario</a:t>
            </a:r>
            <a:endParaRPr lang="en-US" sz="2700" dirty="0"/>
          </a:p>
        </p:txBody>
      </p:sp>
      <p:sp>
        <p:nvSpPr>
          <p:cNvPr id="8" name="Text 6"/>
          <p:cNvSpPr/>
          <p:nvPr/>
        </p:nvSpPr>
        <p:spPr>
          <a:xfrm>
            <a:off x="594360" y="1572768"/>
            <a:ext cx="5303520" cy="685800"/>
          </a:xfrm>
          <a:prstGeom prst="rect">
            <a:avLst/>
          </a:prstGeom>
          <a:noFill/>
          <a:ln/>
        </p:spPr>
        <p:txBody>
          <a:bodyPr wrap="square" lIns="0" tIns="0" rIns="0" bIns="0" rtlCol="0" anchor="ctr"/>
          <a:lstStyle/>
          <a:p>
            <a:pPr indent="0" marL="0">
              <a:lnSpc>
                <a:spcPct val="120000"/>
              </a:lnSpc>
              <a:buNone/>
            </a:pPr>
            <a:r>
              <a:rPr lang="en-US" sz="1150" dirty="0">
                <a:solidFill>
                  <a:srgbClr val="5B6B7B"/>
                </a:solidFill>
                <a:latin typeface="Calibri" pitchFamily="34" charset="0"/>
                <a:ea typeface="Calibri" pitchFamily="34" charset="-122"/>
                <a:cs typeface="Calibri" pitchFamily="34" charset="-120"/>
              </a:rPr>
              <a:t>Cada persona tiene un par de claves generado en su navegador. La pública es su identidad en la cadena; la privada firma cada operación.</a:t>
            </a:r>
            <a:endParaRPr lang="en-US" sz="1150" dirty="0"/>
          </a:p>
        </p:txBody>
      </p:sp>
      <p:sp>
        <p:nvSpPr>
          <p:cNvPr id="9" name="Text 7"/>
          <p:cNvSpPr/>
          <p:nvPr/>
        </p:nvSpPr>
        <p:spPr>
          <a:xfrm>
            <a:off x="594360" y="2377440"/>
            <a:ext cx="5303520" cy="182880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La clave privada nunca sale del navegador. Se cifra con una clave derivada de la contraseña y se guarda cifrada en el servidor</a:t>
            </a:r>
            <a:endParaRPr lang="en-US" sz="1050" dirty="0"/>
          </a:p>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El servidor no puede descifrarla. Solo custodia el bloque cifrado</a:t>
            </a:r>
            <a:endParaRPr lang="en-US" sz="1050" dirty="0"/>
          </a:p>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No hay recuperación. Si se olvida la contraseña, se pierde la clave — es intencional</a:t>
            </a:r>
            <a:endParaRPr lang="en-US" sz="1050" dirty="0"/>
          </a:p>
        </p:txBody>
      </p:sp>
      <p:sp>
        <p:nvSpPr>
          <p:cNvPr id="10" name="Shape 8"/>
          <p:cNvSpPr/>
          <p:nvPr/>
        </p:nvSpPr>
        <p:spPr>
          <a:xfrm>
            <a:off x="6263640" y="1572768"/>
            <a:ext cx="5303520" cy="1600200"/>
          </a:xfrm>
          <a:prstGeom prst="roundRect">
            <a:avLst>
              <a:gd name="adj" fmla="val 3429"/>
            </a:avLst>
          </a:prstGeom>
          <a:solidFill>
            <a:srgbClr val="F0F3F6"/>
          </a:solidFill>
          <a:ln w="12700">
            <a:solidFill>
              <a:srgbClr val="333333"/>
            </a:solidFill>
            <a:prstDash val="solid"/>
          </a:ln>
        </p:spPr>
      </p:sp>
      <p:sp>
        <p:nvSpPr>
          <p:cNvPr id="11" name="Text 9"/>
          <p:cNvSpPr/>
          <p:nvPr/>
        </p:nvSpPr>
        <p:spPr>
          <a:xfrm>
            <a:off x="6492240" y="1700784"/>
            <a:ext cx="4846320" cy="1344168"/>
          </a:xfrm>
          <a:prstGeom prst="rect">
            <a:avLst/>
          </a:prstGeom>
          <a:noFill/>
          <a:ln/>
        </p:spPr>
        <p:txBody>
          <a:bodyPr wrap="square" lIns="0" tIns="0" rIns="0" bIns="0" rtlCol="0" anchor="t"/>
          <a:lstStyle/>
          <a:p>
            <a:pPr indent="0" marL="0">
              <a:lnSpc>
                <a:spcPct val="118000"/>
              </a:lnSpc>
              <a:buNone/>
            </a:pPr>
            <a:r>
              <a:rPr lang="en-US" sz="1050" b="1" dirty="0">
                <a:solidFill>
                  <a:srgbClr val="10202F"/>
                </a:solidFill>
                <a:latin typeface="Calibri" pitchFamily="34" charset="0"/>
                <a:ea typeface="Calibri" pitchFamily="34" charset="-122"/>
                <a:cs typeface="Calibri" pitchFamily="34" charset="-120"/>
              </a:rPr>
              <a:t>Firma: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curva elíptica P-256 con SHA-256, en formato crudo de 64 bytes. El mismo esquema del lado del navegador y del lado del nodo, sobre un JSON canónico con las claves ordenadas — si las dos partes serializaran distinto, las firmas no cuadrarían.</a:t>
            </a:r>
            <a:endParaRPr lang="en-US" sz="1050" dirty="0"/>
          </a:p>
        </p:txBody>
      </p:sp>
      <p:sp>
        <p:nvSpPr>
          <p:cNvPr id="12" name="Shape 10"/>
          <p:cNvSpPr/>
          <p:nvPr/>
        </p:nvSpPr>
        <p:spPr>
          <a:xfrm>
            <a:off x="6263640" y="3337560"/>
            <a:ext cx="5303520" cy="1463040"/>
          </a:xfrm>
          <a:prstGeom prst="roundRect">
            <a:avLst>
              <a:gd name="adj" fmla="val 3750"/>
            </a:avLst>
          </a:prstGeom>
          <a:solidFill>
            <a:srgbClr val="DCEFE6"/>
          </a:solidFill>
          <a:ln w="12700">
            <a:solidFill>
              <a:srgbClr val="333333"/>
            </a:solidFill>
            <a:prstDash val="solid"/>
          </a:ln>
        </p:spPr>
      </p:sp>
      <p:sp>
        <p:nvSpPr>
          <p:cNvPr id="13" name="Text 11"/>
          <p:cNvSpPr/>
          <p:nvPr/>
        </p:nvSpPr>
        <p:spPr>
          <a:xfrm>
            <a:off x="6492240" y="3465576"/>
            <a:ext cx="4846320" cy="120700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El email y la contraseña existen para custodiar la clave, no como identidad.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Es una decisión deliberada: la promesa criptográfica se rompe si el servidor puede firmar en nombre del usuario.</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APLICACIÓN</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14 / 30</a:t>
            </a:r>
            <a:endParaRPr lang="en-US" sz="900" dirty="0"/>
          </a:p>
        </p:txBody>
      </p:sp>
      <p:sp>
        <p:nvSpPr>
          <p:cNvPr id="5" name="Shape 3"/>
          <p:cNvSpPr/>
          <p:nvPr/>
        </p:nvSpPr>
        <p:spPr>
          <a:xfrm>
            <a:off x="0" y="6803136"/>
            <a:ext cx="5675376"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APLICACIÓN · CICLO DE VIDA</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De la emisión a la puerta del evento</a:t>
            </a:r>
            <a:endParaRPr lang="en-US" sz="2700" dirty="0"/>
          </a:p>
        </p:txBody>
      </p:sp>
      <p:sp>
        <p:nvSpPr>
          <p:cNvPr id="8" name="Shape 6"/>
          <p:cNvSpPr/>
          <p:nvPr/>
        </p:nvSpPr>
        <p:spPr>
          <a:xfrm>
            <a:off x="594360" y="1600200"/>
            <a:ext cx="2551176" cy="1371600"/>
          </a:xfrm>
          <a:prstGeom prst="roundRect">
            <a:avLst>
              <a:gd name="adj" fmla="val 4000"/>
            </a:avLst>
          </a:prstGeom>
          <a:solidFill>
            <a:srgbClr val="F0F3F6"/>
          </a:solidFill>
          <a:ln w="12700">
            <a:solidFill>
              <a:srgbClr val="333333"/>
            </a:solidFill>
            <a:prstDash val="solid"/>
          </a:ln>
        </p:spPr>
      </p:sp>
      <p:sp>
        <p:nvSpPr>
          <p:cNvPr id="9" name="Text 7"/>
          <p:cNvSpPr/>
          <p:nvPr/>
        </p:nvSpPr>
        <p:spPr>
          <a:xfrm>
            <a:off x="740664" y="1719072"/>
            <a:ext cx="2258568"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1</a:t>
            </a:r>
            <a:endParaRPr lang="en-US" sz="900" dirty="0"/>
          </a:p>
        </p:txBody>
      </p:sp>
      <p:sp>
        <p:nvSpPr>
          <p:cNvPr id="10" name="Text 8"/>
          <p:cNvSpPr/>
          <p:nvPr/>
        </p:nvSpPr>
        <p:spPr>
          <a:xfrm>
            <a:off x="740664" y="1929384"/>
            <a:ext cx="2258568"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Emisión</a:t>
            </a:r>
            <a:endParaRPr lang="en-US" sz="1050" dirty="0"/>
          </a:p>
        </p:txBody>
      </p:sp>
      <p:sp>
        <p:nvSpPr>
          <p:cNvPr id="11" name="Text 9"/>
          <p:cNvSpPr/>
          <p:nvPr/>
        </p:nvSpPr>
        <p:spPr>
          <a:xfrm>
            <a:off x="740664" y="2203704"/>
            <a:ext cx="2258568" cy="64008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El organizador firma y las entradas quedan a su nombre en la cadena.</a:t>
            </a:r>
            <a:endParaRPr lang="en-US" sz="900" dirty="0"/>
          </a:p>
        </p:txBody>
      </p:sp>
      <p:sp>
        <p:nvSpPr>
          <p:cNvPr id="12" name="Text 10"/>
          <p:cNvSpPr/>
          <p:nvPr/>
        </p:nvSpPr>
        <p:spPr>
          <a:xfrm>
            <a:off x="3145536" y="1600200"/>
            <a:ext cx="256032" cy="137160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3401568" y="1600200"/>
            <a:ext cx="2551176" cy="1371600"/>
          </a:xfrm>
          <a:prstGeom prst="roundRect">
            <a:avLst>
              <a:gd name="adj" fmla="val 4000"/>
            </a:avLst>
          </a:prstGeom>
          <a:solidFill>
            <a:srgbClr val="F0F3F6"/>
          </a:solidFill>
          <a:ln w="12700">
            <a:solidFill>
              <a:srgbClr val="333333"/>
            </a:solidFill>
            <a:prstDash val="solid"/>
          </a:ln>
        </p:spPr>
      </p:sp>
      <p:sp>
        <p:nvSpPr>
          <p:cNvPr id="14" name="Text 12"/>
          <p:cNvSpPr/>
          <p:nvPr/>
        </p:nvSpPr>
        <p:spPr>
          <a:xfrm>
            <a:off x="3547872" y="1719072"/>
            <a:ext cx="2258568"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2</a:t>
            </a:r>
            <a:endParaRPr lang="en-US" sz="900" dirty="0"/>
          </a:p>
        </p:txBody>
      </p:sp>
      <p:sp>
        <p:nvSpPr>
          <p:cNvPr id="15" name="Text 13"/>
          <p:cNvSpPr/>
          <p:nvPr/>
        </p:nvSpPr>
        <p:spPr>
          <a:xfrm>
            <a:off x="3547872" y="1929384"/>
            <a:ext cx="2258568"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Compra</a:t>
            </a:r>
            <a:endParaRPr lang="en-US" sz="1050" dirty="0"/>
          </a:p>
        </p:txBody>
      </p:sp>
      <p:sp>
        <p:nvSpPr>
          <p:cNvPr id="16" name="Text 14"/>
          <p:cNvSpPr/>
          <p:nvPr/>
        </p:nvSpPr>
        <p:spPr>
          <a:xfrm>
            <a:off x="3547872" y="2203704"/>
            <a:ext cx="2258568" cy="64008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El asistente paga; al confirmarse se transfiere del organizador a él.</a:t>
            </a:r>
            <a:endParaRPr lang="en-US" sz="900" dirty="0"/>
          </a:p>
        </p:txBody>
      </p:sp>
      <p:sp>
        <p:nvSpPr>
          <p:cNvPr id="17" name="Text 15"/>
          <p:cNvSpPr/>
          <p:nvPr/>
        </p:nvSpPr>
        <p:spPr>
          <a:xfrm>
            <a:off x="5952744" y="1600200"/>
            <a:ext cx="256032" cy="137160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6208776" y="1600200"/>
            <a:ext cx="2551176" cy="1371600"/>
          </a:xfrm>
          <a:prstGeom prst="roundRect">
            <a:avLst>
              <a:gd name="adj" fmla="val 4000"/>
            </a:avLst>
          </a:prstGeom>
          <a:solidFill>
            <a:srgbClr val="F0F3F6"/>
          </a:solidFill>
          <a:ln w="12700">
            <a:solidFill>
              <a:srgbClr val="333333"/>
            </a:solidFill>
            <a:prstDash val="solid"/>
          </a:ln>
        </p:spPr>
      </p:sp>
      <p:sp>
        <p:nvSpPr>
          <p:cNvPr id="19" name="Text 17"/>
          <p:cNvSpPr/>
          <p:nvPr/>
        </p:nvSpPr>
        <p:spPr>
          <a:xfrm>
            <a:off x="6355080" y="1719072"/>
            <a:ext cx="2258568"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3</a:t>
            </a:r>
            <a:endParaRPr lang="en-US" sz="900" dirty="0"/>
          </a:p>
        </p:txBody>
      </p:sp>
      <p:sp>
        <p:nvSpPr>
          <p:cNvPr id="20" name="Text 18"/>
          <p:cNvSpPr/>
          <p:nvPr/>
        </p:nvSpPr>
        <p:spPr>
          <a:xfrm>
            <a:off x="6355080" y="1929384"/>
            <a:ext cx="2258568"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Reventa</a:t>
            </a:r>
            <a:endParaRPr lang="en-US" sz="1050" dirty="0"/>
          </a:p>
        </p:txBody>
      </p:sp>
      <p:sp>
        <p:nvSpPr>
          <p:cNvPr id="21" name="Text 19"/>
          <p:cNvSpPr/>
          <p:nvPr/>
        </p:nvSpPr>
        <p:spPr>
          <a:xfrm>
            <a:off x="6355080" y="2203704"/>
            <a:ext cx="2258568" cy="64008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Puede listarla; otro la compra y se transfiere entre asistentes.</a:t>
            </a:r>
            <a:endParaRPr lang="en-US" sz="900" dirty="0"/>
          </a:p>
        </p:txBody>
      </p:sp>
      <p:sp>
        <p:nvSpPr>
          <p:cNvPr id="22" name="Text 20"/>
          <p:cNvSpPr/>
          <p:nvPr/>
        </p:nvSpPr>
        <p:spPr>
          <a:xfrm>
            <a:off x="8759952" y="1600200"/>
            <a:ext cx="256032" cy="137160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9015984" y="1600200"/>
            <a:ext cx="2551176" cy="1371600"/>
          </a:xfrm>
          <a:prstGeom prst="roundRect">
            <a:avLst>
              <a:gd name="adj" fmla="val 4000"/>
            </a:avLst>
          </a:prstGeom>
          <a:solidFill>
            <a:srgbClr val="DCEFE6"/>
          </a:solidFill>
          <a:ln w="12700">
            <a:solidFill>
              <a:srgbClr val="333333"/>
            </a:solidFill>
            <a:prstDash val="solid"/>
          </a:ln>
        </p:spPr>
      </p:sp>
      <p:sp>
        <p:nvSpPr>
          <p:cNvPr id="24" name="Text 22"/>
          <p:cNvSpPr/>
          <p:nvPr/>
        </p:nvSpPr>
        <p:spPr>
          <a:xfrm>
            <a:off x="9162288" y="1719072"/>
            <a:ext cx="2258568"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4</a:t>
            </a:r>
            <a:endParaRPr lang="en-US" sz="900" dirty="0"/>
          </a:p>
        </p:txBody>
      </p:sp>
      <p:sp>
        <p:nvSpPr>
          <p:cNvPr id="25" name="Text 23"/>
          <p:cNvSpPr/>
          <p:nvPr/>
        </p:nvSpPr>
        <p:spPr>
          <a:xfrm>
            <a:off x="9162288" y="1929384"/>
            <a:ext cx="2258568" cy="274320"/>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Validación</a:t>
            </a:r>
            <a:endParaRPr lang="en-US" sz="1050" dirty="0"/>
          </a:p>
        </p:txBody>
      </p:sp>
      <p:sp>
        <p:nvSpPr>
          <p:cNvPr id="26" name="Text 24"/>
          <p:cNvSpPr/>
          <p:nvPr/>
        </p:nvSpPr>
        <p:spPr>
          <a:xfrm>
            <a:off x="9162288" y="2203704"/>
            <a:ext cx="2258568" cy="64008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En la puerta muestra un código firmado y la entrada vuelve al organizador.</a:t>
            </a:r>
            <a:endParaRPr lang="en-US" sz="900" dirty="0"/>
          </a:p>
        </p:txBody>
      </p:sp>
      <p:sp>
        <p:nvSpPr>
          <p:cNvPr id="27" name="Shape 25"/>
          <p:cNvSpPr/>
          <p:nvPr/>
        </p:nvSpPr>
        <p:spPr>
          <a:xfrm>
            <a:off x="594360" y="3291840"/>
            <a:ext cx="10972800" cy="1965960"/>
          </a:xfrm>
          <a:prstGeom prst="roundRect">
            <a:avLst>
              <a:gd name="adj" fmla="val 2791"/>
            </a:avLst>
          </a:prstGeom>
          <a:solidFill>
            <a:srgbClr val="DCEFE6"/>
          </a:solidFill>
          <a:ln w="12700">
            <a:solidFill>
              <a:srgbClr val="333333"/>
            </a:solidFill>
            <a:prstDash val="solid"/>
          </a:ln>
        </p:spPr>
      </p:sp>
      <p:sp>
        <p:nvSpPr>
          <p:cNvPr id="28" name="Text 26"/>
          <p:cNvSpPr/>
          <p:nvPr/>
        </p:nvSpPr>
        <p:spPr>
          <a:xfrm>
            <a:off x="822960" y="3419856"/>
            <a:ext cx="10515600" cy="1709928"/>
          </a:xfrm>
          <a:prstGeom prst="rect">
            <a:avLst/>
          </a:prstGeom>
          <a:noFill/>
          <a:ln/>
        </p:spPr>
        <p:txBody>
          <a:bodyPr wrap="square" lIns="0" tIns="0" rIns="0" bIns="0" rtlCol="0" anchor="t"/>
          <a:lstStyle/>
          <a:p>
            <a:pPr indent="0" marL="0">
              <a:lnSpc>
                <a:spcPct val="118000"/>
              </a:lnSpc>
              <a:buNone/>
            </a:pPr>
            <a:r>
              <a:rPr lang="en-US" sz="1300" b="1" dirty="0">
                <a:solidFill>
                  <a:srgbClr val="0B6E4F"/>
                </a:solidFill>
                <a:latin typeface="Calibri" pitchFamily="34" charset="0"/>
                <a:ea typeface="Calibri" pitchFamily="34" charset="-122"/>
                <a:cs typeface="Calibri" pitchFamily="34" charset="-120"/>
              </a:rPr>
              <a:t>La decisión de diseño más elegante del trabajo: validar es transferir.
</a:t>
            </a:r>
            <a:pPr indent="0" marL="0">
              <a:lnSpc>
                <a:spcPct val="118000"/>
              </a:lnSpc>
              <a:buNone/>
            </a:pPr>
            <a:r>
              <a:rPr lang="en-US" sz="1200" dirty="0">
                <a:solidFill>
                  <a:srgbClr val="5B6B7B"/>
                </a:solidFill>
                <a:latin typeface="Calibri" pitchFamily="34" charset="0"/>
                <a:ea typeface="Calibri" pitchFamily="34" charset="-122"/>
                <a:cs typeface="Calibri" pitchFamily="34" charset="-120"/>
              </a:rPr>
              <a:t>No existe un campo “usada”. Cuando el asistente valida en la puerta, la entrada se transfiere de vuelta al organizador. La unicidad emerge sola: si el dueño actual ya no es el asistente, su código firmado no verifica. Un mismo código no puede entrar dos veces, sin que nadie tenga que llevar la cuenta.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3 · INFRAESTRUCTURA</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15 / 30</a:t>
            </a:r>
            <a:endParaRPr lang="en-US" sz="900" dirty="0"/>
          </a:p>
        </p:txBody>
      </p:sp>
      <p:sp>
        <p:nvSpPr>
          <p:cNvPr id="5" name="Shape 3"/>
          <p:cNvSpPr/>
          <p:nvPr/>
        </p:nvSpPr>
        <p:spPr>
          <a:xfrm>
            <a:off x="0" y="6803136"/>
            <a:ext cx="6080760"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3</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Dos clusters, cada uno con su razón</a:t>
            </a:r>
            <a:endParaRPr lang="en-US" sz="2700" dirty="0"/>
          </a:p>
        </p:txBody>
      </p:sp>
      <p:sp>
        <p:nvSpPr>
          <p:cNvPr id="8" name="Shape 6"/>
          <p:cNvSpPr/>
          <p:nvPr/>
        </p:nvSpPr>
        <p:spPr>
          <a:xfrm>
            <a:off x="594360" y="1600200"/>
            <a:ext cx="5349240" cy="2103120"/>
          </a:xfrm>
          <a:prstGeom prst="roundRect">
            <a:avLst>
              <a:gd name="adj" fmla="val 2609"/>
            </a:avLst>
          </a:prstGeom>
          <a:solidFill>
            <a:srgbClr val="F0F3F6"/>
          </a:solidFill>
          <a:ln w="12700">
            <a:solidFill>
              <a:srgbClr val="333333"/>
            </a:solidFill>
            <a:prstDash val="solid"/>
          </a:ln>
        </p:spPr>
      </p:sp>
      <p:sp>
        <p:nvSpPr>
          <p:cNvPr id="9" name="Text 7"/>
          <p:cNvSpPr/>
          <p:nvPr/>
        </p:nvSpPr>
        <p:spPr>
          <a:xfrm>
            <a:off x="795528" y="1764792"/>
            <a:ext cx="49469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Cluster propio — Google Kubernetes Engine</a:t>
            </a:r>
            <a:endParaRPr lang="en-US" sz="1250" dirty="0"/>
          </a:p>
        </p:txBody>
      </p:sp>
      <p:sp>
        <p:nvSpPr>
          <p:cNvPr id="10" name="Text 8"/>
          <p:cNvSpPr/>
          <p:nvPr/>
        </p:nvSpPr>
        <p:spPr>
          <a:xfrm>
            <a:off x="795528" y="2075688"/>
            <a:ext cx="4946904" cy="1490472"/>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Aloja todo el sistema: la aplicación, la base de datos, el coordinador, el repartidor, los mineros de respaldo, las colas y la observabilidad completa.</a:t>
            </a:r>
            <a:endParaRPr lang="en-US" sz="1050" dirty="0"/>
          </a:p>
        </p:txBody>
      </p:sp>
      <p:sp>
        <p:nvSpPr>
          <p:cNvPr id="11" name="Shape 9"/>
          <p:cNvSpPr/>
          <p:nvPr/>
        </p:nvSpPr>
        <p:spPr>
          <a:xfrm>
            <a:off x="795528" y="3200400"/>
            <a:ext cx="1078992" cy="274320"/>
          </a:xfrm>
          <a:prstGeom prst="roundRect">
            <a:avLst>
              <a:gd name="adj" fmla="val 16667"/>
            </a:avLst>
          </a:prstGeom>
          <a:solidFill>
            <a:srgbClr val="E6EBF0"/>
          </a:solidFill>
          <a:ln w="12700">
            <a:solidFill>
              <a:srgbClr val="333333"/>
            </a:solidFill>
            <a:prstDash val="solid"/>
          </a:ln>
        </p:spPr>
      </p:sp>
      <p:sp>
        <p:nvSpPr>
          <p:cNvPr id="12" name="Text 10"/>
          <p:cNvSpPr/>
          <p:nvPr/>
        </p:nvSpPr>
        <p:spPr>
          <a:xfrm>
            <a:off x="795528" y="3200400"/>
            <a:ext cx="1078992" cy="274320"/>
          </a:xfrm>
          <a:prstGeom prst="rect">
            <a:avLst/>
          </a:prstGeom>
          <a:noFill/>
          <a:ln/>
        </p:spPr>
        <p:txBody>
          <a:bodyPr wrap="square" lIns="0" tIns="0" rIns="0" bIns="0" rtlCol="0" anchor="ctr"/>
          <a:lstStyle/>
          <a:p>
            <a:pPr algn="ctr" indent="0" marL="0">
              <a:buNone/>
            </a:pPr>
            <a:r>
              <a:rPr lang="en-US" sz="900" dirty="0">
                <a:solidFill>
                  <a:srgbClr val="10202F"/>
                </a:solidFill>
                <a:latin typeface="Consolas" pitchFamily="34" charset="0"/>
                <a:ea typeface="Consolas" pitchFamily="34" charset="-122"/>
                <a:cs typeface="Consolas" pitchFamily="34" charset="-120"/>
              </a:rPr>
              <a:t>pool infra</a:t>
            </a:r>
            <a:endParaRPr lang="en-US" sz="900" dirty="0"/>
          </a:p>
        </p:txBody>
      </p:sp>
      <p:sp>
        <p:nvSpPr>
          <p:cNvPr id="13" name="Shape 11"/>
          <p:cNvSpPr/>
          <p:nvPr/>
        </p:nvSpPr>
        <p:spPr>
          <a:xfrm>
            <a:off x="2002536" y="3200400"/>
            <a:ext cx="1004011" cy="274320"/>
          </a:xfrm>
          <a:prstGeom prst="roundRect">
            <a:avLst>
              <a:gd name="adj" fmla="val 16667"/>
            </a:avLst>
          </a:prstGeom>
          <a:solidFill>
            <a:srgbClr val="E6EBF0"/>
          </a:solidFill>
          <a:ln w="12700">
            <a:solidFill>
              <a:srgbClr val="333333"/>
            </a:solidFill>
            <a:prstDash val="solid"/>
          </a:ln>
        </p:spPr>
      </p:sp>
      <p:sp>
        <p:nvSpPr>
          <p:cNvPr id="14" name="Text 12"/>
          <p:cNvSpPr/>
          <p:nvPr/>
        </p:nvSpPr>
        <p:spPr>
          <a:xfrm>
            <a:off x="2002536" y="3200400"/>
            <a:ext cx="1004011" cy="274320"/>
          </a:xfrm>
          <a:prstGeom prst="rect">
            <a:avLst/>
          </a:prstGeom>
          <a:noFill/>
          <a:ln/>
        </p:spPr>
        <p:txBody>
          <a:bodyPr wrap="square" lIns="0" tIns="0" rIns="0" bIns="0" rtlCol="0" anchor="ctr"/>
          <a:lstStyle/>
          <a:p>
            <a:pPr algn="ctr" indent="0" marL="0">
              <a:buNone/>
            </a:pPr>
            <a:r>
              <a:rPr lang="en-US" sz="900" dirty="0">
                <a:solidFill>
                  <a:srgbClr val="10202F"/>
                </a:solidFill>
                <a:latin typeface="Consolas" pitchFamily="34" charset="0"/>
                <a:ea typeface="Consolas" pitchFamily="34" charset="-122"/>
                <a:cs typeface="Consolas" pitchFamily="34" charset="-120"/>
              </a:rPr>
              <a:t>pool apps</a:t>
            </a:r>
            <a:endParaRPr lang="en-US" sz="900" dirty="0"/>
          </a:p>
        </p:txBody>
      </p:sp>
      <p:sp>
        <p:nvSpPr>
          <p:cNvPr id="15" name="Shape 13"/>
          <p:cNvSpPr/>
          <p:nvPr/>
        </p:nvSpPr>
        <p:spPr>
          <a:xfrm>
            <a:off x="3134563" y="3200400"/>
            <a:ext cx="1453896" cy="274320"/>
          </a:xfrm>
          <a:prstGeom prst="roundRect">
            <a:avLst>
              <a:gd name="adj" fmla="val 16667"/>
            </a:avLst>
          </a:prstGeom>
          <a:solidFill>
            <a:srgbClr val="E6EBF0"/>
          </a:solidFill>
          <a:ln w="12700">
            <a:solidFill>
              <a:srgbClr val="333333"/>
            </a:solidFill>
            <a:prstDash val="solid"/>
          </a:ln>
        </p:spPr>
      </p:sp>
      <p:sp>
        <p:nvSpPr>
          <p:cNvPr id="16" name="Text 14"/>
          <p:cNvSpPr/>
          <p:nvPr/>
        </p:nvSpPr>
        <p:spPr>
          <a:xfrm>
            <a:off x="3134563" y="3200400"/>
            <a:ext cx="1453896" cy="274320"/>
          </a:xfrm>
          <a:prstGeom prst="rect">
            <a:avLst/>
          </a:prstGeom>
          <a:noFill/>
          <a:ln/>
        </p:spPr>
        <p:txBody>
          <a:bodyPr wrap="square" lIns="0" tIns="0" rIns="0" bIns="0" rtlCol="0" anchor="ctr"/>
          <a:lstStyle/>
          <a:p>
            <a:pPr algn="ctr" indent="0" marL="0">
              <a:buNone/>
            </a:pPr>
            <a:r>
              <a:rPr lang="en-US" sz="900" dirty="0">
                <a:solidFill>
                  <a:srgbClr val="10202F"/>
                </a:solidFill>
                <a:latin typeface="Consolas" pitchFamily="34" charset="0"/>
                <a:ea typeface="Consolas" pitchFamily="34" charset="-122"/>
                <a:cs typeface="Consolas" pitchFamily="34" charset="-120"/>
              </a:rPr>
              <a:t>pool monitoring</a:t>
            </a:r>
            <a:endParaRPr lang="en-US" sz="900" dirty="0"/>
          </a:p>
        </p:txBody>
      </p:sp>
      <p:sp>
        <p:nvSpPr>
          <p:cNvPr id="17" name="Shape 15"/>
          <p:cNvSpPr/>
          <p:nvPr/>
        </p:nvSpPr>
        <p:spPr>
          <a:xfrm>
            <a:off x="6217920" y="1600200"/>
            <a:ext cx="5349240" cy="2103120"/>
          </a:xfrm>
          <a:prstGeom prst="roundRect">
            <a:avLst>
              <a:gd name="adj" fmla="val 2609"/>
            </a:avLst>
          </a:prstGeom>
          <a:solidFill>
            <a:srgbClr val="F0F3F6"/>
          </a:solidFill>
          <a:ln w="12700">
            <a:solidFill>
              <a:srgbClr val="333333"/>
            </a:solidFill>
            <a:prstDash val="solid"/>
          </a:ln>
        </p:spPr>
      </p:sp>
      <p:sp>
        <p:nvSpPr>
          <p:cNvPr id="18" name="Text 16"/>
          <p:cNvSpPr/>
          <p:nvPr/>
        </p:nvSpPr>
        <p:spPr>
          <a:xfrm>
            <a:off x="6419088" y="1764792"/>
            <a:ext cx="49469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Cluster del docente — con GPU</a:t>
            </a:r>
            <a:endParaRPr lang="en-US" sz="1250" dirty="0"/>
          </a:p>
        </p:txBody>
      </p:sp>
      <p:sp>
        <p:nvSpPr>
          <p:cNvPr id="19" name="Text 17"/>
          <p:cNvSpPr/>
          <p:nvPr/>
        </p:nvSpPr>
        <p:spPr>
          <a:xfrm>
            <a:off x="6419088" y="2075688"/>
            <a:ext cx="4946904" cy="1490472"/>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Aloja el servidor de GPU y los mineros acelerados, porque es donde están las placas. Se conecta al nuestro por direcciones públicas.</a:t>
            </a:r>
            <a:endParaRPr lang="en-US" sz="1050" dirty="0"/>
          </a:p>
        </p:txBody>
      </p:sp>
      <p:sp>
        <p:nvSpPr>
          <p:cNvPr id="20" name="Shape 18"/>
          <p:cNvSpPr/>
          <p:nvPr/>
        </p:nvSpPr>
        <p:spPr>
          <a:xfrm>
            <a:off x="6419088" y="3200400"/>
            <a:ext cx="1228954" cy="274320"/>
          </a:xfrm>
          <a:prstGeom prst="roundRect">
            <a:avLst>
              <a:gd name="adj" fmla="val 16667"/>
            </a:avLst>
          </a:prstGeom>
          <a:solidFill>
            <a:srgbClr val="DCEFE6"/>
          </a:solidFill>
          <a:ln w="12700">
            <a:solidFill>
              <a:srgbClr val="333333"/>
            </a:solidFill>
            <a:prstDash val="solid"/>
          </a:ln>
        </p:spPr>
      </p:sp>
      <p:sp>
        <p:nvSpPr>
          <p:cNvPr id="21" name="Text 19"/>
          <p:cNvSpPr/>
          <p:nvPr/>
        </p:nvSpPr>
        <p:spPr>
          <a:xfrm>
            <a:off x="6419088" y="3200400"/>
            <a:ext cx="1228954" cy="274320"/>
          </a:xfrm>
          <a:prstGeom prst="rect">
            <a:avLst/>
          </a:prstGeom>
          <a:noFill/>
          <a:ln/>
        </p:spPr>
        <p:txBody>
          <a:bodyPr wrap="square" lIns="0" tIns="0" rIns="0" bIns="0" rtlCol="0" anchor="ctr"/>
          <a:lstStyle/>
          <a:p>
            <a:pPr algn="ctr" indent="0" marL="0">
              <a:buNone/>
            </a:pPr>
            <a:r>
              <a:rPr lang="en-US" sz="900" dirty="0">
                <a:solidFill>
                  <a:srgbClr val="0B6E4F"/>
                </a:solidFill>
                <a:latin typeface="Consolas" pitchFamily="34" charset="0"/>
                <a:ea typeface="Consolas" pitchFamily="34" charset="-122"/>
                <a:cs typeface="Consolas" pitchFamily="34" charset="-120"/>
              </a:rPr>
              <a:t>servidor GPU</a:t>
            </a:r>
            <a:endParaRPr lang="en-US" sz="900" dirty="0"/>
          </a:p>
        </p:txBody>
      </p:sp>
      <p:sp>
        <p:nvSpPr>
          <p:cNvPr id="22" name="Shape 20"/>
          <p:cNvSpPr/>
          <p:nvPr/>
        </p:nvSpPr>
        <p:spPr>
          <a:xfrm>
            <a:off x="7776058" y="3200400"/>
            <a:ext cx="1004011" cy="274320"/>
          </a:xfrm>
          <a:prstGeom prst="roundRect">
            <a:avLst>
              <a:gd name="adj" fmla="val 16667"/>
            </a:avLst>
          </a:prstGeom>
          <a:solidFill>
            <a:srgbClr val="DCEFE6"/>
          </a:solidFill>
          <a:ln w="12700">
            <a:solidFill>
              <a:srgbClr val="333333"/>
            </a:solidFill>
            <a:prstDash val="solid"/>
          </a:ln>
        </p:spPr>
      </p:sp>
      <p:sp>
        <p:nvSpPr>
          <p:cNvPr id="23" name="Text 21"/>
          <p:cNvSpPr/>
          <p:nvPr/>
        </p:nvSpPr>
        <p:spPr>
          <a:xfrm>
            <a:off x="7776058" y="3200400"/>
            <a:ext cx="1004011" cy="274320"/>
          </a:xfrm>
          <a:prstGeom prst="rect">
            <a:avLst/>
          </a:prstGeom>
          <a:noFill/>
          <a:ln/>
        </p:spPr>
        <p:txBody>
          <a:bodyPr wrap="square" lIns="0" tIns="0" rIns="0" bIns="0" rtlCol="0" anchor="ctr"/>
          <a:lstStyle/>
          <a:p>
            <a:pPr algn="ctr" indent="0" marL="0">
              <a:buNone/>
            </a:pPr>
            <a:r>
              <a:rPr lang="en-US" sz="900" dirty="0">
                <a:solidFill>
                  <a:srgbClr val="0B6E4F"/>
                </a:solidFill>
                <a:latin typeface="Consolas" pitchFamily="34" charset="0"/>
                <a:ea typeface="Consolas" pitchFamily="34" charset="-122"/>
                <a:cs typeface="Consolas" pitchFamily="34" charset="-120"/>
              </a:rPr>
              <a:t>4 mineros</a:t>
            </a:r>
            <a:endParaRPr lang="en-US" sz="900" dirty="0"/>
          </a:p>
        </p:txBody>
      </p:sp>
      <p:sp>
        <p:nvSpPr>
          <p:cNvPr id="24" name="Shape 22"/>
          <p:cNvSpPr/>
          <p:nvPr/>
        </p:nvSpPr>
        <p:spPr>
          <a:xfrm>
            <a:off x="594360" y="3977640"/>
            <a:ext cx="10972800" cy="1371600"/>
          </a:xfrm>
          <a:prstGeom prst="roundRect">
            <a:avLst>
              <a:gd name="adj" fmla="val 4000"/>
            </a:avLst>
          </a:prstGeom>
          <a:solidFill>
            <a:srgbClr val="F7E9D8"/>
          </a:solidFill>
          <a:ln w="12700">
            <a:solidFill>
              <a:srgbClr val="333333"/>
            </a:solidFill>
            <a:prstDash val="solid"/>
          </a:ln>
        </p:spPr>
      </p:sp>
      <p:sp>
        <p:nvSpPr>
          <p:cNvPr id="25" name="Text 23"/>
          <p:cNvSpPr/>
          <p:nvPr/>
        </p:nvSpPr>
        <p:spPr>
          <a:xfrm>
            <a:off x="822960" y="4105656"/>
            <a:ext cx="10515600" cy="1115568"/>
          </a:xfrm>
          <a:prstGeom prst="rect">
            <a:avLst/>
          </a:prstGeom>
          <a:noFill/>
          <a:ln/>
        </p:spPr>
        <p:txBody>
          <a:bodyPr wrap="square" lIns="0" tIns="0" rIns="0" bIns="0" rtlCol="0" anchor="t"/>
          <a:lstStyle/>
          <a:p>
            <a:pPr indent="0" marL="0">
              <a:lnSpc>
                <a:spcPct val="118000"/>
              </a:lnSpc>
              <a:buNone/>
            </a:pPr>
            <a:r>
              <a:rPr lang="en-US" sz="1050" b="1" dirty="0">
                <a:solidFill>
                  <a:srgbClr val="A85B12"/>
                </a:solidFill>
                <a:latin typeface="Calibri" pitchFamily="34" charset="0"/>
                <a:ea typeface="Calibri" pitchFamily="34" charset="-122"/>
                <a:cs typeface="Calibri" pitchFamily="34" charset="-120"/>
              </a:rPr>
              <a:t>Ese cruce entre clusters es lo que obliga a cifrar.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El tráfico de los mineros hacia las colas sale de nuestra red, así que va por TLS. El tráfico interno entre componentes del mismo cluster va en texto plano — una decisión documentada, no un olvido: se cifra donde el tráfico atraviesa una red que no controlamos.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3 · INFRAESTRUCTURA</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16 / 30</a:t>
            </a:r>
            <a:endParaRPr lang="en-US" sz="900" dirty="0"/>
          </a:p>
        </p:txBody>
      </p:sp>
      <p:sp>
        <p:nvSpPr>
          <p:cNvPr id="5" name="Shape 3"/>
          <p:cNvSpPr/>
          <p:nvPr/>
        </p:nvSpPr>
        <p:spPr>
          <a:xfrm>
            <a:off x="0" y="6803136"/>
            <a:ext cx="6486144"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3 · KUBERNETES</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Cómo están declarados los servicios</a:t>
            </a:r>
            <a:endParaRPr lang="en-US" sz="2700" dirty="0"/>
          </a:p>
        </p:txBody>
      </p:sp>
      <p:sp>
        <p:nvSpPr>
          <p:cNvPr id="8" name="Text 6"/>
          <p:cNvSpPr/>
          <p:nvPr/>
        </p:nvSpPr>
        <p:spPr>
          <a:xfrm>
            <a:off x="594360" y="1536192"/>
            <a:ext cx="2743200" cy="365760"/>
          </a:xfrm>
          <a:prstGeom prst="rect">
            <a:avLst/>
          </a:prstGeom>
          <a:noFill/>
          <a:ln/>
        </p:spPr>
        <p:txBody>
          <a:bodyPr wrap="square" lIns="0" tIns="0" rIns="0" bIns="0" rtlCol="0" anchor="ctr"/>
          <a:lstStyle/>
          <a:p>
            <a:pPr algn="l" indent="0" marL="0">
              <a:buNone/>
            </a:pPr>
            <a:r>
              <a:rPr lang="en-US" sz="850" b="1" spc="80" kern="0" dirty="0">
                <a:solidFill>
                  <a:srgbClr val="5B6B7B"/>
                </a:solidFill>
                <a:latin typeface="Calibri" pitchFamily="34" charset="0"/>
                <a:ea typeface="Calibri" pitchFamily="34" charset="-122"/>
                <a:cs typeface="Calibri" pitchFamily="34" charset="-120"/>
              </a:rPr>
              <a:t>SERVICIO</a:t>
            </a:r>
            <a:endParaRPr lang="en-US" sz="850" dirty="0"/>
          </a:p>
        </p:txBody>
      </p:sp>
      <p:sp>
        <p:nvSpPr>
          <p:cNvPr id="9" name="Text 7"/>
          <p:cNvSpPr/>
          <p:nvPr/>
        </p:nvSpPr>
        <p:spPr>
          <a:xfrm>
            <a:off x="3337560" y="1536192"/>
            <a:ext cx="1828800" cy="365760"/>
          </a:xfrm>
          <a:prstGeom prst="rect">
            <a:avLst/>
          </a:prstGeom>
          <a:noFill/>
          <a:ln/>
        </p:spPr>
        <p:txBody>
          <a:bodyPr wrap="square" lIns="0" tIns="0" rIns="0" bIns="0" rtlCol="0" anchor="ctr"/>
          <a:lstStyle/>
          <a:p>
            <a:pPr algn="l" indent="0" marL="0">
              <a:buNone/>
            </a:pPr>
            <a:r>
              <a:rPr lang="en-US" sz="850" b="1" spc="80" kern="0" dirty="0">
                <a:solidFill>
                  <a:srgbClr val="5B6B7B"/>
                </a:solidFill>
                <a:latin typeface="Calibri" pitchFamily="34" charset="0"/>
                <a:ea typeface="Calibri" pitchFamily="34" charset="-122"/>
                <a:cs typeface="Calibri" pitchFamily="34" charset="-120"/>
              </a:rPr>
              <a:t>TIPO DE RECURSO</a:t>
            </a:r>
            <a:endParaRPr lang="en-US" sz="850" dirty="0"/>
          </a:p>
        </p:txBody>
      </p:sp>
      <p:sp>
        <p:nvSpPr>
          <p:cNvPr id="10" name="Text 8"/>
          <p:cNvSpPr/>
          <p:nvPr/>
        </p:nvSpPr>
        <p:spPr>
          <a:xfrm>
            <a:off x="5166360" y="1536192"/>
            <a:ext cx="1097280" cy="365760"/>
          </a:xfrm>
          <a:prstGeom prst="rect">
            <a:avLst/>
          </a:prstGeom>
          <a:noFill/>
          <a:ln/>
        </p:spPr>
        <p:txBody>
          <a:bodyPr wrap="square" lIns="0" tIns="0" rIns="0" bIns="0" rtlCol="0" anchor="ctr"/>
          <a:lstStyle/>
          <a:p>
            <a:pPr algn="r" indent="0" marL="0">
              <a:buNone/>
            </a:pPr>
            <a:r>
              <a:rPr lang="en-US" sz="850" b="1" spc="80" kern="0" dirty="0">
                <a:solidFill>
                  <a:srgbClr val="5B6B7B"/>
                </a:solidFill>
                <a:latin typeface="Calibri" pitchFamily="34" charset="0"/>
                <a:ea typeface="Calibri" pitchFamily="34" charset="-122"/>
                <a:cs typeface="Calibri" pitchFamily="34" charset="-120"/>
              </a:rPr>
              <a:t>RÉPLICAS</a:t>
            </a:r>
            <a:endParaRPr lang="en-US" sz="850" dirty="0"/>
          </a:p>
        </p:txBody>
      </p:sp>
      <p:sp>
        <p:nvSpPr>
          <p:cNvPr id="11" name="Text 9"/>
          <p:cNvSpPr/>
          <p:nvPr/>
        </p:nvSpPr>
        <p:spPr>
          <a:xfrm>
            <a:off x="6263640" y="1536192"/>
            <a:ext cx="1097280" cy="365760"/>
          </a:xfrm>
          <a:prstGeom prst="rect">
            <a:avLst/>
          </a:prstGeom>
          <a:noFill/>
          <a:ln/>
        </p:spPr>
        <p:txBody>
          <a:bodyPr wrap="square" lIns="0" tIns="0" rIns="0" bIns="0" rtlCol="0" anchor="ctr"/>
          <a:lstStyle/>
          <a:p>
            <a:pPr algn="l" indent="0" marL="0">
              <a:buNone/>
            </a:pPr>
            <a:r>
              <a:rPr lang="en-US" sz="850" b="1" spc="80" kern="0" dirty="0">
                <a:solidFill>
                  <a:srgbClr val="5B6B7B"/>
                </a:solidFill>
                <a:latin typeface="Calibri" pitchFamily="34" charset="0"/>
                <a:ea typeface="Calibri" pitchFamily="34" charset="-122"/>
                <a:cs typeface="Calibri" pitchFamily="34" charset="-120"/>
              </a:rPr>
              <a:t>POOL</a:t>
            </a:r>
            <a:endParaRPr lang="en-US" sz="850" dirty="0"/>
          </a:p>
        </p:txBody>
      </p:sp>
      <p:sp>
        <p:nvSpPr>
          <p:cNvPr id="12" name="Shape 10"/>
          <p:cNvSpPr/>
          <p:nvPr/>
        </p:nvSpPr>
        <p:spPr>
          <a:xfrm>
            <a:off x="594360" y="1883664"/>
            <a:ext cx="6766560" cy="16459"/>
          </a:xfrm>
          <a:prstGeom prst="rect">
            <a:avLst/>
          </a:prstGeom>
          <a:solidFill>
            <a:srgbClr val="DDE3E9"/>
          </a:solidFill>
          <a:ln w="12700">
            <a:solidFill>
              <a:srgbClr val="333333"/>
            </a:solidFill>
            <a:prstDash val="solid"/>
          </a:ln>
        </p:spPr>
      </p:sp>
      <p:sp>
        <p:nvSpPr>
          <p:cNvPr id="13" name="Text 11"/>
          <p:cNvSpPr/>
          <p:nvPr/>
        </p:nvSpPr>
        <p:spPr>
          <a:xfrm>
            <a:off x="594360" y="1901952"/>
            <a:ext cx="2743200" cy="365760"/>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frontend</a:t>
            </a:r>
            <a:endParaRPr lang="en-US" sz="1000" dirty="0"/>
          </a:p>
        </p:txBody>
      </p:sp>
      <p:sp>
        <p:nvSpPr>
          <p:cNvPr id="14" name="Text 12"/>
          <p:cNvSpPr/>
          <p:nvPr/>
        </p:nvSpPr>
        <p:spPr>
          <a:xfrm>
            <a:off x="3337560" y="1901952"/>
            <a:ext cx="182880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Deployment</a:t>
            </a:r>
            <a:endParaRPr lang="en-US" sz="1000" dirty="0"/>
          </a:p>
        </p:txBody>
      </p:sp>
      <p:sp>
        <p:nvSpPr>
          <p:cNvPr id="15" name="Text 13"/>
          <p:cNvSpPr/>
          <p:nvPr/>
        </p:nvSpPr>
        <p:spPr>
          <a:xfrm>
            <a:off x="5166360" y="1901952"/>
            <a:ext cx="1097280" cy="365760"/>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6263640" y="1901952"/>
            <a:ext cx="109728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apps</a:t>
            </a:r>
            <a:endParaRPr lang="en-US" sz="1000" dirty="0"/>
          </a:p>
        </p:txBody>
      </p:sp>
      <p:sp>
        <p:nvSpPr>
          <p:cNvPr id="17" name="Shape 15"/>
          <p:cNvSpPr/>
          <p:nvPr/>
        </p:nvSpPr>
        <p:spPr>
          <a:xfrm>
            <a:off x="594360" y="2258568"/>
            <a:ext cx="6766560" cy="7315"/>
          </a:xfrm>
          <a:prstGeom prst="rect">
            <a:avLst/>
          </a:prstGeom>
          <a:solidFill>
            <a:srgbClr val="DDE3E9"/>
          </a:solidFill>
          <a:ln w="12700">
            <a:solidFill>
              <a:srgbClr val="333333"/>
            </a:solidFill>
            <a:prstDash val="solid"/>
          </a:ln>
        </p:spPr>
      </p:sp>
      <p:sp>
        <p:nvSpPr>
          <p:cNvPr id="18" name="Text 16"/>
          <p:cNvSpPr/>
          <p:nvPr/>
        </p:nvSpPr>
        <p:spPr>
          <a:xfrm>
            <a:off x="594360" y="2267712"/>
            <a:ext cx="2743200" cy="365760"/>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blockchain-nct</a:t>
            </a:r>
            <a:endParaRPr lang="en-US" sz="1000" dirty="0"/>
          </a:p>
        </p:txBody>
      </p:sp>
      <p:sp>
        <p:nvSpPr>
          <p:cNvPr id="19" name="Text 17"/>
          <p:cNvSpPr/>
          <p:nvPr/>
        </p:nvSpPr>
        <p:spPr>
          <a:xfrm>
            <a:off x="3337560" y="2267712"/>
            <a:ext cx="182880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Deployment</a:t>
            </a:r>
            <a:endParaRPr lang="en-US" sz="1000" dirty="0"/>
          </a:p>
        </p:txBody>
      </p:sp>
      <p:sp>
        <p:nvSpPr>
          <p:cNvPr id="20" name="Text 18"/>
          <p:cNvSpPr/>
          <p:nvPr/>
        </p:nvSpPr>
        <p:spPr>
          <a:xfrm>
            <a:off x="5166360" y="2267712"/>
            <a:ext cx="1097280" cy="365760"/>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2</a:t>
            </a:r>
            <a:endParaRPr lang="en-US" sz="1000" dirty="0"/>
          </a:p>
        </p:txBody>
      </p:sp>
      <p:sp>
        <p:nvSpPr>
          <p:cNvPr id="21" name="Text 19"/>
          <p:cNvSpPr/>
          <p:nvPr/>
        </p:nvSpPr>
        <p:spPr>
          <a:xfrm>
            <a:off x="6263640" y="2267712"/>
            <a:ext cx="109728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apps</a:t>
            </a:r>
            <a:endParaRPr lang="en-US" sz="1000" dirty="0"/>
          </a:p>
        </p:txBody>
      </p:sp>
      <p:sp>
        <p:nvSpPr>
          <p:cNvPr id="22" name="Shape 20"/>
          <p:cNvSpPr/>
          <p:nvPr/>
        </p:nvSpPr>
        <p:spPr>
          <a:xfrm>
            <a:off x="594360" y="2624328"/>
            <a:ext cx="6766560" cy="7315"/>
          </a:xfrm>
          <a:prstGeom prst="rect">
            <a:avLst/>
          </a:prstGeom>
          <a:solidFill>
            <a:srgbClr val="DDE3E9"/>
          </a:solidFill>
          <a:ln w="12700">
            <a:solidFill>
              <a:srgbClr val="333333"/>
            </a:solidFill>
            <a:prstDash val="solid"/>
          </a:ln>
        </p:spPr>
      </p:sp>
      <p:sp>
        <p:nvSpPr>
          <p:cNvPr id="23" name="Text 21"/>
          <p:cNvSpPr/>
          <p:nvPr/>
        </p:nvSpPr>
        <p:spPr>
          <a:xfrm>
            <a:off x="594360" y="2633472"/>
            <a:ext cx="2743200" cy="365760"/>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blockchain-trp</a:t>
            </a:r>
            <a:endParaRPr lang="en-US" sz="1000" dirty="0"/>
          </a:p>
        </p:txBody>
      </p:sp>
      <p:sp>
        <p:nvSpPr>
          <p:cNvPr id="24" name="Text 22"/>
          <p:cNvSpPr/>
          <p:nvPr/>
        </p:nvSpPr>
        <p:spPr>
          <a:xfrm>
            <a:off x="3337560" y="2633472"/>
            <a:ext cx="182880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Deployment</a:t>
            </a:r>
            <a:endParaRPr lang="en-US" sz="1000" dirty="0"/>
          </a:p>
        </p:txBody>
      </p:sp>
      <p:sp>
        <p:nvSpPr>
          <p:cNvPr id="25" name="Text 23"/>
          <p:cNvSpPr/>
          <p:nvPr/>
        </p:nvSpPr>
        <p:spPr>
          <a:xfrm>
            <a:off x="5166360" y="2633472"/>
            <a:ext cx="1097280" cy="365760"/>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2</a:t>
            </a:r>
            <a:endParaRPr lang="en-US" sz="1000" dirty="0"/>
          </a:p>
        </p:txBody>
      </p:sp>
      <p:sp>
        <p:nvSpPr>
          <p:cNvPr id="26" name="Text 24"/>
          <p:cNvSpPr/>
          <p:nvPr/>
        </p:nvSpPr>
        <p:spPr>
          <a:xfrm>
            <a:off x="6263640" y="2633472"/>
            <a:ext cx="109728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apps</a:t>
            </a:r>
            <a:endParaRPr lang="en-US" sz="1000" dirty="0"/>
          </a:p>
        </p:txBody>
      </p:sp>
      <p:sp>
        <p:nvSpPr>
          <p:cNvPr id="27" name="Shape 25"/>
          <p:cNvSpPr/>
          <p:nvPr/>
        </p:nvSpPr>
        <p:spPr>
          <a:xfrm>
            <a:off x="594360" y="2990088"/>
            <a:ext cx="6766560" cy="7315"/>
          </a:xfrm>
          <a:prstGeom prst="rect">
            <a:avLst/>
          </a:prstGeom>
          <a:solidFill>
            <a:srgbClr val="DDE3E9"/>
          </a:solidFill>
          <a:ln w="12700">
            <a:solidFill>
              <a:srgbClr val="333333"/>
            </a:solidFill>
            <a:prstDash val="solid"/>
          </a:ln>
        </p:spPr>
      </p:sp>
      <p:sp>
        <p:nvSpPr>
          <p:cNvPr id="28" name="Text 26"/>
          <p:cNvSpPr/>
          <p:nvPr/>
        </p:nvSpPr>
        <p:spPr>
          <a:xfrm>
            <a:off x="594360" y="2999232"/>
            <a:ext cx="2743200" cy="365760"/>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blockchain-worker-cpu</a:t>
            </a:r>
            <a:endParaRPr lang="en-US" sz="1000" dirty="0"/>
          </a:p>
        </p:txBody>
      </p:sp>
      <p:sp>
        <p:nvSpPr>
          <p:cNvPr id="29" name="Text 27"/>
          <p:cNvSpPr/>
          <p:nvPr/>
        </p:nvSpPr>
        <p:spPr>
          <a:xfrm>
            <a:off x="3337560" y="2999232"/>
            <a:ext cx="182880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Deployment</a:t>
            </a:r>
            <a:endParaRPr lang="en-US" sz="1000" dirty="0"/>
          </a:p>
        </p:txBody>
      </p:sp>
      <p:sp>
        <p:nvSpPr>
          <p:cNvPr id="30" name="Text 28"/>
          <p:cNvSpPr/>
          <p:nvPr/>
        </p:nvSpPr>
        <p:spPr>
          <a:xfrm>
            <a:off x="5166360" y="2999232"/>
            <a:ext cx="1097280" cy="365760"/>
          </a:xfrm>
          <a:prstGeom prst="rect">
            <a:avLst/>
          </a:prstGeom>
          <a:noFill/>
          <a:ln/>
        </p:spPr>
        <p:txBody>
          <a:bodyPr wrap="square" lIns="0" tIns="0" rIns="0" bIns="0" rtlCol="0" anchor="ctr"/>
          <a:lstStyle/>
          <a:p>
            <a:pPr algn="r" indent="0" marL="0">
              <a:buNone/>
            </a:pPr>
            <a:r>
              <a:rPr lang="en-US" sz="1000" b="1" dirty="0">
                <a:solidFill>
                  <a:srgbClr val="A85B12"/>
                </a:solidFill>
                <a:latin typeface="Calibri" pitchFamily="34" charset="0"/>
                <a:ea typeface="Calibri" pitchFamily="34" charset="-122"/>
                <a:cs typeface="Calibri" pitchFamily="34" charset="-120"/>
              </a:rPr>
              <a:t>0</a:t>
            </a:r>
            <a:endParaRPr lang="en-US" sz="1000" dirty="0"/>
          </a:p>
        </p:txBody>
      </p:sp>
      <p:sp>
        <p:nvSpPr>
          <p:cNvPr id="31" name="Text 29"/>
          <p:cNvSpPr/>
          <p:nvPr/>
        </p:nvSpPr>
        <p:spPr>
          <a:xfrm>
            <a:off x="6263640" y="2999232"/>
            <a:ext cx="109728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apps</a:t>
            </a:r>
            <a:endParaRPr lang="en-US" sz="1000" dirty="0"/>
          </a:p>
        </p:txBody>
      </p:sp>
      <p:sp>
        <p:nvSpPr>
          <p:cNvPr id="32" name="Shape 30"/>
          <p:cNvSpPr/>
          <p:nvPr/>
        </p:nvSpPr>
        <p:spPr>
          <a:xfrm>
            <a:off x="594360" y="3355848"/>
            <a:ext cx="6766560" cy="7315"/>
          </a:xfrm>
          <a:prstGeom prst="rect">
            <a:avLst/>
          </a:prstGeom>
          <a:solidFill>
            <a:srgbClr val="DDE3E9"/>
          </a:solidFill>
          <a:ln w="12700">
            <a:solidFill>
              <a:srgbClr val="333333"/>
            </a:solidFill>
            <a:prstDash val="solid"/>
          </a:ln>
        </p:spPr>
      </p:sp>
      <p:sp>
        <p:nvSpPr>
          <p:cNvPr id="33" name="Text 31"/>
          <p:cNvSpPr/>
          <p:nvPr/>
        </p:nvSpPr>
        <p:spPr>
          <a:xfrm>
            <a:off x="594360" y="3364992"/>
            <a:ext cx="2743200" cy="365760"/>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postgres</a:t>
            </a:r>
            <a:endParaRPr lang="en-US" sz="1000" dirty="0"/>
          </a:p>
        </p:txBody>
      </p:sp>
      <p:sp>
        <p:nvSpPr>
          <p:cNvPr id="34" name="Text 32"/>
          <p:cNvSpPr/>
          <p:nvPr/>
        </p:nvSpPr>
        <p:spPr>
          <a:xfrm>
            <a:off x="3337560" y="3364992"/>
            <a:ext cx="1828800" cy="365760"/>
          </a:xfrm>
          <a:prstGeom prst="rect">
            <a:avLst/>
          </a:prstGeom>
          <a:noFill/>
          <a:ln/>
        </p:spPr>
        <p:txBody>
          <a:bodyPr wrap="square" lIns="0" tIns="0" rIns="0" bIns="0" rtlCol="0" anchor="ctr"/>
          <a:lstStyle/>
          <a:p>
            <a:pPr algn="l" indent="0" marL="0">
              <a:buNone/>
            </a:pPr>
            <a:r>
              <a:rPr lang="en-US" sz="1000" b="1" dirty="0">
                <a:solidFill>
                  <a:srgbClr val="0B6E4F"/>
                </a:solidFill>
                <a:latin typeface="Calibri" pitchFamily="34" charset="0"/>
                <a:ea typeface="Calibri" pitchFamily="34" charset="-122"/>
                <a:cs typeface="Calibri" pitchFamily="34" charset="-120"/>
              </a:rPr>
              <a:t>StatefulSet</a:t>
            </a:r>
            <a:endParaRPr lang="en-US" sz="1000" dirty="0"/>
          </a:p>
        </p:txBody>
      </p:sp>
      <p:sp>
        <p:nvSpPr>
          <p:cNvPr id="35" name="Text 33"/>
          <p:cNvSpPr/>
          <p:nvPr/>
        </p:nvSpPr>
        <p:spPr>
          <a:xfrm>
            <a:off x="5166360" y="3364992"/>
            <a:ext cx="1097280" cy="365760"/>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a:t>
            </a:r>
            <a:endParaRPr lang="en-US" sz="1000" dirty="0"/>
          </a:p>
        </p:txBody>
      </p:sp>
      <p:sp>
        <p:nvSpPr>
          <p:cNvPr id="36" name="Text 34"/>
          <p:cNvSpPr/>
          <p:nvPr/>
        </p:nvSpPr>
        <p:spPr>
          <a:xfrm>
            <a:off x="6263640" y="3364992"/>
            <a:ext cx="109728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apps</a:t>
            </a:r>
            <a:endParaRPr lang="en-US" sz="1000" dirty="0"/>
          </a:p>
        </p:txBody>
      </p:sp>
      <p:sp>
        <p:nvSpPr>
          <p:cNvPr id="37" name="Shape 35"/>
          <p:cNvSpPr/>
          <p:nvPr/>
        </p:nvSpPr>
        <p:spPr>
          <a:xfrm>
            <a:off x="594360" y="3721608"/>
            <a:ext cx="6766560" cy="7315"/>
          </a:xfrm>
          <a:prstGeom prst="rect">
            <a:avLst/>
          </a:prstGeom>
          <a:solidFill>
            <a:srgbClr val="DDE3E9"/>
          </a:solidFill>
          <a:ln w="12700">
            <a:solidFill>
              <a:srgbClr val="333333"/>
            </a:solidFill>
            <a:prstDash val="solid"/>
          </a:ln>
        </p:spPr>
      </p:sp>
      <p:sp>
        <p:nvSpPr>
          <p:cNvPr id="38" name="Text 36"/>
          <p:cNvSpPr/>
          <p:nvPr/>
        </p:nvSpPr>
        <p:spPr>
          <a:xfrm>
            <a:off x="594360" y="3730752"/>
            <a:ext cx="2743200" cy="365760"/>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redis</a:t>
            </a:r>
            <a:endParaRPr lang="en-US" sz="1000" dirty="0"/>
          </a:p>
        </p:txBody>
      </p:sp>
      <p:sp>
        <p:nvSpPr>
          <p:cNvPr id="39" name="Text 37"/>
          <p:cNvSpPr/>
          <p:nvPr/>
        </p:nvSpPr>
        <p:spPr>
          <a:xfrm>
            <a:off x="3337560" y="3730752"/>
            <a:ext cx="1828800" cy="365760"/>
          </a:xfrm>
          <a:prstGeom prst="rect">
            <a:avLst/>
          </a:prstGeom>
          <a:noFill/>
          <a:ln/>
        </p:spPr>
        <p:txBody>
          <a:bodyPr wrap="square" lIns="0" tIns="0" rIns="0" bIns="0" rtlCol="0" anchor="ctr"/>
          <a:lstStyle/>
          <a:p>
            <a:pPr algn="l" indent="0" marL="0">
              <a:buNone/>
            </a:pPr>
            <a:r>
              <a:rPr lang="en-US" sz="1000" b="1" dirty="0">
                <a:solidFill>
                  <a:srgbClr val="0B6E4F"/>
                </a:solidFill>
                <a:latin typeface="Calibri" pitchFamily="34" charset="0"/>
                <a:ea typeface="Calibri" pitchFamily="34" charset="-122"/>
                <a:cs typeface="Calibri" pitchFamily="34" charset="-120"/>
              </a:rPr>
              <a:t>StatefulSet</a:t>
            </a:r>
            <a:endParaRPr lang="en-US" sz="1000" dirty="0"/>
          </a:p>
        </p:txBody>
      </p:sp>
      <p:sp>
        <p:nvSpPr>
          <p:cNvPr id="40" name="Text 38"/>
          <p:cNvSpPr/>
          <p:nvPr/>
        </p:nvSpPr>
        <p:spPr>
          <a:xfrm>
            <a:off x="5166360" y="3730752"/>
            <a:ext cx="1097280" cy="365760"/>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a:t>
            </a:r>
            <a:endParaRPr lang="en-US" sz="1000" dirty="0"/>
          </a:p>
        </p:txBody>
      </p:sp>
      <p:sp>
        <p:nvSpPr>
          <p:cNvPr id="41" name="Text 39"/>
          <p:cNvSpPr/>
          <p:nvPr/>
        </p:nvSpPr>
        <p:spPr>
          <a:xfrm>
            <a:off x="6263640" y="3730752"/>
            <a:ext cx="109728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infra</a:t>
            </a:r>
            <a:endParaRPr lang="en-US" sz="1000" dirty="0"/>
          </a:p>
        </p:txBody>
      </p:sp>
      <p:sp>
        <p:nvSpPr>
          <p:cNvPr id="42" name="Shape 40"/>
          <p:cNvSpPr/>
          <p:nvPr/>
        </p:nvSpPr>
        <p:spPr>
          <a:xfrm>
            <a:off x="594360" y="4087368"/>
            <a:ext cx="6766560" cy="7315"/>
          </a:xfrm>
          <a:prstGeom prst="rect">
            <a:avLst/>
          </a:prstGeom>
          <a:solidFill>
            <a:srgbClr val="DDE3E9"/>
          </a:solidFill>
          <a:ln w="12700">
            <a:solidFill>
              <a:srgbClr val="333333"/>
            </a:solidFill>
            <a:prstDash val="solid"/>
          </a:ln>
        </p:spPr>
      </p:sp>
      <p:sp>
        <p:nvSpPr>
          <p:cNvPr id="43" name="Text 41"/>
          <p:cNvSpPr/>
          <p:nvPr/>
        </p:nvSpPr>
        <p:spPr>
          <a:xfrm>
            <a:off x="594360" y="4096512"/>
            <a:ext cx="2743200" cy="365760"/>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rabbitmq</a:t>
            </a:r>
            <a:endParaRPr lang="en-US" sz="1000" dirty="0"/>
          </a:p>
        </p:txBody>
      </p:sp>
      <p:sp>
        <p:nvSpPr>
          <p:cNvPr id="44" name="Text 42"/>
          <p:cNvSpPr/>
          <p:nvPr/>
        </p:nvSpPr>
        <p:spPr>
          <a:xfrm>
            <a:off x="3337560" y="4096512"/>
            <a:ext cx="1828800" cy="365760"/>
          </a:xfrm>
          <a:prstGeom prst="rect">
            <a:avLst/>
          </a:prstGeom>
          <a:noFill/>
          <a:ln/>
        </p:spPr>
        <p:txBody>
          <a:bodyPr wrap="square" lIns="0" tIns="0" rIns="0" bIns="0" rtlCol="0" anchor="ctr"/>
          <a:lstStyle/>
          <a:p>
            <a:pPr algn="l" indent="0" marL="0">
              <a:buNone/>
            </a:pPr>
            <a:r>
              <a:rPr lang="en-US" sz="1000" b="1" dirty="0">
                <a:solidFill>
                  <a:srgbClr val="0B6E4F"/>
                </a:solidFill>
                <a:latin typeface="Calibri" pitchFamily="34" charset="0"/>
                <a:ea typeface="Calibri" pitchFamily="34" charset="-122"/>
                <a:cs typeface="Calibri" pitchFamily="34" charset="-120"/>
              </a:rPr>
              <a:t>StatefulSet</a:t>
            </a:r>
            <a:endParaRPr lang="en-US" sz="1000" dirty="0"/>
          </a:p>
        </p:txBody>
      </p:sp>
      <p:sp>
        <p:nvSpPr>
          <p:cNvPr id="45" name="Text 43"/>
          <p:cNvSpPr/>
          <p:nvPr/>
        </p:nvSpPr>
        <p:spPr>
          <a:xfrm>
            <a:off x="5166360" y="4096512"/>
            <a:ext cx="1097280" cy="365760"/>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a:t>
            </a:r>
            <a:endParaRPr lang="en-US" sz="1000" dirty="0"/>
          </a:p>
        </p:txBody>
      </p:sp>
      <p:sp>
        <p:nvSpPr>
          <p:cNvPr id="46" name="Text 44"/>
          <p:cNvSpPr/>
          <p:nvPr/>
        </p:nvSpPr>
        <p:spPr>
          <a:xfrm>
            <a:off x="6263640" y="4096512"/>
            <a:ext cx="109728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infra</a:t>
            </a:r>
            <a:endParaRPr lang="en-US" sz="1000" dirty="0"/>
          </a:p>
        </p:txBody>
      </p:sp>
      <p:sp>
        <p:nvSpPr>
          <p:cNvPr id="47" name="Text 45"/>
          <p:cNvSpPr/>
          <p:nvPr/>
        </p:nvSpPr>
        <p:spPr>
          <a:xfrm>
            <a:off x="594360" y="4617720"/>
            <a:ext cx="6766560" cy="54864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Más nueve cargas de observabilidad en su propio espacio de nombres, incluidos dos DaemonSet que corren en todos los nodos.</a:t>
            </a:r>
            <a:endParaRPr lang="en-US" sz="1000" dirty="0"/>
          </a:p>
        </p:txBody>
      </p:sp>
      <p:sp>
        <p:nvSpPr>
          <p:cNvPr id="48" name="Shape 46"/>
          <p:cNvSpPr/>
          <p:nvPr/>
        </p:nvSpPr>
        <p:spPr>
          <a:xfrm>
            <a:off x="7635240" y="1536192"/>
            <a:ext cx="3931920" cy="1600200"/>
          </a:xfrm>
          <a:prstGeom prst="roundRect">
            <a:avLst>
              <a:gd name="adj" fmla="val 3429"/>
            </a:avLst>
          </a:prstGeom>
          <a:solidFill>
            <a:srgbClr val="DCEFE6"/>
          </a:solidFill>
          <a:ln w="12700">
            <a:solidFill>
              <a:srgbClr val="333333"/>
            </a:solidFill>
            <a:prstDash val="solid"/>
          </a:ln>
        </p:spPr>
      </p:sp>
      <p:sp>
        <p:nvSpPr>
          <p:cNvPr id="49" name="Text 47"/>
          <p:cNvSpPr/>
          <p:nvPr/>
        </p:nvSpPr>
        <p:spPr>
          <a:xfrm>
            <a:off x="7863840" y="1664208"/>
            <a:ext cx="3474720" cy="134416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Por qué el minero de CPU arranca en cero réplicas.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No es un error: está apagado a propósito. El repartidor lo enciende llamando a la API de Kubernetes cuando detecta que la GPU murió.</a:t>
            </a:r>
            <a:endParaRPr lang="en-US" sz="1050" dirty="0"/>
          </a:p>
        </p:txBody>
      </p:sp>
      <p:sp>
        <p:nvSpPr>
          <p:cNvPr id="50" name="Shape 48"/>
          <p:cNvSpPr/>
          <p:nvPr/>
        </p:nvSpPr>
        <p:spPr>
          <a:xfrm>
            <a:off x="7635240" y="3291840"/>
            <a:ext cx="3931920" cy="1874520"/>
          </a:xfrm>
          <a:prstGeom prst="roundRect">
            <a:avLst>
              <a:gd name="adj" fmla="val 2927"/>
            </a:avLst>
          </a:prstGeom>
          <a:solidFill>
            <a:srgbClr val="F0F3F6"/>
          </a:solidFill>
          <a:ln w="12700">
            <a:solidFill>
              <a:srgbClr val="333333"/>
            </a:solidFill>
            <a:prstDash val="solid"/>
          </a:ln>
        </p:spPr>
      </p:sp>
      <p:sp>
        <p:nvSpPr>
          <p:cNvPr id="51" name="Text 49"/>
          <p:cNvSpPr/>
          <p:nvPr/>
        </p:nvSpPr>
        <p:spPr>
          <a:xfrm>
            <a:off x="7863840" y="3419856"/>
            <a:ext cx="3474720" cy="1618488"/>
          </a:xfrm>
          <a:prstGeom prst="rect">
            <a:avLst/>
          </a:prstGeom>
          <a:noFill/>
          <a:ln/>
        </p:spPr>
        <p:txBody>
          <a:bodyPr wrap="square" lIns="0" tIns="0" rIns="0" bIns="0" rtlCol="0" anchor="t"/>
          <a:lstStyle/>
          <a:p>
            <a:pPr indent="0" marL="0">
              <a:lnSpc>
                <a:spcPct val="118000"/>
              </a:lnSpc>
              <a:buNone/>
            </a:pPr>
            <a:r>
              <a:rPr lang="en-US" sz="1050" b="1" dirty="0">
                <a:solidFill>
                  <a:srgbClr val="10202F"/>
                </a:solidFill>
                <a:latin typeface="Calibri" pitchFamily="34" charset="0"/>
                <a:ea typeface="Calibri" pitchFamily="34" charset="-122"/>
                <a:cs typeface="Calibri" pitchFamily="34" charset="-120"/>
              </a:rPr>
              <a:t>Inventario total: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14 Deployment · 3 StatefulSet · 2 DaemonSet · 12 Service · 11 ConfigMap · 2 HorizontalPodAutoscaler · 4 ServiceAccount con sus roles · 1 Ingress · 1 certificado gestionado.</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3 · INFRAESTRUCTURA</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17 / 30</a:t>
            </a:r>
            <a:endParaRPr lang="en-US" sz="900" dirty="0"/>
          </a:p>
        </p:txBody>
      </p:sp>
      <p:sp>
        <p:nvSpPr>
          <p:cNvPr id="5" name="Shape 3"/>
          <p:cNvSpPr/>
          <p:nvPr/>
        </p:nvSpPr>
        <p:spPr>
          <a:xfrm>
            <a:off x="0" y="6803136"/>
            <a:ext cx="6891528"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3 · KUBERNETES</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Deployment o StatefulSet: por qué la diferencia importa</a:t>
            </a:r>
            <a:endParaRPr lang="en-US" sz="2700" dirty="0"/>
          </a:p>
        </p:txBody>
      </p:sp>
      <p:sp>
        <p:nvSpPr>
          <p:cNvPr id="8" name="Shape 6"/>
          <p:cNvSpPr/>
          <p:nvPr/>
        </p:nvSpPr>
        <p:spPr>
          <a:xfrm>
            <a:off x="594360" y="1600200"/>
            <a:ext cx="5349240" cy="2148840"/>
          </a:xfrm>
          <a:prstGeom prst="roundRect">
            <a:avLst>
              <a:gd name="adj" fmla="val 2553"/>
            </a:avLst>
          </a:prstGeom>
          <a:solidFill>
            <a:srgbClr val="F0F3F6"/>
          </a:solidFill>
          <a:ln w="12700">
            <a:solidFill>
              <a:srgbClr val="333333"/>
            </a:solidFill>
            <a:prstDash val="solid"/>
          </a:ln>
        </p:spPr>
      </p:sp>
      <p:sp>
        <p:nvSpPr>
          <p:cNvPr id="9" name="Text 7"/>
          <p:cNvSpPr/>
          <p:nvPr/>
        </p:nvSpPr>
        <p:spPr>
          <a:xfrm>
            <a:off x="795528" y="1764792"/>
            <a:ext cx="49469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Deployment — para lo que no guarda estado</a:t>
            </a:r>
            <a:endParaRPr lang="en-US" sz="1250" dirty="0"/>
          </a:p>
        </p:txBody>
      </p:sp>
      <p:sp>
        <p:nvSpPr>
          <p:cNvPr id="10" name="Text 8"/>
          <p:cNvSpPr/>
          <p:nvPr/>
        </p:nvSpPr>
        <p:spPr>
          <a:xfrm>
            <a:off x="795528" y="2075688"/>
            <a:ext cx="4946904" cy="1536192"/>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Las réplicas son intercambiables y anónimas. Kubernetes puede matar cualquiera y crear otra en cualquier nodo sin consecuencias.</a:t>
            </a:r>
            <a:endParaRPr lang="en-US" sz="1050" dirty="0"/>
          </a:p>
          <a:p>
            <a:pPr indent="0" marL="0">
              <a:lnSpc>
                <a:spcPct val="115000"/>
              </a:lnSpc>
              <a:buNone/>
            </a:pPr>
            <a:endParaRPr lang="en-US" sz="1050" dirty="0"/>
          </a:p>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Sirve para el frontend, el coordinador, el repartidor y los mineros: todos leen su estado de Redis o Postgres.</a:t>
            </a:r>
            <a:endParaRPr lang="en-US" sz="1050" dirty="0"/>
          </a:p>
        </p:txBody>
      </p:sp>
      <p:sp>
        <p:nvSpPr>
          <p:cNvPr id="11" name="Shape 9"/>
          <p:cNvSpPr/>
          <p:nvPr/>
        </p:nvSpPr>
        <p:spPr>
          <a:xfrm>
            <a:off x="6217920" y="1600200"/>
            <a:ext cx="5349240" cy="2148840"/>
          </a:xfrm>
          <a:prstGeom prst="roundRect">
            <a:avLst>
              <a:gd name="adj" fmla="val 2553"/>
            </a:avLst>
          </a:prstGeom>
          <a:solidFill>
            <a:srgbClr val="DCEFE6"/>
          </a:solidFill>
          <a:ln w="12700">
            <a:solidFill>
              <a:srgbClr val="333333"/>
            </a:solidFill>
            <a:prstDash val="solid"/>
          </a:ln>
        </p:spPr>
      </p:sp>
      <p:sp>
        <p:nvSpPr>
          <p:cNvPr id="12" name="Text 10"/>
          <p:cNvSpPr/>
          <p:nvPr/>
        </p:nvSpPr>
        <p:spPr>
          <a:xfrm>
            <a:off x="6419088" y="1764792"/>
            <a:ext cx="4946904" cy="274320"/>
          </a:xfrm>
          <a:prstGeom prst="rect">
            <a:avLst/>
          </a:prstGeom>
          <a:noFill/>
          <a:ln/>
        </p:spPr>
        <p:txBody>
          <a:bodyPr wrap="square" lIns="0" tIns="0" rIns="0" bIns="0" rtlCol="0" anchor="ctr"/>
          <a:lstStyle/>
          <a:p>
            <a:pPr indent="0" marL="0">
              <a:buNone/>
            </a:pPr>
            <a:r>
              <a:rPr lang="en-US" sz="1250" b="1" dirty="0">
                <a:solidFill>
                  <a:srgbClr val="0B6E4F"/>
                </a:solidFill>
                <a:latin typeface="Calibri" pitchFamily="34" charset="0"/>
                <a:ea typeface="Calibri" pitchFamily="34" charset="-122"/>
                <a:cs typeface="Calibri" pitchFamily="34" charset="-120"/>
              </a:rPr>
              <a:t>StatefulSet — para lo que sí lo guarda</a:t>
            </a:r>
            <a:endParaRPr lang="en-US" sz="1250" dirty="0"/>
          </a:p>
        </p:txBody>
      </p:sp>
      <p:sp>
        <p:nvSpPr>
          <p:cNvPr id="13" name="Text 11"/>
          <p:cNvSpPr/>
          <p:nvPr/>
        </p:nvSpPr>
        <p:spPr>
          <a:xfrm>
            <a:off x="6419088" y="2075688"/>
            <a:ext cx="4946904" cy="1536192"/>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Cada réplica tiene nombre estable y disco propio, creado automáticamente a partir de una plantilla, y arrancan en orden.</a:t>
            </a:r>
            <a:endParaRPr lang="en-US" sz="1050" dirty="0"/>
          </a:p>
          <a:p>
            <a:pPr indent="0" marL="0">
              <a:lnSpc>
                <a:spcPct val="115000"/>
              </a:lnSpc>
              <a:buNone/>
            </a:pPr>
            <a:endParaRPr lang="en-US" sz="1050" dirty="0"/>
          </a:p>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Es lo que necesitan Postgres, Redis y RabbitMQ para poder escalar sin pisarse.</a:t>
            </a:r>
            <a:endParaRPr lang="en-US" sz="1050" dirty="0"/>
          </a:p>
        </p:txBody>
      </p:sp>
      <p:sp>
        <p:nvSpPr>
          <p:cNvPr id="14" name="Shape 12"/>
          <p:cNvSpPr/>
          <p:nvPr/>
        </p:nvSpPr>
        <p:spPr>
          <a:xfrm>
            <a:off x="594360" y="4023360"/>
            <a:ext cx="10972800" cy="1463040"/>
          </a:xfrm>
          <a:prstGeom prst="roundRect">
            <a:avLst>
              <a:gd name="adj" fmla="val 3750"/>
            </a:avLst>
          </a:prstGeom>
          <a:solidFill>
            <a:srgbClr val="F7E9D8"/>
          </a:solidFill>
          <a:ln w="12700">
            <a:solidFill>
              <a:srgbClr val="333333"/>
            </a:solidFill>
            <a:prstDash val="solid"/>
          </a:ln>
        </p:spPr>
      </p:sp>
      <p:sp>
        <p:nvSpPr>
          <p:cNvPr id="15" name="Text 13"/>
          <p:cNvSpPr/>
          <p:nvPr/>
        </p:nvSpPr>
        <p:spPr>
          <a:xfrm>
            <a:off x="822960" y="4151376"/>
            <a:ext cx="10515600" cy="1207008"/>
          </a:xfrm>
          <a:prstGeom prst="rect">
            <a:avLst/>
          </a:prstGeom>
          <a:noFill/>
          <a:ln/>
        </p:spPr>
        <p:txBody>
          <a:bodyPr wrap="square" lIns="0" tIns="0" rIns="0" bIns="0" rtlCol="0" anchor="t"/>
          <a:lstStyle/>
          <a:p>
            <a:pPr indent="0" marL="0">
              <a:lnSpc>
                <a:spcPct val="118000"/>
              </a:lnSpc>
              <a:buNone/>
            </a:pPr>
            <a:r>
              <a:rPr lang="en-US" sz="1050" b="1" dirty="0">
                <a:solidFill>
                  <a:srgbClr val="A85B12"/>
                </a:solidFill>
                <a:latin typeface="Calibri" pitchFamily="34" charset="0"/>
                <a:ea typeface="Calibri" pitchFamily="34" charset="-122"/>
                <a:cs typeface="Calibri" pitchFamily="34" charset="-120"/>
              </a:rPr>
              <a:t>El problema que resuelve, concretamente: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antes los tres estaban como Deployment apuntando a un único disco compartido. Con una réplica funcionaba, pero al intentar una segunda esa réplica se quedaba esperando para siempre —el disco solo admite un nodo a la vez— y si lograra montarlo, dos procesos escribiendo los mismos archivos los corromperían. No es que escalaran mal: no escalaban en absoluto.</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3 · INFRAESTRUCTURA</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18 / 30</a:t>
            </a:r>
            <a:endParaRPr lang="en-US" sz="900" dirty="0"/>
          </a:p>
        </p:txBody>
      </p:sp>
      <p:sp>
        <p:nvSpPr>
          <p:cNvPr id="5" name="Shape 3"/>
          <p:cNvSpPr/>
          <p:nvPr/>
        </p:nvSpPr>
        <p:spPr>
          <a:xfrm>
            <a:off x="0" y="6803136"/>
            <a:ext cx="7296912"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3 · KUBERNETES</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Dónde se ejecuta cada cosa, y por qué</a:t>
            </a:r>
            <a:endParaRPr lang="en-US" sz="2700" dirty="0"/>
          </a:p>
        </p:txBody>
      </p:sp>
      <p:sp>
        <p:nvSpPr>
          <p:cNvPr id="8" name="Shape 6"/>
          <p:cNvSpPr/>
          <p:nvPr/>
        </p:nvSpPr>
        <p:spPr>
          <a:xfrm>
            <a:off x="594360" y="1572768"/>
            <a:ext cx="3502152" cy="1600200"/>
          </a:xfrm>
          <a:prstGeom prst="roundRect">
            <a:avLst>
              <a:gd name="adj" fmla="val 3429"/>
            </a:avLst>
          </a:prstGeom>
          <a:solidFill>
            <a:srgbClr val="F0F3F6"/>
          </a:solidFill>
          <a:ln w="12700">
            <a:solidFill>
              <a:srgbClr val="333333"/>
            </a:solidFill>
            <a:prstDash val="solid"/>
          </a:ln>
        </p:spPr>
      </p:sp>
      <p:sp>
        <p:nvSpPr>
          <p:cNvPr id="9" name="Shape 7"/>
          <p:cNvSpPr/>
          <p:nvPr/>
        </p:nvSpPr>
        <p:spPr>
          <a:xfrm>
            <a:off x="795528" y="1737360"/>
            <a:ext cx="1060704" cy="237744"/>
          </a:xfrm>
          <a:prstGeom prst="roundRect">
            <a:avLst>
              <a:gd name="adj" fmla="val 19231"/>
            </a:avLst>
          </a:prstGeom>
          <a:solidFill>
            <a:srgbClr val="E6EBF0"/>
          </a:solidFill>
          <a:ln w="12700">
            <a:solidFill>
              <a:srgbClr val="333333"/>
            </a:solidFill>
            <a:prstDash val="solid"/>
          </a:ln>
        </p:spPr>
      </p:sp>
      <p:sp>
        <p:nvSpPr>
          <p:cNvPr id="10" name="Text 8"/>
          <p:cNvSpPr/>
          <p:nvPr/>
        </p:nvSpPr>
        <p:spPr>
          <a:xfrm>
            <a:off x="795528" y="1737360"/>
            <a:ext cx="1060704" cy="237744"/>
          </a:xfrm>
          <a:prstGeom prst="rect">
            <a:avLst/>
          </a:prstGeom>
          <a:noFill/>
          <a:ln/>
        </p:spPr>
        <p:txBody>
          <a:bodyPr wrap="square" lIns="0" tIns="0" rIns="0" bIns="0" rtlCol="0" anchor="ctr"/>
          <a:lstStyle/>
          <a:p>
            <a:pPr algn="ctr" indent="0" marL="0">
              <a:buNone/>
            </a:pPr>
            <a:r>
              <a:rPr lang="en-US" sz="900" dirty="0">
                <a:solidFill>
                  <a:srgbClr val="10202F"/>
                </a:solidFill>
                <a:latin typeface="Consolas" pitchFamily="34" charset="0"/>
                <a:ea typeface="Consolas" pitchFamily="34" charset="-122"/>
                <a:cs typeface="Consolas" pitchFamily="34" charset="-120"/>
              </a:rPr>
              <a:t>pool infra</a:t>
            </a:r>
            <a:endParaRPr lang="en-US" sz="900" dirty="0"/>
          </a:p>
        </p:txBody>
      </p:sp>
      <p:sp>
        <p:nvSpPr>
          <p:cNvPr id="11" name="Text 9"/>
          <p:cNvSpPr/>
          <p:nvPr/>
        </p:nvSpPr>
        <p:spPr>
          <a:xfrm>
            <a:off x="795528" y="2084832"/>
            <a:ext cx="3099816"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Sin marca de exclusión</a:t>
            </a:r>
            <a:endParaRPr lang="en-US" sz="1250" dirty="0"/>
          </a:p>
        </p:txBody>
      </p:sp>
      <p:sp>
        <p:nvSpPr>
          <p:cNvPr id="12" name="Text 10"/>
          <p:cNvSpPr/>
          <p:nvPr/>
        </p:nvSpPr>
        <p:spPr>
          <a:xfrm>
            <a:off x="795528" y="2395728"/>
            <a:ext cx="3099816" cy="64008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Aloja Redis y RabbitMQ. Es el único pool que acepta cualquier carga.</a:t>
            </a:r>
            <a:endParaRPr lang="en-US" sz="1000" dirty="0"/>
          </a:p>
        </p:txBody>
      </p:sp>
      <p:sp>
        <p:nvSpPr>
          <p:cNvPr id="13" name="Shape 11"/>
          <p:cNvSpPr/>
          <p:nvPr/>
        </p:nvSpPr>
        <p:spPr>
          <a:xfrm>
            <a:off x="4325112" y="1572768"/>
            <a:ext cx="3502152" cy="1600200"/>
          </a:xfrm>
          <a:prstGeom prst="roundRect">
            <a:avLst>
              <a:gd name="adj" fmla="val 3429"/>
            </a:avLst>
          </a:prstGeom>
          <a:solidFill>
            <a:srgbClr val="F0F3F6"/>
          </a:solidFill>
          <a:ln w="12700">
            <a:solidFill>
              <a:srgbClr val="333333"/>
            </a:solidFill>
            <a:prstDash val="solid"/>
          </a:ln>
        </p:spPr>
      </p:sp>
      <p:sp>
        <p:nvSpPr>
          <p:cNvPr id="14" name="Shape 12"/>
          <p:cNvSpPr/>
          <p:nvPr/>
        </p:nvSpPr>
        <p:spPr>
          <a:xfrm>
            <a:off x="4526280" y="1737360"/>
            <a:ext cx="980237" cy="237744"/>
          </a:xfrm>
          <a:prstGeom prst="roundRect">
            <a:avLst>
              <a:gd name="adj" fmla="val 19231"/>
            </a:avLst>
          </a:prstGeom>
          <a:solidFill>
            <a:srgbClr val="DEE9F3"/>
          </a:solidFill>
          <a:ln w="12700">
            <a:solidFill>
              <a:srgbClr val="333333"/>
            </a:solidFill>
            <a:prstDash val="solid"/>
          </a:ln>
        </p:spPr>
      </p:sp>
      <p:sp>
        <p:nvSpPr>
          <p:cNvPr id="15" name="Text 13"/>
          <p:cNvSpPr/>
          <p:nvPr/>
        </p:nvSpPr>
        <p:spPr>
          <a:xfrm>
            <a:off x="4526280" y="1737360"/>
            <a:ext cx="980237" cy="237744"/>
          </a:xfrm>
          <a:prstGeom prst="rect">
            <a:avLst/>
          </a:prstGeom>
          <a:noFill/>
          <a:ln/>
        </p:spPr>
        <p:txBody>
          <a:bodyPr wrap="square" lIns="0" tIns="0" rIns="0" bIns="0" rtlCol="0" anchor="ctr"/>
          <a:lstStyle/>
          <a:p>
            <a:pPr algn="ctr" indent="0" marL="0">
              <a:buNone/>
            </a:pPr>
            <a:r>
              <a:rPr lang="en-US" sz="900" dirty="0">
                <a:solidFill>
                  <a:srgbClr val="1F4E79"/>
                </a:solidFill>
                <a:latin typeface="Consolas" pitchFamily="34" charset="0"/>
                <a:ea typeface="Consolas" pitchFamily="34" charset="-122"/>
                <a:cs typeface="Consolas" pitchFamily="34" charset="-120"/>
              </a:rPr>
              <a:t>pool apps</a:t>
            </a:r>
            <a:endParaRPr lang="en-US" sz="900" dirty="0"/>
          </a:p>
        </p:txBody>
      </p:sp>
      <p:sp>
        <p:nvSpPr>
          <p:cNvPr id="16" name="Text 14"/>
          <p:cNvSpPr/>
          <p:nvPr/>
        </p:nvSpPr>
        <p:spPr>
          <a:xfrm>
            <a:off x="4526280" y="2084832"/>
            <a:ext cx="3099816"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Marcado y tolerado</a:t>
            </a:r>
            <a:endParaRPr lang="en-US" sz="1250" dirty="0"/>
          </a:p>
        </p:txBody>
      </p:sp>
      <p:sp>
        <p:nvSpPr>
          <p:cNvPr id="17" name="Text 15"/>
          <p:cNvSpPr/>
          <p:nvPr/>
        </p:nvSpPr>
        <p:spPr>
          <a:xfrm>
            <a:off x="4526280" y="2395728"/>
            <a:ext cx="3099816" cy="64008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Aloja la aplicación y la blockchain. Solo entra lo que declara tolerar la marca.</a:t>
            </a:r>
            <a:endParaRPr lang="en-US" sz="1000" dirty="0"/>
          </a:p>
        </p:txBody>
      </p:sp>
      <p:sp>
        <p:nvSpPr>
          <p:cNvPr id="18" name="Shape 16"/>
          <p:cNvSpPr/>
          <p:nvPr/>
        </p:nvSpPr>
        <p:spPr>
          <a:xfrm>
            <a:off x="8055864" y="1572768"/>
            <a:ext cx="3502152" cy="1600200"/>
          </a:xfrm>
          <a:prstGeom prst="roundRect">
            <a:avLst>
              <a:gd name="adj" fmla="val 3429"/>
            </a:avLst>
          </a:prstGeom>
          <a:solidFill>
            <a:srgbClr val="F0F3F6"/>
          </a:solidFill>
          <a:ln w="12700">
            <a:solidFill>
              <a:srgbClr val="333333"/>
            </a:solidFill>
            <a:prstDash val="solid"/>
          </a:ln>
        </p:spPr>
      </p:sp>
      <p:sp>
        <p:nvSpPr>
          <p:cNvPr id="19" name="Shape 17"/>
          <p:cNvSpPr/>
          <p:nvPr/>
        </p:nvSpPr>
        <p:spPr>
          <a:xfrm>
            <a:off x="8257032" y="1737360"/>
            <a:ext cx="1463040" cy="237744"/>
          </a:xfrm>
          <a:prstGeom prst="roundRect">
            <a:avLst>
              <a:gd name="adj" fmla="val 19231"/>
            </a:avLst>
          </a:prstGeom>
          <a:solidFill>
            <a:srgbClr val="DEE9F3"/>
          </a:solidFill>
          <a:ln w="12700">
            <a:solidFill>
              <a:srgbClr val="333333"/>
            </a:solidFill>
            <a:prstDash val="solid"/>
          </a:ln>
        </p:spPr>
      </p:sp>
      <p:sp>
        <p:nvSpPr>
          <p:cNvPr id="20" name="Text 18"/>
          <p:cNvSpPr/>
          <p:nvPr/>
        </p:nvSpPr>
        <p:spPr>
          <a:xfrm>
            <a:off x="8257032" y="1737360"/>
            <a:ext cx="1463040" cy="237744"/>
          </a:xfrm>
          <a:prstGeom prst="rect">
            <a:avLst/>
          </a:prstGeom>
          <a:noFill/>
          <a:ln/>
        </p:spPr>
        <p:txBody>
          <a:bodyPr wrap="square" lIns="0" tIns="0" rIns="0" bIns="0" rtlCol="0" anchor="ctr"/>
          <a:lstStyle/>
          <a:p>
            <a:pPr algn="ctr" indent="0" marL="0">
              <a:buNone/>
            </a:pPr>
            <a:r>
              <a:rPr lang="en-US" sz="900" dirty="0">
                <a:solidFill>
                  <a:srgbClr val="1F4E79"/>
                </a:solidFill>
                <a:latin typeface="Consolas" pitchFamily="34" charset="0"/>
                <a:ea typeface="Consolas" pitchFamily="34" charset="-122"/>
                <a:cs typeface="Consolas" pitchFamily="34" charset="-120"/>
              </a:rPr>
              <a:t>pool monitoring</a:t>
            </a:r>
            <a:endParaRPr lang="en-US" sz="900" dirty="0"/>
          </a:p>
        </p:txBody>
      </p:sp>
      <p:sp>
        <p:nvSpPr>
          <p:cNvPr id="21" name="Text 19"/>
          <p:cNvSpPr/>
          <p:nvPr/>
        </p:nvSpPr>
        <p:spPr>
          <a:xfrm>
            <a:off x="8257032" y="2084832"/>
            <a:ext cx="3099816"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Marcado y aislado</a:t>
            </a:r>
            <a:endParaRPr lang="en-US" sz="1250" dirty="0"/>
          </a:p>
        </p:txBody>
      </p:sp>
      <p:sp>
        <p:nvSpPr>
          <p:cNvPr id="22" name="Text 20"/>
          <p:cNvSpPr/>
          <p:nvPr/>
        </p:nvSpPr>
        <p:spPr>
          <a:xfrm>
            <a:off x="8257032" y="2395728"/>
            <a:ext cx="3099816" cy="64008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Aloja la observabilidad. Máquina más grande y sin descuento por interrupción.</a:t>
            </a:r>
            <a:endParaRPr lang="en-US" sz="1000" dirty="0"/>
          </a:p>
        </p:txBody>
      </p:sp>
      <p:sp>
        <p:nvSpPr>
          <p:cNvPr id="23" name="Text 21"/>
          <p:cNvSpPr/>
          <p:nvPr/>
        </p:nvSpPr>
        <p:spPr>
          <a:xfrm>
            <a:off x="594360" y="3383280"/>
            <a:ext cx="512064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Por qué el observador va aparte</a:t>
            </a:r>
            <a:endParaRPr lang="en-US" sz="1250" dirty="0"/>
          </a:p>
        </p:txBody>
      </p:sp>
      <p:sp>
        <p:nvSpPr>
          <p:cNvPr id="24" name="Text 22"/>
          <p:cNvSpPr/>
          <p:nvPr/>
        </p:nvSpPr>
        <p:spPr>
          <a:xfrm>
            <a:off x="594360" y="3703320"/>
            <a:ext cx="5120640" cy="118872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El conjunto de observabilidad pide entre 2 y 3 GB. Apretarlo junto a la base de datos y el coordinador causaría desalojos justo cuando más se necesitan las métricas: </a:t>
            </a:r>
            <a:pPr indent="0" marL="0">
              <a:lnSpc>
                <a:spcPct val="115000"/>
              </a:lnSpc>
              <a:buNone/>
            </a:pPr>
            <a:r>
              <a:rPr lang="en-US" sz="1050" b="1" dirty="0">
                <a:solidFill>
                  <a:srgbClr val="10202F"/>
                </a:solidFill>
                <a:latin typeface="Calibri" pitchFamily="34" charset="0"/>
                <a:ea typeface="Calibri" pitchFamily="34" charset="-122"/>
                <a:cs typeface="Calibri" pitchFamily="34" charset="-120"/>
              </a:rPr>
              <a:t>el observador no puede competir por recursos con lo observado.</a:t>
            </a:r>
            <a:endParaRPr lang="en-US" sz="1050" dirty="0"/>
          </a:p>
        </p:txBody>
      </p:sp>
      <p:sp>
        <p:nvSpPr>
          <p:cNvPr id="25" name="Shape 23"/>
          <p:cNvSpPr/>
          <p:nvPr/>
        </p:nvSpPr>
        <p:spPr>
          <a:xfrm>
            <a:off x="6080760" y="3383280"/>
            <a:ext cx="5486400" cy="1874520"/>
          </a:xfrm>
          <a:prstGeom prst="roundRect">
            <a:avLst>
              <a:gd name="adj" fmla="val 2927"/>
            </a:avLst>
          </a:prstGeom>
          <a:solidFill>
            <a:srgbClr val="F7E9D8"/>
          </a:solidFill>
          <a:ln w="12700">
            <a:solidFill>
              <a:srgbClr val="333333"/>
            </a:solidFill>
            <a:prstDash val="solid"/>
          </a:ln>
        </p:spPr>
      </p:sp>
      <p:sp>
        <p:nvSpPr>
          <p:cNvPr id="26" name="Text 24"/>
          <p:cNvSpPr/>
          <p:nvPr/>
        </p:nvSpPr>
        <p:spPr>
          <a:xfrm>
            <a:off x="6309360" y="3511296"/>
            <a:ext cx="5029200" cy="1618488"/>
          </a:xfrm>
          <a:prstGeom prst="rect">
            <a:avLst/>
          </a:prstGeom>
          <a:noFill/>
          <a:ln/>
        </p:spPr>
        <p:txBody>
          <a:bodyPr wrap="square" lIns="0" tIns="0" rIns="0" bIns="0" rtlCol="0" anchor="t"/>
          <a:lstStyle/>
          <a:p>
            <a:pPr indent="0" marL="0">
              <a:lnSpc>
                <a:spcPct val="118000"/>
              </a:lnSpc>
              <a:buNone/>
            </a:pPr>
            <a:r>
              <a:rPr lang="en-US" sz="1050" b="1" dirty="0">
                <a:solidFill>
                  <a:srgbClr val="A85B12"/>
                </a:solidFill>
                <a:latin typeface="Calibri" pitchFamily="34" charset="0"/>
                <a:ea typeface="Calibri" pitchFamily="34" charset="-122"/>
                <a:cs typeface="Calibri" pitchFamily="34" charset="-120"/>
              </a:rPr>
              <a:t>Y por qué el pool de infraestructura quedó sin marca, a propósito: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los complementos gestionados de Kubernetes —el DNS interno, el servidor de métricas— solo toleran una marca específica del sistema. Si marcábamos los tres pools, esos componentes se quedaban sin ningún nodo donde ejecutarse y se rompía el DNS del cluster entero.</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3 · INFRAESTRUCTURA</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19 / 30</a:t>
            </a:r>
            <a:endParaRPr lang="en-US" sz="900" dirty="0"/>
          </a:p>
        </p:txBody>
      </p:sp>
      <p:sp>
        <p:nvSpPr>
          <p:cNvPr id="5" name="Shape 3"/>
          <p:cNvSpPr/>
          <p:nvPr/>
        </p:nvSpPr>
        <p:spPr>
          <a:xfrm>
            <a:off x="0" y="6803136"/>
            <a:ext cx="7702296"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3 · KUBERNETES</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Escalado automático en dos niveles</a:t>
            </a:r>
            <a:endParaRPr lang="en-US" sz="2700" dirty="0"/>
          </a:p>
        </p:txBody>
      </p:sp>
      <p:sp>
        <p:nvSpPr>
          <p:cNvPr id="8" name="Shape 6"/>
          <p:cNvSpPr/>
          <p:nvPr/>
        </p:nvSpPr>
        <p:spPr>
          <a:xfrm>
            <a:off x="594360" y="1572768"/>
            <a:ext cx="5349240" cy="1691640"/>
          </a:xfrm>
          <a:prstGeom prst="roundRect">
            <a:avLst>
              <a:gd name="adj" fmla="val 3243"/>
            </a:avLst>
          </a:prstGeom>
          <a:solidFill>
            <a:srgbClr val="F0F3F6"/>
          </a:solidFill>
          <a:ln w="12700">
            <a:solidFill>
              <a:srgbClr val="333333"/>
            </a:solidFill>
            <a:prstDash val="solid"/>
          </a:ln>
        </p:spPr>
      </p:sp>
      <p:sp>
        <p:nvSpPr>
          <p:cNvPr id="9" name="Text 7"/>
          <p:cNvSpPr/>
          <p:nvPr/>
        </p:nvSpPr>
        <p:spPr>
          <a:xfrm>
            <a:off x="795528" y="1737360"/>
            <a:ext cx="49469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Nivel pod — HorizontalPodAutoscaler</a:t>
            </a:r>
            <a:endParaRPr lang="en-US" sz="1250" dirty="0"/>
          </a:p>
        </p:txBody>
      </p:sp>
      <p:sp>
        <p:nvSpPr>
          <p:cNvPr id="10" name="Text 8"/>
          <p:cNvSpPr/>
          <p:nvPr/>
        </p:nvSpPr>
        <p:spPr>
          <a:xfrm>
            <a:off x="795528" y="2048256"/>
            <a:ext cx="4946904" cy="1078992"/>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Agrega réplicas cuando sube el uso de procesador.</a:t>
            </a:r>
            <a:endParaRPr lang="en-US" sz="1000" dirty="0"/>
          </a:p>
        </p:txBody>
      </p:sp>
      <p:sp>
        <p:nvSpPr>
          <p:cNvPr id="11" name="Text 9"/>
          <p:cNvSpPr/>
          <p:nvPr/>
        </p:nvSpPr>
        <p:spPr>
          <a:xfrm>
            <a:off x="795528" y="2377440"/>
            <a:ext cx="2377440" cy="292608"/>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frontend</a:t>
            </a:r>
            <a:endParaRPr lang="en-US" sz="950" dirty="0"/>
          </a:p>
        </p:txBody>
      </p:sp>
      <p:sp>
        <p:nvSpPr>
          <p:cNvPr id="12" name="Text 10"/>
          <p:cNvSpPr/>
          <p:nvPr/>
        </p:nvSpPr>
        <p:spPr>
          <a:xfrm>
            <a:off x="3282696" y="2377440"/>
            <a:ext cx="2459736" cy="292608"/>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de 2 a 6 réplicas</a:t>
            </a:r>
            <a:endParaRPr lang="en-US" sz="1000" dirty="0"/>
          </a:p>
        </p:txBody>
      </p:sp>
      <p:sp>
        <p:nvSpPr>
          <p:cNvPr id="13" name="Shape 11"/>
          <p:cNvSpPr/>
          <p:nvPr/>
        </p:nvSpPr>
        <p:spPr>
          <a:xfrm>
            <a:off x="795528" y="2660904"/>
            <a:ext cx="4946904" cy="7315"/>
          </a:xfrm>
          <a:prstGeom prst="rect">
            <a:avLst/>
          </a:prstGeom>
          <a:solidFill>
            <a:srgbClr val="DDE3E9"/>
          </a:solidFill>
          <a:ln w="12700">
            <a:solidFill>
              <a:srgbClr val="333333"/>
            </a:solidFill>
            <a:prstDash val="solid"/>
          </a:ln>
        </p:spPr>
      </p:sp>
      <p:sp>
        <p:nvSpPr>
          <p:cNvPr id="14" name="Text 12"/>
          <p:cNvSpPr/>
          <p:nvPr/>
        </p:nvSpPr>
        <p:spPr>
          <a:xfrm>
            <a:off x="795528" y="2670048"/>
            <a:ext cx="2377440" cy="292608"/>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blockchain-nct</a:t>
            </a:r>
            <a:endParaRPr lang="en-US" sz="950" dirty="0"/>
          </a:p>
        </p:txBody>
      </p:sp>
      <p:sp>
        <p:nvSpPr>
          <p:cNvPr id="15" name="Text 13"/>
          <p:cNvSpPr/>
          <p:nvPr/>
        </p:nvSpPr>
        <p:spPr>
          <a:xfrm>
            <a:off x="3282696" y="2670048"/>
            <a:ext cx="2459736" cy="292608"/>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de 2 a 4 réplicas</a:t>
            </a:r>
            <a:endParaRPr lang="en-US" sz="1000" dirty="0"/>
          </a:p>
        </p:txBody>
      </p:sp>
      <p:sp>
        <p:nvSpPr>
          <p:cNvPr id="16" name="Shape 14"/>
          <p:cNvSpPr/>
          <p:nvPr/>
        </p:nvSpPr>
        <p:spPr>
          <a:xfrm>
            <a:off x="6217920" y="1572768"/>
            <a:ext cx="5349240" cy="1691640"/>
          </a:xfrm>
          <a:prstGeom prst="roundRect">
            <a:avLst>
              <a:gd name="adj" fmla="val 3243"/>
            </a:avLst>
          </a:prstGeom>
          <a:solidFill>
            <a:srgbClr val="F0F3F6"/>
          </a:solidFill>
          <a:ln w="12700">
            <a:solidFill>
              <a:srgbClr val="333333"/>
            </a:solidFill>
            <a:prstDash val="solid"/>
          </a:ln>
        </p:spPr>
      </p:sp>
      <p:sp>
        <p:nvSpPr>
          <p:cNvPr id="17" name="Text 15"/>
          <p:cNvSpPr/>
          <p:nvPr/>
        </p:nvSpPr>
        <p:spPr>
          <a:xfrm>
            <a:off x="6419088" y="1737360"/>
            <a:ext cx="49469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Nivel nodo — Cluster Autoscaler</a:t>
            </a:r>
            <a:endParaRPr lang="en-US" sz="1250" dirty="0"/>
          </a:p>
        </p:txBody>
      </p:sp>
      <p:sp>
        <p:nvSpPr>
          <p:cNvPr id="18" name="Text 16"/>
          <p:cNvSpPr/>
          <p:nvPr/>
        </p:nvSpPr>
        <p:spPr>
          <a:xfrm>
            <a:off x="6419088" y="2048256"/>
            <a:ext cx="4946904" cy="1078992"/>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Agrega máquinas cuando los pods no tienen dónde entrar.</a:t>
            </a:r>
            <a:endParaRPr lang="en-US" sz="1000" dirty="0"/>
          </a:p>
        </p:txBody>
      </p:sp>
      <p:sp>
        <p:nvSpPr>
          <p:cNvPr id="19" name="Text 17"/>
          <p:cNvSpPr/>
          <p:nvPr/>
        </p:nvSpPr>
        <p:spPr>
          <a:xfrm>
            <a:off x="6419088" y="2377440"/>
            <a:ext cx="2377440" cy="292608"/>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pool apps</a:t>
            </a:r>
            <a:endParaRPr lang="en-US" sz="950" dirty="0"/>
          </a:p>
        </p:txBody>
      </p:sp>
      <p:sp>
        <p:nvSpPr>
          <p:cNvPr id="20" name="Text 18"/>
          <p:cNvSpPr/>
          <p:nvPr/>
        </p:nvSpPr>
        <p:spPr>
          <a:xfrm>
            <a:off x="8906256" y="2377440"/>
            <a:ext cx="2459736" cy="292608"/>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de 2 a 5 nodos</a:t>
            </a:r>
            <a:endParaRPr lang="en-US" sz="1000" dirty="0"/>
          </a:p>
        </p:txBody>
      </p:sp>
      <p:sp>
        <p:nvSpPr>
          <p:cNvPr id="21" name="Shape 19"/>
          <p:cNvSpPr/>
          <p:nvPr/>
        </p:nvSpPr>
        <p:spPr>
          <a:xfrm>
            <a:off x="6419088" y="2660904"/>
            <a:ext cx="4946904" cy="7315"/>
          </a:xfrm>
          <a:prstGeom prst="rect">
            <a:avLst/>
          </a:prstGeom>
          <a:solidFill>
            <a:srgbClr val="DDE3E9"/>
          </a:solidFill>
          <a:ln w="12700">
            <a:solidFill>
              <a:srgbClr val="333333"/>
            </a:solidFill>
            <a:prstDash val="solid"/>
          </a:ln>
        </p:spPr>
      </p:sp>
      <p:sp>
        <p:nvSpPr>
          <p:cNvPr id="22" name="Text 20"/>
          <p:cNvSpPr/>
          <p:nvPr/>
        </p:nvSpPr>
        <p:spPr>
          <a:xfrm>
            <a:off x="6419088" y="2670048"/>
            <a:ext cx="2377440" cy="292608"/>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pool infra</a:t>
            </a:r>
            <a:endParaRPr lang="en-US" sz="950" dirty="0"/>
          </a:p>
        </p:txBody>
      </p:sp>
      <p:sp>
        <p:nvSpPr>
          <p:cNvPr id="23" name="Text 21"/>
          <p:cNvSpPr/>
          <p:nvPr/>
        </p:nvSpPr>
        <p:spPr>
          <a:xfrm>
            <a:off x="8906256" y="2670048"/>
            <a:ext cx="2459736" cy="292608"/>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de 1 a 2 nodos</a:t>
            </a:r>
            <a:endParaRPr lang="en-US" sz="1000" dirty="0"/>
          </a:p>
        </p:txBody>
      </p:sp>
      <p:sp>
        <p:nvSpPr>
          <p:cNvPr id="24" name="Shape 22"/>
          <p:cNvSpPr/>
          <p:nvPr/>
        </p:nvSpPr>
        <p:spPr>
          <a:xfrm>
            <a:off x="594360" y="3474720"/>
            <a:ext cx="10972800" cy="777240"/>
          </a:xfrm>
          <a:prstGeom prst="roundRect">
            <a:avLst>
              <a:gd name="adj" fmla="val 7059"/>
            </a:avLst>
          </a:prstGeom>
          <a:solidFill>
            <a:srgbClr val="DCEFE6"/>
          </a:solidFill>
          <a:ln w="12700">
            <a:solidFill>
              <a:srgbClr val="333333"/>
            </a:solidFill>
            <a:prstDash val="solid"/>
          </a:ln>
        </p:spPr>
      </p:sp>
      <p:sp>
        <p:nvSpPr>
          <p:cNvPr id="25" name="Text 23"/>
          <p:cNvSpPr/>
          <p:nvPr/>
        </p:nvSpPr>
        <p:spPr>
          <a:xfrm>
            <a:off x="822960" y="3602736"/>
            <a:ext cx="10515600" cy="52120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Las dos piezas se necesitan juntas.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El escalador de pods agrega réplicas, y si el pool se queda sin lugar, el de nodos agrega máquinas. Con una sola de las dos, el escalado se corta en el primer cuello.</a:t>
            </a:r>
            <a:endParaRPr lang="en-US" sz="1050" dirty="0"/>
          </a:p>
        </p:txBody>
      </p:sp>
      <p:sp>
        <p:nvSpPr>
          <p:cNvPr id="26" name="Shape 24"/>
          <p:cNvSpPr/>
          <p:nvPr/>
        </p:nvSpPr>
        <p:spPr>
          <a:xfrm>
            <a:off x="594360" y="4389120"/>
            <a:ext cx="10972800" cy="1188720"/>
          </a:xfrm>
          <a:prstGeom prst="roundRect">
            <a:avLst>
              <a:gd name="adj" fmla="val 4615"/>
            </a:avLst>
          </a:prstGeom>
          <a:solidFill>
            <a:srgbClr val="F7E9D8"/>
          </a:solidFill>
          <a:ln w="12700">
            <a:solidFill>
              <a:srgbClr val="333333"/>
            </a:solidFill>
            <a:prstDash val="solid"/>
          </a:ln>
        </p:spPr>
      </p:sp>
      <p:sp>
        <p:nvSpPr>
          <p:cNvPr id="27" name="Text 25"/>
          <p:cNvSpPr/>
          <p:nvPr/>
        </p:nvSpPr>
        <p:spPr>
          <a:xfrm>
            <a:off x="822960" y="4517136"/>
            <a:ext cx="10515600" cy="932688"/>
          </a:xfrm>
          <a:prstGeom prst="rect">
            <a:avLst/>
          </a:prstGeom>
          <a:noFill/>
          <a:ln/>
        </p:spPr>
        <p:txBody>
          <a:bodyPr wrap="square" lIns="0" tIns="0" rIns="0" bIns="0" rtlCol="0" anchor="t"/>
          <a:lstStyle/>
          <a:p>
            <a:pPr indent="0" marL="0">
              <a:lnSpc>
                <a:spcPct val="118000"/>
              </a:lnSpc>
              <a:buNone/>
            </a:pPr>
            <a:r>
              <a:rPr lang="en-US" sz="1050" b="1" dirty="0">
                <a:solidFill>
                  <a:srgbClr val="A85B12"/>
                </a:solidFill>
                <a:latin typeface="Calibri" pitchFamily="34" charset="0"/>
                <a:ea typeface="Calibri" pitchFamily="34" charset="-122"/>
                <a:cs typeface="Calibri" pitchFamily="34" charset="-120"/>
              </a:rPr>
              <a:t>El minero de CPU quedó deliberadamente fuera del escalador.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Sus réplicas ya las gobierna el repartidor durante el respaldo. Dos controladores escribiendo el mismo campo con criterios opuestos —uno sube por ausencia de GPU, el otro bajaría por uso bajo de procesador— producirían oscilación, y el respaldo nunca terminaría de activarse.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3 · INFRAESTRUCTURA</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20 / 30</a:t>
            </a:r>
            <a:endParaRPr lang="en-US" sz="900" dirty="0"/>
          </a:p>
        </p:txBody>
      </p:sp>
      <p:sp>
        <p:nvSpPr>
          <p:cNvPr id="5" name="Shape 3"/>
          <p:cNvSpPr/>
          <p:nvPr/>
        </p:nvSpPr>
        <p:spPr>
          <a:xfrm>
            <a:off x="0" y="6803136"/>
            <a:ext cx="8107680"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3 · SEGURIDAD Y RED</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Cómo se protege y cómo se expone</a:t>
            </a:r>
            <a:endParaRPr lang="en-US" sz="2700" dirty="0"/>
          </a:p>
        </p:txBody>
      </p:sp>
      <p:sp>
        <p:nvSpPr>
          <p:cNvPr id="8" name="Text 6"/>
          <p:cNvSpPr/>
          <p:nvPr/>
        </p:nvSpPr>
        <p:spPr>
          <a:xfrm>
            <a:off x="594360" y="1554480"/>
            <a:ext cx="530352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Endurecimiento de los contenedores</a:t>
            </a:r>
            <a:endParaRPr lang="en-US" sz="1250" dirty="0"/>
          </a:p>
        </p:txBody>
      </p:sp>
      <p:sp>
        <p:nvSpPr>
          <p:cNvPr id="9" name="Text 7"/>
          <p:cNvSpPr/>
          <p:nvPr/>
        </p:nvSpPr>
        <p:spPr>
          <a:xfrm>
            <a:off x="594360" y="1874520"/>
            <a:ext cx="5303520" cy="210312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Ninguno corre como root. Usuario explícito según lo que espera cada imagen</a:t>
            </a:r>
            <a:endParaRPr lang="en-US" sz="1050" dirty="0"/>
          </a:p>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Sin permisos del kernel. Se descartan todas las capacidades y se impide escalar privilegios</a:t>
            </a:r>
            <a:endParaRPr lang="en-US" sz="1050" dirty="0"/>
          </a:p>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Límites de recursos en las doce cargas, para que ninguna asfixie a las demás</a:t>
            </a:r>
            <a:endParaRPr lang="en-US" sz="1050" dirty="0"/>
          </a:p>
          <a:p>
            <a:pPr marL="342900" indent="-342900">
              <a:lnSpc>
                <a:spcPct val="110000"/>
              </a:lnSpc>
              <a:spcAft>
                <a:spcPts val="500"/>
              </a:spcAft>
              <a:buSzPct val="100000"/>
              <a:buChar char="•"/>
            </a:pPr>
            <a:r>
              <a:rPr lang="en-US" sz="1050" dirty="0">
                <a:solidFill>
                  <a:srgbClr val="5B6B7B"/>
                </a:solidFill>
                <a:latin typeface="Calibri" pitchFamily="34" charset="0"/>
                <a:ea typeface="Calibri" pitchFamily="34" charset="-122"/>
                <a:cs typeface="Calibri" pitchFamily="34" charset="-120"/>
              </a:rPr>
              <a:t>Permisos mínimos: el repartidor solo puede escalar un deployment concreto, nada más</a:t>
            </a:r>
            <a:endParaRPr lang="en-US" sz="1050" dirty="0"/>
          </a:p>
        </p:txBody>
      </p:sp>
      <p:sp>
        <p:nvSpPr>
          <p:cNvPr id="10" name="Text 8"/>
          <p:cNvSpPr/>
          <p:nvPr/>
        </p:nvSpPr>
        <p:spPr>
          <a:xfrm>
            <a:off x="594360" y="4114800"/>
            <a:ext cx="5303520" cy="50292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Los secretos viven fuera del repositorio; solo se versiona la plantilla que documenta su forma.</a:t>
            </a:r>
            <a:endParaRPr lang="en-US" sz="1000" dirty="0"/>
          </a:p>
        </p:txBody>
      </p:sp>
      <p:sp>
        <p:nvSpPr>
          <p:cNvPr id="11" name="Text 9"/>
          <p:cNvSpPr/>
          <p:nvPr/>
        </p:nvSpPr>
        <p:spPr>
          <a:xfrm>
            <a:off x="6263640" y="1554480"/>
            <a:ext cx="530352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Exposición hacia afuera</a:t>
            </a:r>
            <a:endParaRPr lang="en-US" sz="1250" dirty="0"/>
          </a:p>
        </p:txBody>
      </p:sp>
      <p:sp>
        <p:nvSpPr>
          <p:cNvPr id="12" name="Text 10"/>
          <p:cNvSpPr/>
          <p:nvPr/>
        </p:nvSpPr>
        <p:spPr>
          <a:xfrm>
            <a:off x="6263640" y="1874520"/>
            <a:ext cx="201168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Ingress</a:t>
            </a:r>
            <a:endParaRPr lang="en-US" sz="950" dirty="0"/>
          </a:p>
        </p:txBody>
      </p:sp>
      <p:sp>
        <p:nvSpPr>
          <p:cNvPr id="13" name="Text 11"/>
          <p:cNvSpPr/>
          <p:nvPr/>
        </p:nvSpPr>
        <p:spPr>
          <a:xfrm>
            <a:off x="8385048" y="1874520"/>
            <a:ext cx="318211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única puerta de entrada pública</a:t>
            </a:r>
            <a:endParaRPr lang="en-US" sz="1000" dirty="0"/>
          </a:p>
        </p:txBody>
      </p:sp>
      <p:sp>
        <p:nvSpPr>
          <p:cNvPr id="14" name="Shape 12"/>
          <p:cNvSpPr/>
          <p:nvPr/>
        </p:nvSpPr>
        <p:spPr>
          <a:xfrm>
            <a:off x="6263640" y="2176272"/>
            <a:ext cx="5303520" cy="7315"/>
          </a:xfrm>
          <a:prstGeom prst="rect">
            <a:avLst/>
          </a:prstGeom>
          <a:solidFill>
            <a:srgbClr val="DDE3E9"/>
          </a:solidFill>
          <a:ln w="12700">
            <a:solidFill>
              <a:srgbClr val="333333"/>
            </a:solidFill>
            <a:prstDash val="solid"/>
          </a:ln>
        </p:spPr>
      </p:sp>
      <p:sp>
        <p:nvSpPr>
          <p:cNvPr id="15" name="Text 13"/>
          <p:cNvSpPr/>
          <p:nvPr/>
        </p:nvSpPr>
        <p:spPr>
          <a:xfrm>
            <a:off x="6263640" y="2185416"/>
            <a:ext cx="201168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HTTPS</a:t>
            </a:r>
            <a:endParaRPr lang="en-US" sz="950" dirty="0"/>
          </a:p>
        </p:txBody>
      </p:sp>
      <p:sp>
        <p:nvSpPr>
          <p:cNvPr id="16" name="Text 14"/>
          <p:cNvSpPr/>
          <p:nvPr/>
        </p:nvSpPr>
        <p:spPr>
          <a:xfrm>
            <a:off x="8385048" y="2185416"/>
            <a:ext cx="318211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certificado gestionado, dominio propio</a:t>
            </a:r>
            <a:endParaRPr lang="en-US" sz="1000" dirty="0"/>
          </a:p>
        </p:txBody>
      </p:sp>
      <p:sp>
        <p:nvSpPr>
          <p:cNvPr id="17" name="Shape 15"/>
          <p:cNvSpPr/>
          <p:nvPr/>
        </p:nvSpPr>
        <p:spPr>
          <a:xfrm>
            <a:off x="6263640" y="2487168"/>
            <a:ext cx="5303520" cy="7315"/>
          </a:xfrm>
          <a:prstGeom prst="rect">
            <a:avLst/>
          </a:prstGeom>
          <a:solidFill>
            <a:srgbClr val="DDE3E9"/>
          </a:solidFill>
          <a:ln w="12700">
            <a:solidFill>
              <a:srgbClr val="333333"/>
            </a:solidFill>
            <a:prstDash val="solid"/>
          </a:ln>
        </p:spPr>
      </p:sp>
      <p:sp>
        <p:nvSpPr>
          <p:cNvPr id="18" name="Text 16"/>
          <p:cNvSpPr/>
          <p:nvPr/>
        </p:nvSpPr>
        <p:spPr>
          <a:xfrm>
            <a:off x="6263640" y="2496312"/>
            <a:ext cx="201168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/api/status</a:t>
            </a:r>
            <a:endParaRPr lang="en-US" sz="950" dirty="0"/>
          </a:p>
        </p:txBody>
      </p:sp>
      <p:sp>
        <p:nvSpPr>
          <p:cNvPr id="19" name="Text 17"/>
          <p:cNvSpPr/>
          <p:nvPr/>
        </p:nvSpPr>
        <p:spPr>
          <a:xfrm>
            <a:off x="8385048" y="2496312"/>
            <a:ext cx="318211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estado de cada servicio en un JSON</a:t>
            </a:r>
            <a:endParaRPr lang="en-US" sz="1000" dirty="0"/>
          </a:p>
        </p:txBody>
      </p:sp>
      <p:sp>
        <p:nvSpPr>
          <p:cNvPr id="20" name="Shape 18"/>
          <p:cNvSpPr/>
          <p:nvPr/>
        </p:nvSpPr>
        <p:spPr>
          <a:xfrm>
            <a:off x="6263640" y="2798064"/>
            <a:ext cx="5303520" cy="7315"/>
          </a:xfrm>
          <a:prstGeom prst="rect">
            <a:avLst/>
          </a:prstGeom>
          <a:solidFill>
            <a:srgbClr val="DDE3E9"/>
          </a:solidFill>
          <a:ln w="12700">
            <a:solidFill>
              <a:srgbClr val="333333"/>
            </a:solidFill>
            <a:prstDash val="solid"/>
          </a:ln>
        </p:spPr>
      </p:sp>
      <p:sp>
        <p:nvSpPr>
          <p:cNvPr id="21" name="Text 19"/>
          <p:cNvSpPr/>
          <p:nvPr/>
        </p:nvSpPr>
        <p:spPr>
          <a:xfrm>
            <a:off x="6263640" y="2807208"/>
            <a:ext cx="201168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Coordinador</a:t>
            </a:r>
            <a:endParaRPr lang="en-US" sz="950" dirty="0"/>
          </a:p>
        </p:txBody>
      </p:sp>
      <p:sp>
        <p:nvSpPr>
          <p:cNvPr id="22" name="Text 20"/>
          <p:cNvSpPr/>
          <p:nvPr/>
        </p:nvSpPr>
        <p:spPr>
          <a:xfrm>
            <a:off x="8385048" y="2807208"/>
            <a:ext cx="318211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interno: no se expone a internet</a:t>
            </a:r>
            <a:endParaRPr lang="en-US" sz="1000" dirty="0"/>
          </a:p>
        </p:txBody>
      </p:sp>
      <p:sp>
        <p:nvSpPr>
          <p:cNvPr id="23" name="Shape 21"/>
          <p:cNvSpPr/>
          <p:nvPr/>
        </p:nvSpPr>
        <p:spPr>
          <a:xfrm>
            <a:off x="6263640" y="3291840"/>
            <a:ext cx="5303520" cy="1325880"/>
          </a:xfrm>
          <a:prstGeom prst="roundRect">
            <a:avLst>
              <a:gd name="adj" fmla="val 4138"/>
            </a:avLst>
          </a:prstGeom>
          <a:solidFill>
            <a:srgbClr val="DCEFE6"/>
          </a:solidFill>
          <a:ln w="12700">
            <a:solidFill>
              <a:srgbClr val="333333"/>
            </a:solidFill>
            <a:prstDash val="solid"/>
          </a:ln>
        </p:spPr>
      </p:sp>
      <p:sp>
        <p:nvSpPr>
          <p:cNvPr id="24" name="Text 22"/>
          <p:cNvSpPr/>
          <p:nvPr/>
        </p:nvSpPr>
        <p:spPr>
          <a:xfrm>
            <a:off x="6492240" y="3419856"/>
            <a:ext cx="4846320" cy="106984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Autenticación sin llaves estáticas.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Las tuberías de despliegue se autentican contra la nube por identidad federada. No hay una sola credencial guardada en el repositorio ni en la configuración de la integración continua.</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PILAR 3 · INFRAESTRUCTURA</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21 / 30</a:t>
            </a:r>
            <a:endParaRPr lang="en-US" sz="900" dirty="0"/>
          </a:p>
        </p:txBody>
      </p:sp>
      <p:sp>
        <p:nvSpPr>
          <p:cNvPr id="5" name="Shape 3"/>
          <p:cNvSpPr/>
          <p:nvPr/>
        </p:nvSpPr>
        <p:spPr>
          <a:xfrm>
            <a:off x="0" y="6803136"/>
            <a:ext cx="8513064"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PILAR 3 · AUTOMATIZACIÓN</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Infraestructura como código y cinco tuberías</a:t>
            </a:r>
            <a:endParaRPr lang="en-US" sz="2700" dirty="0"/>
          </a:p>
        </p:txBody>
      </p:sp>
      <p:sp>
        <p:nvSpPr>
          <p:cNvPr id="8" name="Text 6"/>
          <p:cNvSpPr/>
          <p:nvPr/>
        </p:nvSpPr>
        <p:spPr>
          <a:xfrm>
            <a:off x="594360" y="1554480"/>
            <a:ext cx="512064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Todo el entorno está descrito en archivos</a:t>
            </a:r>
            <a:endParaRPr lang="en-US" sz="1250" dirty="0"/>
          </a:p>
        </p:txBody>
      </p:sp>
      <p:sp>
        <p:nvSpPr>
          <p:cNvPr id="9" name="Text 7"/>
          <p:cNvSpPr/>
          <p:nvPr/>
        </p:nvSpPr>
        <p:spPr>
          <a:xfrm>
            <a:off x="594360" y="1874520"/>
            <a:ext cx="5120640" cy="100584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La red, el cluster, los tres grupos de máquinas, el registro de imágenes y los permisos se declaran en código. Levantar el entorno de cero es ejecutar la herramienta, no seguir una guía de clics.</a:t>
            </a:r>
            <a:endParaRPr lang="en-US" sz="1050" dirty="0"/>
          </a:p>
        </p:txBody>
      </p:sp>
      <p:sp>
        <p:nvSpPr>
          <p:cNvPr id="10" name="Shape 8"/>
          <p:cNvSpPr/>
          <p:nvPr/>
        </p:nvSpPr>
        <p:spPr>
          <a:xfrm>
            <a:off x="594360" y="2971800"/>
            <a:ext cx="1228954" cy="274320"/>
          </a:xfrm>
          <a:prstGeom prst="roundRect">
            <a:avLst>
              <a:gd name="adj" fmla="val 16667"/>
            </a:avLst>
          </a:prstGeom>
          <a:solidFill>
            <a:srgbClr val="E6EBF0"/>
          </a:solidFill>
          <a:ln w="12700">
            <a:solidFill>
              <a:srgbClr val="333333"/>
            </a:solidFill>
            <a:prstDash val="solid"/>
          </a:ln>
        </p:spPr>
      </p:sp>
      <p:sp>
        <p:nvSpPr>
          <p:cNvPr id="11" name="Text 9"/>
          <p:cNvSpPr/>
          <p:nvPr/>
        </p:nvSpPr>
        <p:spPr>
          <a:xfrm>
            <a:off x="594360" y="2971800"/>
            <a:ext cx="1228954" cy="274320"/>
          </a:xfrm>
          <a:prstGeom prst="rect">
            <a:avLst/>
          </a:prstGeom>
          <a:noFill/>
          <a:ln/>
        </p:spPr>
        <p:txBody>
          <a:bodyPr wrap="square" lIns="0" tIns="0" rIns="0" bIns="0" rtlCol="0" anchor="ctr"/>
          <a:lstStyle/>
          <a:p>
            <a:pPr algn="ctr" indent="0" marL="0">
              <a:buNone/>
            </a:pPr>
            <a:r>
              <a:rPr lang="en-US" sz="900" dirty="0">
                <a:solidFill>
                  <a:srgbClr val="10202F"/>
                </a:solidFill>
                <a:latin typeface="Consolas" pitchFamily="34" charset="0"/>
                <a:ea typeface="Consolas" pitchFamily="34" charset="-122"/>
                <a:cs typeface="Consolas" pitchFamily="34" charset="-120"/>
              </a:rPr>
              <a:t>VPC y subred</a:t>
            </a:r>
            <a:endParaRPr lang="en-US" sz="900" dirty="0"/>
          </a:p>
        </p:txBody>
      </p:sp>
      <p:sp>
        <p:nvSpPr>
          <p:cNvPr id="12" name="Shape 10"/>
          <p:cNvSpPr/>
          <p:nvPr/>
        </p:nvSpPr>
        <p:spPr>
          <a:xfrm>
            <a:off x="1951330" y="2971800"/>
            <a:ext cx="854050" cy="274320"/>
          </a:xfrm>
          <a:prstGeom prst="roundRect">
            <a:avLst>
              <a:gd name="adj" fmla="val 16667"/>
            </a:avLst>
          </a:prstGeom>
          <a:solidFill>
            <a:srgbClr val="E6EBF0"/>
          </a:solidFill>
          <a:ln w="12700">
            <a:solidFill>
              <a:srgbClr val="333333"/>
            </a:solidFill>
            <a:prstDash val="solid"/>
          </a:ln>
        </p:spPr>
      </p:sp>
      <p:sp>
        <p:nvSpPr>
          <p:cNvPr id="13" name="Text 11"/>
          <p:cNvSpPr/>
          <p:nvPr/>
        </p:nvSpPr>
        <p:spPr>
          <a:xfrm>
            <a:off x="1951330" y="2971800"/>
            <a:ext cx="854050" cy="274320"/>
          </a:xfrm>
          <a:prstGeom prst="rect">
            <a:avLst/>
          </a:prstGeom>
          <a:noFill/>
          <a:ln/>
        </p:spPr>
        <p:txBody>
          <a:bodyPr wrap="square" lIns="0" tIns="0" rIns="0" bIns="0" rtlCol="0" anchor="ctr"/>
          <a:lstStyle/>
          <a:p>
            <a:pPr algn="ctr" indent="0" marL="0">
              <a:buNone/>
            </a:pPr>
            <a:r>
              <a:rPr lang="en-US" sz="900" dirty="0">
                <a:solidFill>
                  <a:srgbClr val="10202F"/>
                </a:solidFill>
                <a:latin typeface="Consolas" pitchFamily="34" charset="0"/>
                <a:ea typeface="Consolas" pitchFamily="34" charset="-122"/>
                <a:cs typeface="Consolas" pitchFamily="34" charset="-120"/>
              </a:rPr>
              <a:t>cluster</a:t>
            </a:r>
            <a:endParaRPr lang="en-US" sz="900" dirty="0"/>
          </a:p>
        </p:txBody>
      </p:sp>
      <p:sp>
        <p:nvSpPr>
          <p:cNvPr id="14" name="Shape 12"/>
          <p:cNvSpPr/>
          <p:nvPr/>
        </p:nvSpPr>
        <p:spPr>
          <a:xfrm>
            <a:off x="2933395" y="2971800"/>
            <a:ext cx="1228954" cy="274320"/>
          </a:xfrm>
          <a:prstGeom prst="roundRect">
            <a:avLst>
              <a:gd name="adj" fmla="val 16667"/>
            </a:avLst>
          </a:prstGeom>
          <a:solidFill>
            <a:srgbClr val="E6EBF0"/>
          </a:solidFill>
          <a:ln w="12700">
            <a:solidFill>
              <a:srgbClr val="333333"/>
            </a:solidFill>
            <a:prstDash val="solid"/>
          </a:ln>
        </p:spPr>
      </p:sp>
      <p:sp>
        <p:nvSpPr>
          <p:cNvPr id="15" name="Text 13"/>
          <p:cNvSpPr/>
          <p:nvPr/>
        </p:nvSpPr>
        <p:spPr>
          <a:xfrm>
            <a:off x="2933395" y="2971800"/>
            <a:ext cx="1228954" cy="274320"/>
          </a:xfrm>
          <a:prstGeom prst="rect">
            <a:avLst/>
          </a:prstGeom>
          <a:noFill/>
          <a:ln/>
        </p:spPr>
        <p:txBody>
          <a:bodyPr wrap="square" lIns="0" tIns="0" rIns="0" bIns="0" rtlCol="0" anchor="ctr"/>
          <a:lstStyle/>
          <a:p>
            <a:pPr algn="ctr" indent="0" marL="0">
              <a:buNone/>
            </a:pPr>
            <a:r>
              <a:rPr lang="en-US" sz="900" dirty="0">
                <a:solidFill>
                  <a:srgbClr val="10202F"/>
                </a:solidFill>
                <a:latin typeface="Consolas" pitchFamily="34" charset="0"/>
                <a:ea typeface="Consolas" pitchFamily="34" charset="-122"/>
                <a:cs typeface="Consolas" pitchFamily="34" charset="-120"/>
              </a:rPr>
              <a:t>3 node pools</a:t>
            </a:r>
            <a:endParaRPr lang="en-US" sz="900" dirty="0"/>
          </a:p>
        </p:txBody>
      </p:sp>
      <p:sp>
        <p:nvSpPr>
          <p:cNvPr id="16" name="Shape 14"/>
          <p:cNvSpPr/>
          <p:nvPr/>
        </p:nvSpPr>
        <p:spPr>
          <a:xfrm>
            <a:off x="594360" y="3319272"/>
            <a:ext cx="1828800" cy="274320"/>
          </a:xfrm>
          <a:prstGeom prst="roundRect">
            <a:avLst>
              <a:gd name="adj" fmla="val 16667"/>
            </a:avLst>
          </a:prstGeom>
          <a:solidFill>
            <a:srgbClr val="E6EBF0"/>
          </a:solidFill>
          <a:ln w="12700">
            <a:solidFill>
              <a:srgbClr val="333333"/>
            </a:solidFill>
            <a:prstDash val="solid"/>
          </a:ln>
        </p:spPr>
      </p:sp>
      <p:sp>
        <p:nvSpPr>
          <p:cNvPr id="17" name="Text 15"/>
          <p:cNvSpPr/>
          <p:nvPr/>
        </p:nvSpPr>
        <p:spPr>
          <a:xfrm>
            <a:off x="594360" y="3319272"/>
            <a:ext cx="1828800" cy="274320"/>
          </a:xfrm>
          <a:prstGeom prst="rect">
            <a:avLst/>
          </a:prstGeom>
          <a:noFill/>
          <a:ln/>
        </p:spPr>
        <p:txBody>
          <a:bodyPr wrap="square" lIns="0" tIns="0" rIns="0" bIns="0" rtlCol="0" anchor="ctr"/>
          <a:lstStyle/>
          <a:p>
            <a:pPr algn="ctr" indent="0" marL="0">
              <a:buNone/>
            </a:pPr>
            <a:r>
              <a:rPr lang="en-US" sz="900" dirty="0">
                <a:solidFill>
                  <a:srgbClr val="10202F"/>
                </a:solidFill>
                <a:latin typeface="Consolas" pitchFamily="34" charset="0"/>
                <a:ea typeface="Consolas" pitchFamily="34" charset="-122"/>
                <a:cs typeface="Consolas" pitchFamily="34" charset="-120"/>
              </a:rPr>
              <a:t>registro de imágenes</a:t>
            </a:r>
            <a:endParaRPr lang="en-US" sz="900" dirty="0"/>
          </a:p>
        </p:txBody>
      </p:sp>
      <p:sp>
        <p:nvSpPr>
          <p:cNvPr id="18" name="Shape 16"/>
          <p:cNvSpPr/>
          <p:nvPr/>
        </p:nvSpPr>
        <p:spPr>
          <a:xfrm>
            <a:off x="2551176" y="3319272"/>
            <a:ext cx="929030" cy="274320"/>
          </a:xfrm>
          <a:prstGeom prst="roundRect">
            <a:avLst>
              <a:gd name="adj" fmla="val 16667"/>
            </a:avLst>
          </a:prstGeom>
          <a:solidFill>
            <a:srgbClr val="E6EBF0"/>
          </a:solidFill>
          <a:ln w="12700">
            <a:solidFill>
              <a:srgbClr val="333333"/>
            </a:solidFill>
            <a:prstDash val="solid"/>
          </a:ln>
        </p:spPr>
      </p:sp>
      <p:sp>
        <p:nvSpPr>
          <p:cNvPr id="19" name="Text 17"/>
          <p:cNvSpPr/>
          <p:nvPr/>
        </p:nvSpPr>
        <p:spPr>
          <a:xfrm>
            <a:off x="2551176" y="3319272"/>
            <a:ext cx="929030" cy="274320"/>
          </a:xfrm>
          <a:prstGeom prst="rect">
            <a:avLst/>
          </a:prstGeom>
          <a:noFill/>
          <a:ln/>
        </p:spPr>
        <p:txBody>
          <a:bodyPr wrap="square" lIns="0" tIns="0" rIns="0" bIns="0" rtlCol="0" anchor="ctr"/>
          <a:lstStyle/>
          <a:p>
            <a:pPr algn="ctr" indent="0" marL="0">
              <a:buNone/>
            </a:pPr>
            <a:r>
              <a:rPr lang="en-US" sz="900" dirty="0">
                <a:solidFill>
                  <a:srgbClr val="10202F"/>
                </a:solidFill>
                <a:latin typeface="Consolas" pitchFamily="34" charset="0"/>
                <a:ea typeface="Consolas" pitchFamily="34" charset="-122"/>
                <a:cs typeface="Consolas" pitchFamily="34" charset="-120"/>
              </a:rPr>
              <a:t>permisos</a:t>
            </a:r>
            <a:endParaRPr lang="en-US" sz="900" dirty="0"/>
          </a:p>
        </p:txBody>
      </p:sp>
      <p:sp>
        <p:nvSpPr>
          <p:cNvPr id="20" name="Text 18"/>
          <p:cNvSpPr/>
          <p:nvPr/>
        </p:nvSpPr>
        <p:spPr>
          <a:xfrm>
            <a:off x="6172200" y="1554480"/>
            <a:ext cx="539496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Las cinco tuberías</a:t>
            </a:r>
            <a:endParaRPr lang="en-US" sz="1250" dirty="0"/>
          </a:p>
        </p:txBody>
      </p:sp>
      <p:sp>
        <p:nvSpPr>
          <p:cNvPr id="21" name="Text 19"/>
          <p:cNvSpPr/>
          <p:nvPr/>
        </p:nvSpPr>
        <p:spPr>
          <a:xfrm>
            <a:off x="6172200" y="1874520"/>
            <a:ext cx="237744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1 · Infraestructura</a:t>
            </a:r>
            <a:endParaRPr lang="en-US" sz="950" dirty="0"/>
          </a:p>
        </p:txBody>
      </p:sp>
      <p:sp>
        <p:nvSpPr>
          <p:cNvPr id="22" name="Text 20"/>
          <p:cNvSpPr/>
          <p:nvPr/>
        </p:nvSpPr>
        <p:spPr>
          <a:xfrm>
            <a:off x="8659368" y="1874520"/>
            <a:ext cx="290779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provisiona la nube</a:t>
            </a:r>
            <a:endParaRPr lang="en-US" sz="1000" dirty="0"/>
          </a:p>
        </p:txBody>
      </p:sp>
      <p:sp>
        <p:nvSpPr>
          <p:cNvPr id="23" name="Shape 21"/>
          <p:cNvSpPr/>
          <p:nvPr/>
        </p:nvSpPr>
        <p:spPr>
          <a:xfrm>
            <a:off x="6172200" y="2176272"/>
            <a:ext cx="5394960" cy="7315"/>
          </a:xfrm>
          <a:prstGeom prst="rect">
            <a:avLst/>
          </a:prstGeom>
          <a:solidFill>
            <a:srgbClr val="DDE3E9"/>
          </a:solidFill>
          <a:ln w="12700">
            <a:solidFill>
              <a:srgbClr val="333333"/>
            </a:solidFill>
            <a:prstDash val="solid"/>
          </a:ln>
        </p:spPr>
      </p:sp>
      <p:sp>
        <p:nvSpPr>
          <p:cNvPr id="24" name="Text 22"/>
          <p:cNvSpPr/>
          <p:nvPr/>
        </p:nvSpPr>
        <p:spPr>
          <a:xfrm>
            <a:off x="6172200" y="2185416"/>
            <a:ext cx="237744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2 · Servicios base</a:t>
            </a:r>
            <a:endParaRPr lang="en-US" sz="950" dirty="0"/>
          </a:p>
        </p:txBody>
      </p:sp>
      <p:sp>
        <p:nvSpPr>
          <p:cNvPr id="25" name="Text 23"/>
          <p:cNvSpPr/>
          <p:nvPr/>
        </p:nvSpPr>
        <p:spPr>
          <a:xfrm>
            <a:off x="8659368" y="2185416"/>
            <a:ext cx="290779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Redis y las colas</a:t>
            </a:r>
            <a:endParaRPr lang="en-US" sz="1000" dirty="0"/>
          </a:p>
        </p:txBody>
      </p:sp>
      <p:sp>
        <p:nvSpPr>
          <p:cNvPr id="26" name="Shape 24"/>
          <p:cNvSpPr/>
          <p:nvPr/>
        </p:nvSpPr>
        <p:spPr>
          <a:xfrm>
            <a:off x="6172200" y="2487168"/>
            <a:ext cx="5394960" cy="7315"/>
          </a:xfrm>
          <a:prstGeom prst="rect">
            <a:avLst/>
          </a:prstGeom>
          <a:solidFill>
            <a:srgbClr val="DDE3E9"/>
          </a:solidFill>
          <a:ln w="12700">
            <a:solidFill>
              <a:srgbClr val="333333"/>
            </a:solidFill>
            <a:prstDash val="solid"/>
          </a:ln>
        </p:spPr>
      </p:sp>
      <p:sp>
        <p:nvSpPr>
          <p:cNvPr id="27" name="Text 25"/>
          <p:cNvSpPr/>
          <p:nvPr/>
        </p:nvSpPr>
        <p:spPr>
          <a:xfrm>
            <a:off x="6172200" y="2496312"/>
            <a:ext cx="237744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3 · Aplicaciones</a:t>
            </a:r>
            <a:endParaRPr lang="en-US" sz="950" dirty="0"/>
          </a:p>
        </p:txBody>
      </p:sp>
      <p:sp>
        <p:nvSpPr>
          <p:cNvPr id="28" name="Text 26"/>
          <p:cNvSpPr/>
          <p:nvPr/>
        </p:nvSpPr>
        <p:spPr>
          <a:xfrm>
            <a:off x="8659368" y="2496312"/>
            <a:ext cx="290779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construye y despliega 4 imágenes</a:t>
            </a:r>
            <a:endParaRPr lang="en-US" sz="1000" dirty="0"/>
          </a:p>
        </p:txBody>
      </p:sp>
      <p:sp>
        <p:nvSpPr>
          <p:cNvPr id="29" name="Shape 27"/>
          <p:cNvSpPr/>
          <p:nvPr/>
        </p:nvSpPr>
        <p:spPr>
          <a:xfrm>
            <a:off x="6172200" y="2798064"/>
            <a:ext cx="5394960" cy="7315"/>
          </a:xfrm>
          <a:prstGeom prst="rect">
            <a:avLst/>
          </a:prstGeom>
          <a:solidFill>
            <a:srgbClr val="DDE3E9"/>
          </a:solidFill>
          <a:ln w="12700">
            <a:solidFill>
              <a:srgbClr val="333333"/>
            </a:solidFill>
            <a:prstDash val="solid"/>
          </a:ln>
        </p:spPr>
      </p:sp>
      <p:sp>
        <p:nvSpPr>
          <p:cNvPr id="30" name="Text 28"/>
          <p:cNvSpPr/>
          <p:nvPr/>
        </p:nvSpPr>
        <p:spPr>
          <a:xfrm>
            <a:off x="6172200" y="2807208"/>
            <a:ext cx="237744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4 · Mineros GPU</a:t>
            </a:r>
            <a:endParaRPr lang="en-US" sz="950" dirty="0"/>
          </a:p>
        </p:txBody>
      </p:sp>
      <p:sp>
        <p:nvSpPr>
          <p:cNvPr id="31" name="Text 29"/>
          <p:cNvSpPr/>
          <p:nvPr/>
        </p:nvSpPr>
        <p:spPr>
          <a:xfrm>
            <a:off x="8659368" y="2807208"/>
            <a:ext cx="290779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despliega al cluster del docente</a:t>
            </a:r>
            <a:endParaRPr lang="en-US" sz="1000" dirty="0"/>
          </a:p>
        </p:txBody>
      </p:sp>
      <p:sp>
        <p:nvSpPr>
          <p:cNvPr id="32" name="Shape 30"/>
          <p:cNvSpPr/>
          <p:nvPr/>
        </p:nvSpPr>
        <p:spPr>
          <a:xfrm>
            <a:off x="6172200" y="3108960"/>
            <a:ext cx="5394960" cy="7315"/>
          </a:xfrm>
          <a:prstGeom prst="rect">
            <a:avLst/>
          </a:prstGeom>
          <a:solidFill>
            <a:srgbClr val="DDE3E9"/>
          </a:solidFill>
          <a:ln w="12700">
            <a:solidFill>
              <a:srgbClr val="333333"/>
            </a:solidFill>
            <a:prstDash val="solid"/>
          </a:ln>
        </p:spPr>
      </p:sp>
      <p:sp>
        <p:nvSpPr>
          <p:cNvPr id="33" name="Text 31"/>
          <p:cNvSpPr/>
          <p:nvPr/>
        </p:nvSpPr>
        <p:spPr>
          <a:xfrm>
            <a:off x="6172200" y="3118104"/>
            <a:ext cx="2377440" cy="310896"/>
          </a:xfrm>
          <a:prstGeom prst="rect">
            <a:avLst/>
          </a:prstGeom>
          <a:noFill/>
          <a:ln/>
        </p:spPr>
        <p:txBody>
          <a:bodyPr wrap="square" lIns="0" tIns="0" rIns="0" bIns="0" rtlCol="0" anchor="ctr"/>
          <a:lstStyle/>
          <a:p>
            <a:pPr indent="0" marL="0">
              <a:buNone/>
            </a:pPr>
            <a:r>
              <a:rPr lang="en-US" sz="950" b="1" dirty="0">
                <a:solidFill>
                  <a:srgbClr val="10202F"/>
                </a:solidFill>
                <a:latin typeface="Consolas" pitchFamily="34" charset="0"/>
                <a:ea typeface="Consolas" pitchFamily="34" charset="-122"/>
                <a:cs typeface="Consolas" pitchFamily="34" charset="-120"/>
              </a:rPr>
              <a:t>5 · Observabilidad</a:t>
            </a:r>
            <a:endParaRPr lang="en-US" sz="950" dirty="0"/>
          </a:p>
        </p:txBody>
      </p:sp>
      <p:sp>
        <p:nvSpPr>
          <p:cNvPr id="34" name="Text 32"/>
          <p:cNvSpPr/>
          <p:nvPr/>
        </p:nvSpPr>
        <p:spPr>
          <a:xfrm>
            <a:off x="8659368" y="3118104"/>
            <a:ext cx="2907792" cy="310896"/>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el conjunto de monitoreo</a:t>
            </a:r>
            <a:endParaRPr lang="en-US" sz="1000" dirty="0"/>
          </a:p>
        </p:txBody>
      </p:sp>
      <p:sp>
        <p:nvSpPr>
          <p:cNvPr id="35" name="Shape 33"/>
          <p:cNvSpPr/>
          <p:nvPr/>
        </p:nvSpPr>
        <p:spPr>
          <a:xfrm>
            <a:off x="594360" y="4160520"/>
            <a:ext cx="10972800" cy="1005840"/>
          </a:xfrm>
          <a:prstGeom prst="roundRect">
            <a:avLst>
              <a:gd name="adj" fmla="val 5455"/>
            </a:avLst>
          </a:prstGeom>
          <a:solidFill>
            <a:srgbClr val="DCEFE6"/>
          </a:solidFill>
          <a:ln w="12700">
            <a:solidFill>
              <a:srgbClr val="333333"/>
            </a:solidFill>
            <a:prstDash val="solid"/>
          </a:ln>
        </p:spPr>
      </p:sp>
      <p:sp>
        <p:nvSpPr>
          <p:cNvPr id="36" name="Text 34"/>
          <p:cNvSpPr/>
          <p:nvPr/>
        </p:nvSpPr>
        <p:spPr>
          <a:xfrm>
            <a:off x="822960" y="4288536"/>
            <a:ext cx="10515600" cy="74980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Las cinco pasan primero por un detector de secretos.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Si alguien commitea una credencial por error, el despliegue falla antes de construir nada. Es una barrera, no un aviso.</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OBSERVABILIDAD</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22 / 30</a:t>
            </a:r>
            <a:endParaRPr lang="en-US" sz="900" dirty="0"/>
          </a:p>
        </p:txBody>
      </p:sp>
      <p:sp>
        <p:nvSpPr>
          <p:cNvPr id="5" name="Shape 3"/>
          <p:cNvSpPr/>
          <p:nvPr/>
        </p:nvSpPr>
        <p:spPr>
          <a:xfrm>
            <a:off x="0" y="6803136"/>
            <a:ext cx="8918448"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OBSERVABILIDAD</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Los tres pilares de la telemetría</a:t>
            </a:r>
            <a:endParaRPr lang="en-US" sz="2700" dirty="0"/>
          </a:p>
        </p:txBody>
      </p:sp>
      <p:sp>
        <p:nvSpPr>
          <p:cNvPr id="8" name="Shape 6"/>
          <p:cNvSpPr/>
          <p:nvPr/>
        </p:nvSpPr>
        <p:spPr>
          <a:xfrm>
            <a:off x="594360" y="1600200"/>
            <a:ext cx="3502152" cy="2148840"/>
          </a:xfrm>
          <a:prstGeom prst="roundRect">
            <a:avLst>
              <a:gd name="adj" fmla="val 2553"/>
            </a:avLst>
          </a:prstGeom>
          <a:solidFill>
            <a:srgbClr val="F0F3F6"/>
          </a:solidFill>
          <a:ln w="12700">
            <a:solidFill>
              <a:srgbClr val="333333"/>
            </a:solidFill>
            <a:prstDash val="solid"/>
          </a:ln>
        </p:spPr>
      </p:sp>
      <p:sp>
        <p:nvSpPr>
          <p:cNvPr id="9" name="Shape 7"/>
          <p:cNvSpPr/>
          <p:nvPr/>
        </p:nvSpPr>
        <p:spPr>
          <a:xfrm>
            <a:off x="795528" y="1764792"/>
            <a:ext cx="899770" cy="237744"/>
          </a:xfrm>
          <a:prstGeom prst="roundRect">
            <a:avLst>
              <a:gd name="adj" fmla="val 19231"/>
            </a:avLst>
          </a:prstGeom>
          <a:solidFill>
            <a:srgbClr val="DCEFE6"/>
          </a:solidFill>
          <a:ln w="12700">
            <a:solidFill>
              <a:srgbClr val="333333"/>
            </a:solidFill>
            <a:prstDash val="solid"/>
          </a:ln>
        </p:spPr>
      </p:sp>
      <p:sp>
        <p:nvSpPr>
          <p:cNvPr id="10" name="Text 8"/>
          <p:cNvSpPr/>
          <p:nvPr/>
        </p:nvSpPr>
        <p:spPr>
          <a:xfrm>
            <a:off x="795528" y="1764792"/>
            <a:ext cx="899770" cy="237744"/>
          </a:xfrm>
          <a:prstGeom prst="rect">
            <a:avLst/>
          </a:prstGeom>
          <a:noFill/>
          <a:ln/>
        </p:spPr>
        <p:txBody>
          <a:bodyPr wrap="square" lIns="0" tIns="0" rIns="0" bIns="0" rtlCol="0" anchor="ctr"/>
          <a:lstStyle/>
          <a:p>
            <a:pPr algn="ctr" indent="0" marL="0">
              <a:buNone/>
            </a:pPr>
            <a:r>
              <a:rPr lang="en-US" sz="900" dirty="0">
                <a:solidFill>
                  <a:srgbClr val="0B6E4F"/>
                </a:solidFill>
                <a:latin typeface="Consolas" pitchFamily="34" charset="0"/>
                <a:ea typeface="Consolas" pitchFamily="34" charset="-122"/>
                <a:cs typeface="Consolas" pitchFamily="34" charset="-120"/>
              </a:rPr>
              <a:t>Métricas</a:t>
            </a:r>
            <a:endParaRPr lang="en-US" sz="900" dirty="0"/>
          </a:p>
        </p:txBody>
      </p:sp>
      <p:sp>
        <p:nvSpPr>
          <p:cNvPr id="11" name="Text 9"/>
          <p:cNvSpPr/>
          <p:nvPr/>
        </p:nvSpPr>
        <p:spPr>
          <a:xfrm>
            <a:off x="795528" y="2112264"/>
            <a:ext cx="3099816"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Prometheus</a:t>
            </a:r>
            <a:endParaRPr lang="en-US" sz="1250" dirty="0"/>
          </a:p>
        </p:txBody>
      </p:sp>
      <p:sp>
        <p:nvSpPr>
          <p:cNvPr id="12" name="Text 10"/>
          <p:cNvSpPr/>
          <p:nvPr/>
        </p:nvSpPr>
        <p:spPr>
          <a:xfrm>
            <a:off x="795528" y="2423160"/>
            <a:ext cx="3099816" cy="118872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Recoge números de todos los servicios cada 15 segundos: del sistema, de las dependencias y 19 métricas propias instrumentadas a mano.</a:t>
            </a:r>
            <a:endParaRPr lang="en-US" sz="1000" dirty="0"/>
          </a:p>
        </p:txBody>
      </p:sp>
      <p:sp>
        <p:nvSpPr>
          <p:cNvPr id="13" name="Shape 11"/>
          <p:cNvSpPr/>
          <p:nvPr/>
        </p:nvSpPr>
        <p:spPr>
          <a:xfrm>
            <a:off x="4325112" y="1600200"/>
            <a:ext cx="3502152" cy="2148840"/>
          </a:xfrm>
          <a:prstGeom prst="roundRect">
            <a:avLst>
              <a:gd name="adj" fmla="val 2553"/>
            </a:avLst>
          </a:prstGeom>
          <a:solidFill>
            <a:srgbClr val="F0F3F6"/>
          </a:solidFill>
          <a:ln w="12700">
            <a:solidFill>
              <a:srgbClr val="333333"/>
            </a:solidFill>
            <a:prstDash val="solid"/>
          </a:ln>
        </p:spPr>
      </p:sp>
      <p:sp>
        <p:nvSpPr>
          <p:cNvPr id="14" name="Shape 12"/>
          <p:cNvSpPr/>
          <p:nvPr/>
        </p:nvSpPr>
        <p:spPr>
          <a:xfrm>
            <a:off x="4526280" y="1764792"/>
            <a:ext cx="980237" cy="237744"/>
          </a:xfrm>
          <a:prstGeom prst="roundRect">
            <a:avLst>
              <a:gd name="adj" fmla="val 19231"/>
            </a:avLst>
          </a:prstGeom>
          <a:solidFill>
            <a:srgbClr val="DCEFE6"/>
          </a:solidFill>
          <a:ln w="12700">
            <a:solidFill>
              <a:srgbClr val="333333"/>
            </a:solidFill>
            <a:prstDash val="solid"/>
          </a:ln>
        </p:spPr>
      </p:sp>
      <p:sp>
        <p:nvSpPr>
          <p:cNvPr id="15" name="Text 13"/>
          <p:cNvSpPr/>
          <p:nvPr/>
        </p:nvSpPr>
        <p:spPr>
          <a:xfrm>
            <a:off x="4526280" y="1764792"/>
            <a:ext cx="980237" cy="237744"/>
          </a:xfrm>
          <a:prstGeom prst="rect">
            <a:avLst/>
          </a:prstGeom>
          <a:noFill/>
          <a:ln/>
        </p:spPr>
        <p:txBody>
          <a:bodyPr wrap="square" lIns="0" tIns="0" rIns="0" bIns="0" rtlCol="0" anchor="ctr"/>
          <a:lstStyle/>
          <a:p>
            <a:pPr algn="ctr" indent="0" marL="0">
              <a:buNone/>
            </a:pPr>
            <a:r>
              <a:rPr lang="en-US" sz="900" dirty="0">
                <a:solidFill>
                  <a:srgbClr val="0B6E4F"/>
                </a:solidFill>
                <a:latin typeface="Consolas" pitchFamily="34" charset="0"/>
                <a:ea typeface="Consolas" pitchFamily="34" charset="-122"/>
                <a:cs typeface="Consolas" pitchFamily="34" charset="-120"/>
              </a:rPr>
              <a:t>Registros</a:t>
            </a:r>
            <a:endParaRPr lang="en-US" sz="900" dirty="0"/>
          </a:p>
        </p:txBody>
      </p:sp>
      <p:sp>
        <p:nvSpPr>
          <p:cNvPr id="16" name="Text 14"/>
          <p:cNvSpPr/>
          <p:nvPr/>
        </p:nvSpPr>
        <p:spPr>
          <a:xfrm>
            <a:off x="4526280" y="2112264"/>
            <a:ext cx="3099816"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Alloy → Loki</a:t>
            </a:r>
            <a:endParaRPr lang="en-US" sz="1250" dirty="0"/>
          </a:p>
        </p:txBody>
      </p:sp>
      <p:sp>
        <p:nvSpPr>
          <p:cNvPr id="17" name="Text 15"/>
          <p:cNvSpPr/>
          <p:nvPr/>
        </p:nvSpPr>
        <p:spPr>
          <a:xfrm>
            <a:off x="4526280" y="2423160"/>
            <a:ext cx="3099816" cy="118872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Un agente en cada nodo recoge la salida de todos los contenedores. Los servicios escriben en formato estructurado, así que se consultan por campo.</a:t>
            </a:r>
            <a:endParaRPr lang="en-US" sz="1000" dirty="0"/>
          </a:p>
        </p:txBody>
      </p:sp>
      <p:sp>
        <p:nvSpPr>
          <p:cNvPr id="18" name="Shape 16"/>
          <p:cNvSpPr/>
          <p:nvPr/>
        </p:nvSpPr>
        <p:spPr>
          <a:xfrm>
            <a:off x="8055864" y="1600200"/>
            <a:ext cx="3502152" cy="2148840"/>
          </a:xfrm>
          <a:prstGeom prst="roundRect">
            <a:avLst>
              <a:gd name="adj" fmla="val 2553"/>
            </a:avLst>
          </a:prstGeom>
          <a:solidFill>
            <a:srgbClr val="F0F3F6"/>
          </a:solidFill>
          <a:ln w="12700">
            <a:solidFill>
              <a:srgbClr val="333333"/>
            </a:solidFill>
            <a:prstDash val="solid"/>
          </a:ln>
        </p:spPr>
      </p:sp>
      <p:sp>
        <p:nvSpPr>
          <p:cNvPr id="19" name="Shape 17"/>
          <p:cNvSpPr/>
          <p:nvPr/>
        </p:nvSpPr>
        <p:spPr>
          <a:xfrm>
            <a:off x="8257032" y="1764792"/>
            <a:ext cx="738835" cy="237744"/>
          </a:xfrm>
          <a:prstGeom prst="roundRect">
            <a:avLst>
              <a:gd name="adj" fmla="val 19231"/>
            </a:avLst>
          </a:prstGeom>
          <a:solidFill>
            <a:srgbClr val="DCEFE6"/>
          </a:solidFill>
          <a:ln w="12700">
            <a:solidFill>
              <a:srgbClr val="333333"/>
            </a:solidFill>
            <a:prstDash val="solid"/>
          </a:ln>
        </p:spPr>
      </p:sp>
      <p:sp>
        <p:nvSpPr>
          <p:cNvPr id="20" name="Text 18"/>
          <p:cNvSpPr/>
          <p:nvPr/>
        </p:nvSpPr>
        <p:spPr>
          <a:xfrm>
            <a:off x="8257032" y="1764792"/>
            <a:ext cx="738835" cy="237744"/>
          </a:xfrm>
          <a:prstGeom prst="rect">
            <a:avLst/>
          </a:prstGeom>
          <a:noFill/>
          <a:ln/>
        </p:spPr>
        <p:txBody>
          <a:bodyPr wrap="square" lIns="0" tIns="0" rIns="0" bIns="0" rtlCol="0" anchor="ctr"/>
          <a:lstStyle/>
          <a:p>
            <a:pPr algn="ctr" indent="0" marL="0">
              <a:buNone/>
            </a:pPr>
            <a:r>
              <a:rPr lang="en-US" sz="900" dirty="0">
                <a:solidFill>
                  <a:srgbClr val="0B6E4F"/>
                </a:solidFill>
                <a:latin typeface="Consolas" pitchFamily="34" charset="0"/>
                <a:ea typeface="Consolas" pitchFamily="34" charset="-122"/>
                <a:cs typeface="Consolas" pitchFamily="34" charset="-120"/>
              </a:rPr>
              <a:t>Trazas</a:t>
            </a:r>
            <a:endParaRPr lang="en-US" sz="900" dirty="0"/>
          </a:p>
        </p:txBody>
      </p:sp>
      <p:sp>
        <p:nvSpPr>
          <p:cNvPr id="21" name="Text 19"/>
          <p:cNvSpPr/>
          <p:nvPr/>
        </p:nvSpPr>
        <p:spPr>
          <a:xfrm>
            <a:off x="8257032" y="2112264"/>
            <a:ext cx="3099816"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Tempo</a:t>
            </a:r>
            <a:endParaRPr lang="en-US" sz="1250" dirty="0"/>
          </a:p>
        </p:txBody>
      </p:sp>
      <p:sp>
        <p:nvSpPr>
          <p:cNvPr id="22" name="Text 20"/>
          <p:cNvSpPr/>
          <p:nvPr/>
        </p:nvSpPr>
        <p:spPr>
          <a:xfrm>
            <a:off x="8257032" y="2423160"/>
            <a:ext cx="3099816" cy="118872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Sigue una operación de punta a punta atravesando servicios distintos, incluso cuando el salto ocurre a través de una cola de mensajes.</a:t>
            </a:r>
            <a:endParaRPr lang="en-US" sz="1000" dirty="0"/>
          </a:p>
        </p:txBody>
      </p:sp>
      <p:sp>
        <p:nvSpPr>
          <p:cNvPr id="23" name="Shape 21"/>
          <p:cNvSpPr/>
          <p:nvPr/>
        </p:nvSpPr>
        <p:spPr>
          <a:xfrm>
            <a:off x="594360" y="4023360"/>
            <a:ext cx="5349240" cy="1143000"/>
          </a:xfrm>
          <a:prstGeom prst="roundRect">
            <a:avLst>
              <a:gd name="adj" fmla="val 4800"/>
            </a:avLst>
          </a:prstGeom>
          <a:solidFill>
            <a:srgbClr val="F0F3F6"/>
          </a:solidFill>
          <a:ln w="12700">
            <a:solidFill>
              <a:srgbClr val="333333"/>
            </a:solidFill>
            <a:prstDash val="solid"/>
          </a:ln>
        </p:spPr>
      </p:sp>
      <p:sp>
        <p:nvSpPr>
          <p:cNvPr id="24" name="Text 22"/>
          <p:cNvSpPr/>
          <p:nvPr/>
        </p:nvSpPr>
        <p:spPr>
          <a:xfrm>
            <a:off x="822960" y="4151376"/>
            <a:ext cx="4892040" cy="886968"/>
          </a:xfrm>
          <a:prstGeom prst="rect">
            <a:avLst/>
          </a:prstGeom>
          <a:noFill/>
          <a:ln/>
        </p:spPr>
        <p:txBody>
          <a:bodyPr wrap="square" lIns="0" tIns="0" rIns="0" bIns="0" rtlCol="0" anchor="t"/>
          <a:lstStyle/>
          <a:p>
            <a:pPr indent="0" marL="0">
              <a:lnSpc>
                <a:spcPct val="118000"/>
              </a:lnSpc>
              <a:buNone/>
            </a:pPr>
            <a:r>
              <a:rPr lang="en-US" sz="1050" b="1" dirty="0">
                <a:solidFill>
                  <a:srgbClr val="10202F"/>
                </a:solidFill>
                <a:latin typeface="Calibri" pitchFamily="34" charset="0"/>
                <a:ea typeface="Calibri" pitchFamily="34" charset="-122"/>
                <a:cs typeface="Calibri" pitchFamily="34" charset="-120"/>
              </a:rPr>
              <a:t>Grafana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es la ventana única: consulta las tres fuentes desde un mismo lugar y permite saltar de un gráfico a los registros del mismo momento.</a:t>
            </a:r>
            <a:endParaRPr lang="en-US" sz="1050" dirty="0"/>
          </a:p>
        </p:txBody>
      </p:sp>
      <p:sp>
        <p:nvSpPr>
          <p:cNvPr id="25" name="Shape 23"/>
          <p:cNvSpPr/>
          <p:nvPr/>
        </p:nvSpPr>
        <p:spPr>
          <a:xfrm>
            <a:off x="6217920" y="4023360"/>
            <a:ext cx="5349240" cy="1143000"/>
          </a:xfrm>
          <a:prstGeom prst="roundRect">
            <a:avLst>
              <a:gd name="adj" fmla="val 4800"/>
            </a:avLst>
          </a:prstGeom>
          <a:solidFill>
            <a:srgbClr val="F0F3F6"/>
          </a:solidFill>
          <a:ln w="12700">
            <a:solidFill>
              <a:srgbClr val="333333"/>
            </a:solidFill>
            <a:prstDash val="solid"/>
          </a:ln>
        </p:spPr>
      </p:sp>
      <p:sp>
        <p:nvSpPr>
          <p:cNvPr id="26" name="Text 24"/>
          <p:cNvSpPr/>
          <p:nvPr/>
        </p:nvSpPr>
        <p:spPr>
          <a:xfrm>
            <a:off x="6446520" y="4151376"/>
            <a:ext cx="4892040" cy="886968"/>
          </a:xfrm>
          <a:prstGeom prst="rect">
            <a:avLst/>
          </a:prstGeom>
          <a:noFill/>
          <a:ln/>
        </p:spPr>
        <p:txBody>
          <a:bodyPr wrap="square" lIns="0" tIns="0" rIns="0" bIns="0" rtlCol="0" anchor="t"/>
          <a:lstStyle/>
          <a:p>
            <a:pPr indent="0" marL="0">
              <a:lnSpc>
                <a:spcPct val="118000"/>
              </a:lnSpc>
              <a:buNone/>
            </a:pPr>
            <a:r>
              <a:rPr lang="en-US" sz="1050" b="1" dirty="0">
                <a:solidFill>
                  <a:srgbClr val="10202F"/>
                </a:solidFill>
                <a:latin typeface="Calibri" pitchFamily="34" charset="0"/>
                <a:ea typeface="Calibri" pitchFamily="34" charset="-122"/>
                <a:cs typeface="Calibri" pitchFamily="34" charset="-120"/>
              </a:rPr>
              <a:t>Alertmanager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vigila reglas y avisa. Además hay tres exportadores que traducen el estado de Redis, Postgres y el propio Kubernetes a métricas.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OBSERVABILIDAD</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23 / 30</a:t>
            </a:r>
            <a:endParaRPr lang="en-US" sz="900" dirty="0"/>
          </a:p>
        </p:txBody>
      </p:sp>
      <p:sp>
        <p:nvSpPr>
          <p:cNvPr id="5" name="Shape 3"/>
          <p:cNvSpPr/>
          <p:nvPr/>
        </p:nvSpPr>
        <p:spPr>
          <a:xfrm>
            <a:off x="0" y="6803136"/>
            <a:ext cx="9323832"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OBSERVABILIDAD · MÉTRICAS</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Qué medimos del sistema</a:t>
            </a:r>
            <a:endParaRPr lang="en-US" sz="2700" dirty="0"/>
          </a:p>
        </p:txBody>
      </p:sp>
      <p:sp>
        <p:nvSpPr>
          <p:cNvPr id="8" name="Text 6"/>
          <p:cNvSpPr/>
          <p:nvPr/>
        </p:nvSpPr>
        <p:spPr>
          <a:xfrm>
            <a:off x="594360" y="1554480"/>
            <a:ext cx="3502152" cy="274320"/>
          </a:xfrm>
          <a:prstGeom prst="rect">
            <a:avLst/>
          </a:prstGeom>
          <a:noFill/>
          <a:ln/>
        </p:spPr>
        <p:txBody>
          <a:bodyPr wrap="square" lIns="0" tIns="0" rIns="0" bIns="0" rtlCol="0" anchor="ctr"/>
          <a:lstStyle/>
          <a:p>
            <a:pPr indent="0" marL="0">
              <a:buNone/>
            </a:pPr>
            <a:r>
              <a:rPr lang="en-US" sz="1200" b="1" dirty="0">
                <a:solidFill>
                  <a:srgbClr val="0B6E4F"/>
                </a:solidFill>
                <a:latin typeface="Calibri" pitchFamily="34" charset="0"/>
                <a:ea typeface="Calibri" pitchFamily="34" charset="-122"/>
                <a:cs typeface="Calibri" pitchFamily="34" charset="-120"/>
              </a:rPr>
              <a:t>Del coordinador</a:t>
            </a:r>
            <a:endParaRPr lang="en-US" sz="1200" dirty="0"/>
          </a:p>
        </p:txBody>
      </p:sp>
      <p:sp>
        <p:nvSpPr>
          <p:cNvPr id="9" name="Text 7"/>
          <p:cNvSpPr/>
          <p:nvPr/>
        </p:nvSpPr>
        <p:spPr>
          <a:xfrm>
            <a:off x="594360" y="1901952"/>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nct_blocks_total</a:t>
            </a:r>
            <a:endParaRPr lang="en-US" sz="900" dirty="0"/>
          </a:p>
        </p:txBody>
      </p:sp>
      <p:sp>
        <p:nvSpPr>
          <p:cNvPr id="10" name="Shape 8"/>
          <p:cNvSpPr/>
          <p:nvPr/>
        </p:nvSpPr>
        <p:spPr>
          <a:xfrm>
            <a:off x="594360" y="2176272"/>
            <a:ext cx="3364992" cy="7315"/>
          </a:xfrm>
          <a:prstGeom prst="rect">
            <a:avLst/>
          </a:prstGeom>
          <a:solidFill>
            <a:srgbClr val="DDE3E9"/>
          </a:solidFill>
          <a:ln w="12700">
            <a:solidFill>
              <a:srgbClr val="333333"/>
            </a:solidFill>
            <a:prstDash val="solid"/>
          </a:ln>
        </p:spPr>
      </p:sp>
      <p:sp>
        <p:nvSpPr>
          <p:cNvPr id="11" name="Text 9"/>
          <p:cNvSpPr/>
          <p:nvPr/>
        </p:nvSpPr>
        <p:spPr>
          <a:xfrm>
            <a:off x="594360" y="2212848"/>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nct_block_mining_seconds</a:t>
            </a:r>
            <a:endParaRPr lang="en-US" sz="900" dirty="0"/>
          </a:p>
        </p:txBody>
      </p:sp>
      <p:sp>
        <p:nvSpPr>
          <p:cNvPr id="12" name="Shape 10"/>
          <p:cNvSpPr/>
          <p:nvPr/>
        </p:nvSpPr>
        <p:spPr>
          <a:xfrm>
            <a:off x="594360" y="2487168"/>
            <a:ext cx="3364992" cy="7315"/>
          </a:xfrm>
          <a:prstGeom prst="rect">
            <a:avLst/>
          </a:prstGeom>
          <a:solidFill>
            <a:srgbClr val="DDE3E9"/>
          </a:solidFill>
          <a:ln w="12700">
            <a:solidFill>
              <a:srgbClr val="333333"/>
            </a:solidFill>
            <a:prstDash val="solid"/>
          </a:ln>
        </p:spPr>
      </p:sp>
      <p:sp>
        <p:nvSpPr>
          <p:cNvPr id="13" name="Text 11"/>
          <p:cNvSpPr/>
          <p:nvPr/>
        </p:nvSpPr>
        <p:spPr>
          <a:xfrm>
            <a:off x="594360" y="2523744"/>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nct_block_validation_seconds</a:t>
            </a:r>
            <a:endParaRPr lang="en-US" sz="900" dirty="0"/>
          </a:p>
        </p:txBody>
      </p:sp>
      <p:sp>
        <p:nvSpPr>
          <p:cNvPr id="14" name="Shape 12"/>
          <p:cNvSpPr/>
          <p:nvPr/>
        </p:nvSpPr>
        <p:spPr>
          <a:xfrm>
            <a:off x="594360" y="2798064"/>
            <a:ext cx="3364992" cy="7315"/>
          </a:xfrm>
          <a:prstGeom prst="rect">
            <a:avLst/>
          </a:prstGeom>
          <a:solidFill>
            <a:srgbClr val="DDE3E9"/>
          </a:solidFill>
          <a:ln w="12700">
            <a:solidFill>
              <a:srgbClr val="333333"/>
            </a:solidFill>
            <a:prstDash val="solid"/>
          </a:ln>
        </p:spPr>
      </p:sp>
      <p:sp>
        <p:nvSpPr>
          <p:cNvPr id="15" name="Text 13"/>
          <p:cNvSpPr/>
          <p:nvPr/>
        </p:nvSpPr>
        <p:spPr>
          <a:xfrm>
            <a:off x="594360" y="2834640"/>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nct_solutions_rejected_total</a:t>
            </a:r>
            <a:endParaRPr lang="en-US" sz="900" dirty="0"/>
          </a:p>
        </p:txBody>
      </p:sp>
      <p:sp>
        <p:nvSpPr>
          <p:cNvPr id="16" name="Shape 14"/>
          <p:cNvSpPr/>
          <p:nvPr/>
        </p:nvSpPr>
        <p:spPr>
          <a:xfrm>
            <a:off x="594360" y="3108960"/>
            <a:ext cx="3364992" cy="7315"/>
          </a:xfrm>
          <a:prstGeom prst="rect">
            <a:avLst/>
          </a:prstGeom>
          <a:solidFill>
            <a:srgbClr val="DDE3E9"/>
          </a:solidFill>
          <a:ln w="12700">
            <a:solidFill>
              <a:srgbClr val="333333"/>
            </a:solidFill>
            <a:prstDash val="solid"/>
          </a:ln>
        </p:spPr>
      </p:sp>
      <p:sp>
        <p:nvSpPr>
          <p:cNvPr id="17" name="Text 15"/>
          <p:cNvSpPr/>
          <p:nvPr/>
        </p:nvSpPr>
        <p:spPr>
          <a:xfrm>
            <a:off x="594360" y="3145536"/>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nct_mining_timeouts_total</a:t>
            </a:r>
            <a:endParaRPr lang="en-US" sz="900" dirty="0"/>
          </a:p>
        </p:txBody>
      </p:sp>
      <p:sp>
        <p:nvSpPr>
          <p:cNvPr id="18" name="Shape 16"/>
          <p:cNvSpPr/>
          <p:nvPr/>
        </p:nvSpPr>
        <p:spPr>
          <a:xfrm>
            <a:off x="594360" y="3419856"/>
            <a:ext cx="3364992" cy="7315"/>
          </a:xfrm>
          <a:prstGeom prst="rect">
            <a:avLst/>
          </a:prstGeom>
          <a:solidFill>
            <a:srgbClr val="DDE3E9"/>
          </a:solidFill>
          <a:ln w="12700">
            <a:solidFill>
              <a:srgbClr val="333333"/>
            </a:solidFill>
            <a:prstDash val="solid"/>
          </a:ln>
        </p:spPr>
      </p:sp>
      <p:sp>
        <p:nvSpPr>
          <p:cNvPr id="19" name="Text 17"/>
          <p:cNvSpPr/>
          <p:nvPr/>
        </p:nvSpPr>
        <p:spPr>
          <a:xfrm>
            <a:off x="594360" y="3456432"/>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nct_pending_transactions</a:t>
            </a:r>
            <a:endParaRPr lang="en-US" sz="900" dirty="0"/>
          </a:p>
        </p:txBody>
      </p:sp>
      <p:sp>
        <p:nvSpPr>
          <p:cNvPr id="20" name="Shape 18"/>
          <p:cNvSpPr/>
          <p:nvPr/>
        </p:nvSpPr>
        <p:spPr>
          <a:xfrm>
            <a:off x="594360" y="3730752"/>
            <a:ext cx="3364992" cy="7315"/>
          </a:xfrm>
          <a:prstGeom prst="rect">
            <a:avLst/>
          </a:prstGeom>
          <a:solidFill>
            <a:srgbClr val="DDE3E9"/>
          </a:solidFill>
          <a:ln w="12700">
            <a:solidFill>
              <a:srgbClr val="333333"/>
            </a:solidFill>
            <a:prstDash val="solid"/>
          </a:ln>
        </p:spPr>
      </p:sp>
      <p:sp>
        <p:nvSpPr>
          <p:cNvPr id="21" name="Text 19"/>
          <p:cNvSpPr/>
          <p:nvPr/>
        </p:nvSpPr>
        <p:spPr>
          <a:xfrm>
            <a:off x="4325112" y="1554480"/>
            <a:ext cx="3502152" cy="274320"/>
          </a:xfrm>
          <a:prstGeom prst="rect">
            <a:avLst/>
          </a:prstGeom>
          <a:noFill/>
          <a:ln/>
        </p:spPr>
        <p:txBody>
          <a:bodyPr wrap="square" lIns="0" tIns="0" rIns="0" bIns="0" rtlCol="0" anchor="ctr"/>
          <a:lstStyle/>
          <a:p>
            <a:pPr indent="0" marL="0">
              <a:buNone/>
            </a:pPr>
            <a:r>
              <a:rPr lang="en-US" sz="1200" b="1" dirty="0">
                <a:solidFill>
                  <a:srgbClr val="0B6E4F"/>
                </a:solidFill>
                <a:latin typeface="Calibri" pitchFamily="34" charset="0"/>
                <a:ea typeface="Calibri" pitchFamily="34" charset="-122"/>
                <a:cs typeface="Calibri" pitchFamily="34" charset="-120"/>
              </a:rPr>
              <a:t>Del repartidor</a:t>
            </a:r>
            <a:endParaRPr lang="en-US" sz="1200" dirty="0"/>
          </a:p>
        </p:txBody>
      </p:sp>
      <p:sp>
        <p:nvSpPr>
          <p:cNvPr id="22" name="Text 20"/>
          <p:cNvSpPr/>
          <p:nvPr/>
        </p:nvSpPr>
        <p:spPr>
          <a:xfrm>
            <a:off x="4325112" y="1901952"/>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trp_chunks_published_total</a:t>
            </a:r>
            <a:endParaRPr lang="en-US" sz="900" dirty="0"/>
          </a:p>
        </p:txBody>
      </p:sp>
      <p:sp>
        <p:nvSpPr>
          <p:cNvPr id="23" name="Shape 21"/>
          <p:cNvSpPr/>
          <p:nvPr/>
        </p:nvSpPr>
        <p:spPr>
          <a:xfrm>
            <a:off x="4325112" y="2176272"/>
            <a:ext cx="3364992" cy="7315"/>
          </a:xfrm>
          <a:prstGeom prst="rect">
            <a:avLst/>
          </a:prstGeom>
          <a:solidFill>
            <a:srgbClr val="DDE3E9"/>
          </a:solidFill>
          <a:ln w="12700">
            <a:solidFill>
              <a:srgbClr val="333333"/>
            </a:solidFill>
            <a:prstDash val="solid"/>
          </a:ln>
        </p:spPr>
      </p:sp>
      <p:sp>
        <p:nvSpPr>
          <p:cNvPr id="24" name="Text 22"/>
          <p:cNvSpPr/>
          <p:nvPr/>
        </p:nvSpPr>
        <p:spPr>
          <a:xfrm>
            <a:off x="4325112" y="2212848"/>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trp_gpu_alive</a:t>
            </a:r>
            <a:endParaRPr lang="en-US" sz="900" dirty="0"/>
          </a:p>
        </p:txBody>
      </p:sp>
      <p:sp>
        <p:nvSpPr>
          <p:cNvPr id="25" name="Shape 23"/>
          <p:cNvSpPr/>
          <p:nvPr/>
        </p:nvSpPr>
        <p:spPr>
          <a:xfrm>
            <a:off x="4325112" y="2487168"/>
            <a:ext cx="3364992" cy="7315"/>
          </a:xfrm>
          <a:prstGeom prst="rect">
            <a:avLst/>
          </a:prstGeom>
          <a:solidFill>
            <a:srgbClr val="DDE3E9"/>
          </a:solidFill>
          <a:ln w="12700">
            <a:solidFill>
              <a:srgbClr val="333333"/>
            </a:solidFill>
            <a:prstDash val="solid"/>
          </a:ln>
        </p:spPr>
      </p:sp>
      <p:sp>
        <p:nvSpPr>
          <p:cNvPr id="26" name="Text 24"/>
          <p:cNvSpPr/>
          <p:nvPr/>
        </p:nvSpPr>
        <p:spPr>
          <a:xfrm>
            <a:off x="4325112" y="2523744"/>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trp_fallback_active</a:t>
            </a:r>
            <a:endParaRPr lang="en-US" sz="900" dirty="0"/>
          </a:p>
        </p:txBody>
      </p:sp>
      <p:sp>
        <p:nvSpPr>
          <p:cNvPr id="27" name="Shape 25"/>
          <p:cNvSpPr/>
          <p:nvPr/>
        </p:nvSpPr>
        <p:spPr>
          <a:xfrm>
            <a:off x="4325112" y="2798064"/>
            <a:ext cx="3364992" cy="7315"/>
          </a:xfrm>
          <a:prstGeom prst="rect">
            <a:avLst/>
          </a:prstGeom>
          <a:solidFill>
            <a:srgbClr val="DDE3E9"/>
          </a:solidFill>
          <a:ln w="12700">
            <a:solidFill>
              <a:srgbClr val="333333"/>
            </a:solidFill>
            <a:prstDash val="solid"/>
          </a:ln>
        </p:spPr>
      </p:sp>
      <p:sp>
        <p:nvSpPr>
          <p:cNvPr id="28" name="Text 26"/>
          <p:cNvSpPr/>
          <p:nvPr/>
        </p:nvSpPr>
        <p:spPr>
          <a:xfrm>
            <a:off x="4325112" y="2834640"/>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trp_cpu_scale_events_total</a:t>
            </a:r>
            <a:endParaRPr lang="en-US" sz="900" dirty="0"/>
          </a:p>
        </p:txBody>
      </p:sp>
      <p:sp>
        <p:nvSpPr>
          <p:cNvPr id="29" name="Shape 27"/>
          <p:cNvSpPr/>
          <p:nvPr/>
        </p:nvSpPr>
        <p:spPr>
          <a:xfrm>
            <a:off x="4325112" y="3108960"/>
            <a:ext cx="3364992" cy="7315"/>
          </a:xfrm>
          <a:prstGeom prst="rect">
            <a:avLst/>
          </a:prstGeom>
          <a:solidFill>
            <a:srgbClr val="DDE3E9"/>
          </a:solidFill>
          <a:ln w="12700">
            <a:solidFill>
              <a:srgbClr val="333333"/>
            </a:solidFill>
            <a:prstDash val="solid"/>
          </a:ln>
        </p:spPr>
      </p:sp>
      <p:sp>
        <p:nvSpPr>
          <p:cNvPr id="30" name="Text 28"/>
          <p:cNvSpPr/>
          <p:nvPr/>
        </p:nvSpPr>
        <p:spPr>
          <a:xfrm>
            <a:off x="4325112" y="3145536"/>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trp_mode_competitive</a:t>
            </a:r>
            <a:endParaRPr lang="en-US" sz="900" dirty="0"/>
          </a:p>
        </p:txBody>
      </p:sp>
      <p:sp>
        <p:nvSpPr>
          <p:cNvPr id="31" name="Shape 29"/>
          <p:cNvSpPr/>
          <p:nvPr/>
        </p:nvSpPr>
        <p:spPr>
          <a:xfrm>
            <a:off x="4325112" y="3419856"/>
            <a:ext cx="3364992" cy="7315"/>
          </a:xfrm>
          <a:prstGeom prst="rect">
            <a:avLst/>
          </a:prstGeom>
          <a:solidFill>
            <a:srgbClr val="DDE3E9"/>
          </a:solidFill>
          <a:ln w="12700">
            <a:solidFill>
              <a:srgbClr val="333333"/>
            </a:solidFill>
            <a:prstDash val="solid"/>
          </a:ln>
        </p:spPr>
      </p:sp>
      <p:sp>
        <p:nvSpPr>
          <p:cNvPr id="32" name="Text 30"/>
          <p:cNvSpPr/>
          <p:nvPr/>
        </p:nvSpPr>
        <p:spPr>
          <a:xfrm>
            <a:off x="8055864" y="1554480"/>
            <a:ext cx="3502152" cy="274320"/>
          </a:xfrm>
          <a:prstGeom prst="rect">
            <a:avLst/>
          </a:prstGeom>
          <a:noFill/>
          <a:ln/>
        </p:spPr>
        <p:txBody>
          <a:bodyPr wrap="square" lIns="0" tIns="0" rIns="0" bIns="0" rtlCol="0" anchor="ctr"/>
          <a:lstStyle/>
          <a:p>
            <a:pPr indent="0" marL="0">
              <a:buNone/>
            </a:pPr>
            <a:r>
              <a:rPr lang="en-US" sz="1200" b="1" dirty="0">
                <a:solidFill>
                  <a:srgbClr val="0B6E4F"/>
                </a:solidFill>
                <a:latin typeface="Calibri" pitchFamily="34" charset="0"/>
                <a:ea typeface="Calibri" pitchFamily="34" charset="-122"/>
                <a:cs typeface="Calibri" pitchFamily="34" charset="-120"/>
              </a:rPr>
              <a:t>De los mineros</a:t>
            </a:r>
            <a:endParaRPr lang="en-US" sz="1200" dirty="0"/>
          </a:p>
        </p:txBody>
      </p:sp>
      <p:sp>
        <p:nvSpPr>
          <p:cNvPr id="33" name="Text 31"/>
          <p:cNvSpPr/>
          <p:nvPr/>
        </p:nvSpPr>
        <p:spPr>
          <a:xfrm>
            <a:off x="8055864" y="1901952"/>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worker_hashes_total</a:t>
            </a:r>
            <a:endParaRPr lang="en-US" sz="900" dirty="0"/>
          </a:p>
        </p:txBody>
      </p:sp>
      <p:sp>
        <p:nvSpPr>
          <p:cNvPr id="34" name="Shape 32"/>
          <p:cNvSpPr/>
          <p:nvPr/>
        </p:nvSpPr>
        <p:spPr>
          <a:xfrm>
            <a:off x="8055864" y="2176272"/>
            <a:ext cx="3364992" cy="7315"/>
          </a:xfrm>
          <a:prstGeom prst="rect">
            <a:avLst/>
          </a:prstGeom>
          <a:solidFill>
            <a:srgbClr val="DDE3E9"/>
          </a:solidFill>
          <a:ln w="12700">
            <a:solidFill>
              <a:srgbClr val="333333"/>
            </a:solidFill>
            <a:prstDash val="solid"/>
          </a:ln>
        </p:spPr>
      </p:sp>
      <p:sp>
        <p:nvSpPr>
          <p:cNvPr id="35" name="Text 33"/>
          <p:cNvSpPr/>
          <p:nvPr/>
        </p:nvSpPr>
        <p:spPr>
          <a:xfrm>
            <a:off x="8055864" y="2212848"/>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worker_task_queue_latency_seconds</a:t>
            </a:r>
            <a:endParaRPr lang="en-US" sz="900" dirty="0"/>
          </a:p>
        </p:txBody>
      </p:sp>
      <p:sp>
        <p:nvSpPr>
          <p:cNvPr id="36" name="Shape 34"/>
          <p:cNvSpPr/>
          <p:nvPr/>
        </p:nvSpPr>
        <p:spPr>
          <a:xfrm>
            <a:off x="8055864" y="2487168"/>
            <a:ext cx="3364992" cy="7315"/>
          </a:xfrm>
          <a:prstGeom prst="rect">
            <a:avLst/>
          </a:prstGeom>
          <a:solidFill>
            <a:srgbClr val="DDE3E9"/>
          </a:solidFill>
          <a:ln w="12700">
            <a:solidFill>
              <a:srgbClr val="333333"/>
            </a:solidFill>
            <a:prstDash val="solid"/>
          </a:ln>
        </p:spPr>
      </p:sp>
      <p:sp>
        <p:nvSpPr>
          <p:cNvPr id="37" name="Text 35"/>
          <p:cNvSpPr/>
          <p:nvPr/>
        </p:nvSpPr>
        <p:spPr>
          <a:xfrm>
            <a:off x="8055864" y="2523744"/>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worker_solutions_found_total</a:t>
            </a:r>
            <a:endParaRPr lang="en-US" sz="900" dirty="0"/>
          </a:p>
        </p:txBody>
      </p:sp>
      <p:sp>
        <p:nvSpPr>
          <p:cNvPr id="38" name="Shape 36"/>
          <p:cNvSpPr/>
          <p:nvPr/>
        </p:nvSpPr>
        <p:spPr>
          <a:xfrm>
            <a:off x="8055864" y="2798064"/>
            <a:ext cx="3364992" cy="7315"/>
          </a:xfrm>
          <a:prstGeom prst="rect">
            <a:avLst/>
          </a:prstGeom>
          <a:solidFill>
            <a:srgbClr val="DDE3E9"/>
          </a:solidFill>
          <a:ln w="12700">
            <a:solidFill>
              <a:srgbClr val="333333"/>
            </a:solidFill>
            <a:prstDash val="solid"/>
          </a:ln>
        </p:spPr>
      </p:sp>
      <p:sp>
        <p:nvSpPr>
          <p:cNvPr id="39" name="Text 37"/>
          <p:cNvSpPr/>
          <p:nvPr/>
        </p:nvSpPr>
        <p:spPr>
          <a:xfrm>
            <a:off x="8055864" y="2834640"/>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worker_task_duration_seconds</a:t>
            </a:r>
            <a:endParaRPr lang="en-US" sz="900" dirty="0"/>
          </a:p>
        </p:txBody>
      </p:sp>
      <p:sp>
        <p:nvSpPr>
          <p:cNvPr id="40" name="Shape 38"/>
          <p:cNvSpPr/>
          <p:nvPr/>
        </p:nvSpPr>
        <p:spPr>
          <a:xfrm>
            <a:off x="8055864" y="3108960"/>
            <a:ext cx="3364992" cy="7315"/>
          </a:xfrm>
          <a:prstGeom prst="rect">
            <a:avLst/>
          </a:prstGeom>
          <a:solidFill>
            <a:srgbClr val="DDE3E9"/>
          </a:solidFill>
          <a:ln w="12700">
            <a:solidFill>
              <a:srgbClr val="333333"/>
            </a:solidFill>
            <a:prstDash val="solid"/>
          </a:ln>
        </p:spPr>
      </p:sp>
      <p:sp>
        <p:nvSpPr>
          <p:cNvPr id="41" name="Text 39"/>
          <p:cNvSpPr/>
          <p:nvPr/>
        </p:nvSpPr>
        <p:spPr>
          <a:xfrm>
            <a:off x="8055864" y="3145536"/>
            <a:ext cx="3502152" cy="274320"/>
          </a:xfrm>
          <a:prstGeom prst="rect">
            <a:avLst/>
          </a:prstGeom>
          <a:noFill/>
          <a:ln/>
        </p:spPr>
        <p:txBody>
          <a:bodyPr wrap="square" lIns="0" tIns="0" rIns="0" bIns="0" rtlCol="0" anchor="ctr"/>
          <a:lstStyle/>
          <a:p>
            <a:pPr indent="0" marL="0">
              <a:buNone/>
            </a:pPr>
            <a:r>
              <a:rPr lang="en-US" sz="900" dirty="0">
                <a:solidFill>
                  <a:srgbClr val="10202F"/>
                </a:solidFill>
                <a:latin typeface="Consolas" pitchFamily="34" charset="0"/>
                <a:ea typeface="Consolas" pitchFamily="34" charset="-122"/>
                <a:cs typeface="Consolas" pitchFamily="34" charset="-120"/>
              </a:rPr>
              <a:t>gpu_mine_duration_seconds</a:t>
            </a:r>
            <a:endParaRPr lang="en-US" sz="900" dirty="0"/>
          </a:p>
        </p:txBody>
      </p:sp>
      <p:sp>
        <p:nvSpPr>
          <p:cNvPr id="42" name="Shape 40"/>
          <p:cNvSpPr/>
          <p:nvPr/>
        </p:nvSpPr>
        <p:spPr>
          <a:xfrm>
            <a:off x="8055864" y="3419856"/>
            <a:ext cx="3364992" cy="7315"/>
          </a:xfrm>
          <a:prstGeom prst="rect">
            <a:avLst/>
          </a:prstGeom>
          <a:solidFill>
            <a:srgbClr val="DDE3E9"/>
          </a:solidFill>
          <a:ln w="12700">
            <a:solidFill>
              <a:srgbClr val="333333"/>
            </a:solidFill>
            <a:prstDash val="solid"/>
          </a:ln>
        </p:spPr>
      </p:sp>
      <p:sp>
        <p:nvSpPr>
          <p:cNvPr id="43" name="Shape 41"/>
          <p:cNvSpPr/>
          <p:nvPr/>
        </p:nvSpPr>
        <p:spPr>
          <a:xfrm>
            <a:off x="594360" y="3977640"/>
            <a:ext cx="10972800" cy="1417320"/>
          </a:xfrm>
          <a:prstGeom prst="roundRect">
            <a:avLst>
              <a:gd name="adj" fmla="val 3871"/>
            </a:avLst>
          </a:prstGeom>
          <a:solidFill>
            <a:srgbClr val="DCEFE6"/>
          </a:solidFill>
          <a:ln w="12700">
            <a:solidFill>
              <a:srgbClr val="333333"/>
            </a:solidFill>
            <a:prstDash val="solid"/>
          </a:ln>
        </p:spPr>
      </p:sp>
      <p:sp>
        <p:nvSpPr>
          <p:cNvPr id="44" name="Text 42"/>
          <p:cNvSpPr/>
          <p:nvPr/>
        </p:nvSpPr>
        <p:spPr>
          <a:xfrm>
            <a:off x="822960" y="4105656"/>
            <a:ext cx="10515600" cy="116128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Una decisión que vale explicar: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las métricas de los mineros no llevan etiqueta con el identificador del worker. Ese identificador se genera nuevo en cada arranque, así que como etiqueta crearía una serie temporal distinta por cada reinicio y la cantidad de series crecería sin techo hasta tumbar a Prometheus. Para desagregar por nodo alcanza con la etiqueta que el recolector agrega solo.</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OBSERVABILIDAD</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24 / 30</a:t>
            </a:r>
            <a:endParaRPr lang="en-US" sz="900" dirty="0"/>
          </a:p>
        </p:txBody>
      </p:sp>
      <p:sp>
        <p:nvSpPr>
          <p:cNvPr id="5" name="Shape 3"/>
          <p:cNvSpPr/>
          <p:nvPr/>
        </p:nvSpPr>
        <p:spPr>
          <a:xfrm>
            <a:off x="0" y="6803136"/>
            <a:ext cx="9729216"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OBSERVABILIDAD · TRAZAS</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Seguir una operación a través de las colas</a:t>
            </a:r>
            <a:endParaRPr lang="en-US" sz="2700" dirty="0"/>
          </a:p>
        </p:txBody>
      </p:sp>
      <p:sp>
        <p:nvSpPr>
          <p:cNvPr id="8" name="Text 6"/>
          <p:cNvSpPr/>
          <p:nvPr/>
        </p:nvSpPr>
        <p:spPr>
          <a:xfrm>
            <a:off x="594360" y="1572768"/>
            <a:ext cx="4114800" cy="96012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El desafío en un sistema con colas: cuando un servicio publica un mensaje y otro lo consume, el vínculo entre ambos se pierde. Son dos procesos distintos, en momentos distintos.</a:t>
            </a:r>
            <a:endParaRPr lang="en-US" sz="1050" dirty="0"/>
          </a:p>
        </p:txBody>
      </p:sp>
      <p:sp>
        <p:nvSpPr>
          <p:cNvPr id="9" name="Text 7"/>
          <p:cNvSpPr/>
          <p:nvPr/>
        </p:nvSpPr>
        <p:spPr>
          <a:xfrm>
            <a:off x="594360" y="2651760"/>
            <a:ext cx="4114800" cy="91440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La solución fue embarcar el contexto de la traza dentro del propio mensaje: el repartidor lo inyecta al publicar y el minero lo extrae al consumir.</a:t>
            </a:r>
            <a:endParaRPr lang="en-US" sz="1050" dirty="0"/>
          </a:p>
        </p:txBody>
      </p:sp>
      <p:sp>
        <p:nvSpPr>
          <p:cNvPr id="10" name="Shape 8"/>
          <p:cNvSpPr/>
          <p:nvPr/>
        </p:nvSpPr>
        <p:spPr>
          <a:xfrm>
            <a:off x="5166360" y="1572768"/>
            <a:ext cx="1962912" cy="1234440"/>
          </a:xfrm>
          <a:prstGeom prst="roundRect">
            <a:avLst>
              <a:gd name="adj" fmla="val 4444"/>
            </a:avLst>
          </a:prstGeom>
          <a:solidFill>
            <a:srgbClr val="F0F3F6"/>
          </a:solidFill>
          <a:ln w="12700">
            <a:solidFill>
              <a:srgbClr val="333333"/>
            </a:solidFill>
            <a:prstDash val="solid"/>
          </a:ln>
        </p:spPr>
      </p:sp>
      <p:sp>
        <p:nvSpPr>
          <p:cNvPr id="11" name="Text 9"/>
          <p:cNvSpPr/>
          <p:nvPr/>
        </p:nvSpPr>
        <p:spPr>
          <a:xfrm>
            <a:off x="5312664" y="1691640"/>
            <a:ext cx="1670304"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Coordinador</a:t>
            </a:r>
            <a:endParaRPr lang="en-US" sz="900" dirty="0"/>
          </a:p>
        </p:txBody>
      </p:sp>
      <p:sp>
        <p:nvSpPr>
          <p:cNvPr id="12" name="Text 10"/>
          <p:cNvSpPr/>
          <p:nvPr/>
        </p:nvSpPr>
        <p:spPr>
          <a:xfrm>
            <a:off x="5312664" y="1901952"/>
            <a:ext cx="1670304" cy="274320"/>
          </a:xfrm>
          <a:prstGeom prst="rect">
            <a:avLst/>
          </a:prstGeom>
          <a:noFill/>
          <a:ln/>
        </p:spPr>
        <p:txBody>
          <a:bodyPr wrap="square" lIns="0" tIns="0" rIns="0" bIns="0" rtlCol="0" anchor="ctr"/>
          <a:lstStyle/>
          <a:p>
            <a:pPr indent="0" marL="0">
              <a:buNone/>
            </a:pPr>
            <a:endParaRPr lang="en-US" sz="1050" dirty="0"/>
          </a:p>
        </p:txBody>
      </p:sp>
      <p:sp>
        <p:nvSpPr>
          <p:cNvPr id="13" name="Text 11"/>
          <p:cNvSpPr/>
          <p:nvPr/>
        </p:nvSpPr>
        <p:spPr>
          <a:xfrm>
            <a:off x="5312664" y="2176272"/>
            <a:ext cx="1670304" cy="50292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abre la traza al armar el bloque</a:t>
            </a:r>
            <a:endParaRPr lang="en-US" sz="900" dirty="0"/>
          </a:p>
        </p:txBody>
      </p:sp>
      <p:sp>
        <p:nvSpPr>
          <p:cNvPr id="14" name="Text 12"/>
          <p:cNvSpPr/>
          <p:nvPr/>
        </p:nvSpPr>
        <p:spPr>
          <a:xfrm>
            <a:off x="7129272" y="1572768"/>
            <a:ext cx="256032" cy="123444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7385304" y="1572768"/>
            <a:ext cx="1962912" cy="1234440"/>
          </a:xfrm>
          <a:prstGeom prst="roundRect">
            <a:avLst>
              <a:gd name="adj" fmla="val 4444"/>
            </a:avLst>
          </a:prstGeom>
          <a:solidFill>
            <a:srgbClr val="F0F3F6"/>
          </a:solidFill>
          <a:ln w="12700">
            <a:solidFill>
              <a:srgbClr val="333333"/>
            </a:solidFill>
            <a:prstDash val="solid"/>
          </a:ln>
        </p:spPr>
      </p:sp>
      <p:sp>
        <p:nvSpPr>
          <p:cNvPr id="16" name="Text 14"/>
          <p:cNvSpPr/>
          <p:nvPr/>
        </p:nvSpPr>
        <p:spPr>
          <a:xfrm>
            <a:off x="7531608" y="1691640"/>
            <a:ext cx="1670304"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Repartidor</a:t>
            </a:r>
            <a:endParaRPr lang="en-US" sz="900" dirty="0"/>
          </a:p>
        </p:txBody>
      </p:sp>
      <p:sp>
        <p:nvSpPr>
          <p:cNvPr id="17" name="Text 15"/>
          <p:cNvSpPr/>
          <p:nvPr/>
        </p:nvSpPr>
        <p:spPr>
          <a:xfrm>
            <a:off x="7531608" y="1901952"/>
            <a:ext cx="1670304" cy="274320"/>
          </a:xfrm>
          <a:prstGeom prst="rect">
            <a:avLst/>
          </a:prstGeom>
          <a:noFill/>
          <a:ln/>
        </p:spPr>
        <p:txBody>
          <a:bodyPr wrap="square" lIns="0" tIns="0" rIns="0" bIns="0" rtlCol="0" anchor="ctr"/>
          <a:lstStyle/>
          <a:p>
            <a:pPr indent="0" marL="0">
              <a:buNone/>
            </a:pPr>
            <a:endParaRPr lang="en-US" sz="1050" dirty="0"/>
          </a:p>
        </p:txBody>
      </p:sp>
      <p:sp>
        <p:nvSpPr>
          <p:cNvPr id="18" name="Text 16"/>
          <p:cNvSpPr/>
          <p:nvPr/>
        </p:nvSpPr>
        <p:spPr>
          <a:xfrm>
            <a:off x="7531608" y="2176272"/>
            <a:ext cx="1670304" cy="50292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la continúa y la embarca en cada fragmento</a:t>
            </a:r>
            <a:endParaRPr lang="en-US" sz="900" dirty="0"/>
          </a:p>
        </p:txBody>
      </p:sp>
      <p:sp>
        <p:nvSpPr>
          <p:cNvPr id="19" name="Text 17"/>
          <p:cNvSpPr/>
          <p:nvPr/>
        </p:nvSpPr>
        <p:spPr>
          <a:xfrm>
            <a:off x="9348216" y="1572768"/>
            <a:ext cx="256032" cy="1234440"/>
          </a:xfrm>
          <a:prstGeom prst="rect">
            <a:avLst/>
          </a:prstGeom>
          <a:noFill/>
          <a:ln/>
        </p:spPr>
        <p:txBody>
          <a:bodyPr wrap="square" lIns="0" tIns="0" rIns="0" bIns="0" rtlCol="0" anchor="ctr"/>
          <a:lstStyle/>
          <a:p>
            <a:pPr algn="ctr" indent="0" marL="0">
              <a:buNone/>
            </a:pPr>
            <a:r>
              <a:rPr lang="en-US" sz="1300" dirty="0">
                <a:solidFill>
                  <a:srgbClr val="DDE3E9"/>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9604248" y="1572768"/>
            <a:ext cx="1962912" cy="1234440"/>
          </a:xfrm>
          <a:prstGeom prst="roundRect">
            <a:avLst>
              <a:gd name="adj" fmla="val 4444"/>
            </a:avLst>
          </a:prstGeom>
          <a:solidFill>
            <a:srgbClr val="DCEFE6"/>
          </a:solidFill>
          <a:ln w="12700">
            <a:solidFill>
              <a:srgbClr val="333333"/>
            </a:solidFill>
            <a:prstDash val="solid"/>
          </a:ln>
        </p:spPr>
      </p:sp>
      <p:sp>
        <p:nvSpPr>
          <p:cNvPr id="21" name="Text 19"/>
          <p:cNvSpPr/>
          <p:nvPr/>
        </p:nvSpPr>
        <p:spPr>
          <a:xfrm>
            <a:off x="9750552" y="1691640"/>
            <a:ext cx="1670304" cy="219456"/>
          </a:xfrm>
          <a:prstGeom prst="rect">
            <a:avLst/>
          </a:prstGeom>
          <a:noFill/>
          <a:ln/>
        </p:spPr>
        <p:txBody>
          <a:bodyPr wrap="square" lIns="0" tIns="0" rIns="0" bIns="0" rtlCol="0" anchor="ctr"/>
          <a:lstStyle/>
          <a:p>
            <a:pPr indent="0" marL="0">
              <a:buNone/>
            </a:pPr>
            <a:r>
              <a:rPr lang="en-US" sz="900" b="1" dirty="0">
                <a:solidFill>
                  <a:srgbClr val="0B6E4F"/>
                </a:solidFill>
                <a:latin typeface="Consolas" pitchFamily="34" charset="0"/>
                <a:ea typeface="Consolas" pitchFamily="34" charset="-122"/>
                <a:cs typeface="Consolas" pitchFamily="34" charset="-120"/>
              </a:rPr>
              <a:t>Minero</a:t>
            </a:r>
            <a:endParaRPr lang="en-US" sz="900" dirty="0"/>
          </a:p>
        </p:txBody>
      </p:sp>
      <p:sp>
        <p:nvSpPr>
          <p:cNvPr id="22" name="Text 20"/>
          <p:cNvSpPr/>
          <p:nvPr/>
        </p:nvSpPr>
        <p:spPr>
          <a:xfrm>
            <a:off x="9750552" y="1901952"/>
            <a:ext cx="1670304" cy="274320"/>
          </a:xfrm>
          <a:prstGeom prst="rect">
            <a:avLst/>
          </a:prstGeom>
          <a:noFill/>
          <a:ln/>
        </p:spPr>
        <p:txBody>
          <a:bodyPr wrap="square" lIns="0" tIns="0" rIns="0" bIns="0" rtlCol="0" anchor="ctr"/>
          <a:lstStyle/>
          <a:p>
            <a:pPr indent="0" marL="0">
              <a:buNone/>
            </a:pPr>
            <a:endParaRPr lang="en-US" sz="1050" dirty="0"/>
          </a:p>
        </p:txBody>
      </p:sp>
      <p:sp>
        <p:nvSpPr>
          <p:cNvPr id="23" name="Text 21"/>
          <p:cNvSpPr/>
          <p:nvPr/>
        </p:nvSpPr>
        <p:spPr>
          <a:xfrm>
            <a:off x="9750552" y="2176272"/>
            <a:ext cx="1670304" cy="502920"/>
          </a:xfrm>
          <a:prstGeom prst="rect">
            <a:avLst/>
          </a:prstGeom>
          <a:noFill/>
          <a:ln/>
        </p:spPr>
        <p:txBody>
          <a:bodyPr wrap="square" lIns="0" tIns="0" rIns="0" bIns="0" rtlCol="0" anchor="ctr"/>
          <a:lstStyle/>
          <a:p>
            <a:pPr indent="0" marL="0">
              <a:lnSpc>
                <a:spcPct val="110000"/>
              </a:lnSpc>
              <a:buNone/>
            </a:pPr>
            <a:r>
              <a:rPr lang="en-US" sz="900" dirty="0">
                <a:solidFill>
                  <a:srgbClr val="5B6B7B"/>
                </a:solidFill>
                <a:latin typeface="Calibri" pitchFamily="34" charset="0"/>
                <a:ea typeface="Calibri" pitchFamily="34" charset="-122"/>
                <a:cs typeface="Calibri" pitchFamily="34" charset="-120"/>
              </a:rPr>
              <a:t>la extrae y cierra el recorrido</a:t>
            </a:r>
            <a:endParaRPr lang="en-US" sz="900" dirty="0"/>
          </a:p>
        </p:txBody>
      </p:sp>
      <p:sp>
        <p:nvSpPr>
          <p:cNvPr id="24" name="Shape 22"/>
          <p:cNvSpPr/>
          <p:nvPr/>
        </p:nvSpPr>
        <p:spPr>
          <a:xfrm>
            <a:off x="5166360" y="2971800"/>
            <a:ext cx="6400800" cy="1188720"/>
          </a:xfrm>
          <a:prstGeom prst="roundRect">
            <a:avLst>
              <a:gd name="adj" fmla="val 4615"/>
            </a:avLst>
          </a:prstGeom>
          <a:solidFill>
            <a:srgbClr val="DCEFE6"/>
          </a:solidFill>
          <a:ln w="12700">
            <a:solidFill>
              <a:srgbClr val="333333"/>
            </a:solidFill>
            <a:prstDash val="solid"/>
          </a:ln>
        </p:spPr>
      </p:sp>
      <p:sp>
        <p:nvSpPr>
          <p:cNvPr id="25" name="Text 23"/>
          <p:cNvSpPr/>
          <p:nvPr/>
        </p:nvSpPr>
        <p:spPr>
          <a:xfrm>
            <a:off x="5394960" y="3099816"/>
            <a:ext cx="5943600" cy="93268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El resultado: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en Grafana se ve una sola operación con sus tres etapas y cuánto tardó cada una, aunque hayan ocurrido en tres contenedores distintos separados por una cola de mensajes.</a:t>
            </a:r>
            <a:endParaRPr lang="en-US" sz="1050" dirty="0"/>
          </a:p>
        </p:txBody>
      </p:sp>
      <p:sp>
        <p:nvSpPr>
          <p:cNvPr id="26" name="Shape 24"/>
          <p:cNvSpPr/>
          <p:nvPr/>
        </p:nvSpPr>
        <p:spPr>
          <a:xfrm>
            <a:off x="594360" y="4343400"/>
            <a:ext cx="10972800" cy="1051560"/>
          </a:xfrm>
          <a:prstGeom prst="roundRect">
            <a:avLst>
              <a:gd name="adj" fmla="val 5217"/>
            </a:avLst>
          </a:prstGeom>
          <a:solidFill>
            <a:srgbClr val="F0F3F6"/>
          </a:solidFill>
          <a:ln w="12700">
            <a:solidFill>
              <a:srgbClr val="333333"/>
            </a:solidFill>
            <a:prstDash val="solid"/>
          </a:ln>
        </p:spPr>
      </p:sp>
      <p:sp>
        <p:nvSpPr>
          <p:cNvPr id="27" name="Text 25"/>
          <p:cNvSpPr/>
          <p:nvPr/>
        </p:nvSpPr>
        <p:spPr>
          <a:xfrm>
            <a:off x="822960" y="4471416"/>
            <a:ext cx="10515600" cy="795528"/>
          </a:xfrm>
          <a:prstGeom prst="rect">
            <a:avLst/>
          </a:prstGeom>
          <a:noFill/>
          <a:ln/>
        </p:spPr>
        <p:txBody>
          <a:bodyPr wrap="square" lIns="0" tIns="0" rIns="0" bIns="0" rtlCol="0" anchor="t"/>
          <a:lstStyle/>
          <a:p>
            <a:pPr indent="0" marL="0">
              <a:lnSpc>
                <a:spcPct val="118000"/>
              </a:lnSpc>
              <a:buNone/>
            </a:pPr>
            <a:r>
              <a:rPr lang="en-US" sz="1050" b="1" dirty="0">
                <a:solidFill>
                  <a:srgbClr val="10202F"/>
                </a:solidFill>
                <a:latin typeface="Calibri" pitchFamily="34" charset="0"/>
                <a:ea typeface="Calibri" pitchFamily="34" charset="-122"/>
                <a:cs typeface="Calibri" pitchFamily="34" charset="-120"/>
              </a:rPr>
              <a:t>Además se mide la latencia de la cola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con una marca de tiempo que viaja en el mensaje. Tiene una dependencia sutil: resta relojes de procesos distintos, así que solo es confiable si los nodos están sincronizados — por eso se monitorea también la desviación del reloj de cada máquina.</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OBSERVABILIDAD</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25 / 30</a:t>
            </a:r>
            <a:endParaRPr lang="en-US" sz="900" dirty="0"/>
          </a:p>
        </p:txBody>
      </p:sp>
      <p:sp>
        <p:nvSpPr>
          <p:cNvPr id="5" name="Shape 3"/>
          <p:cNvSpPr/>
          <p:nvPr/>
        </p:nvSpPr>
        <p:spPr>
          <a:xfrm>
            <a:off x="0" y="6803136"/>
            <a:ext cx="10134600"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OBSERVABILIDAD · ALERTAS Y TABLEROS</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Qué se vigila y qué se muestra</a:t>
            </a:r>
            <a:endParaRPr lang="en-US" sz="2700" dirty="0"/>
          </a:p>
        </p:txBody>
      </p:sp>
      <p:sp>
        <p:nvSpPr>
          <p:cNvPr id="8" name="Text 6"/>
          <p:cNvSpPr/>
          <p:nvPr/>
        </p:nvSpPr>
        <p:spPr>
          <a:xfrm>
            <a:off x="594360" y="1554480"/>
            <a:ext cx="530352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Nueve reglas de alerta</a:t>
            </a:r>
            <a:endParaRPr lang="en-US" sz="1250" dirty="0"/>
          </a:p>
        </p:txBody>
      </p:sp>
      <p:sp>
        <p:nvSpPr>
          <p:cNvPr id="9" name="Shape 7"/>
          <p:cNvSpPr/>
          <p:nvPr/>
        </p:nvSpPr>
        <p:spPr>
          <a:xfrm>
            <a:off x="594360" y="1901952"/>
            <a:ext cx="1678838" cy="274320"/>
          </a:xfrm>
          <a:prstGeom prst="roundRect">
            <a:avLst>
              <a:gd name="adj" fmla="val 16667"/>
            </a:avLst>
          </a:prstGeom>
          <a:solidFill>
            <a:srgbClr val="F7E9D8"/>
          </a:solidFill>
          <a:ln w="12700">
            <a:solidFill>
              <a:srgbClr val="333333"/>
            </a:solidFill>
            <a:prstDash val="solid"/>
          </a:ln>
        </p:spPr>
      </p:sp>
      <p:sp>
        <p:nvSpPr>
          <p:cNvPr id="10" name="Text 8"/>
          <p:cNvSpPr/>
          <p:nvPr/>
        </p:nvSpPr>
        <p:spPr>
          <a:xfrm>
            <a:off x="594360" y="1901952"/>
            <a:ext cx="1678838" cy="274320"/>
          </a:xfrm>
          <a:prstGeom prst="rect">
            <a:avLst/>
          </a:prstGeom>
          <a:noFill/>
          <a:ln/>
        </p:spPr>
        <p:txBody>
          <a:bodyPr wrap="square" lIns="0" tIns="0" rIns="0" bIns="0" rtlCol="0" anchor="ctr"/>
          <a:lstStyle/>
          <a:p>
            <a:pPr algn="ctr" indent="0" marL="0">
              <a:buNone/>
            </a:pPr>
            <a:r>
              <a:rPr lang="en-US" sz="900" dirty="0">
                <a:solidFill>
                  <a:srgbClr val="A85B12"/>
                </a:solidFill>
                <a:latin typeface="Consolas" pitchFamily="34" charset="0"/>
                <a:ea typeface="Consolas" pitchFamily="34" charset="-122"/>
                <a:cs typeface="Consolas" pitchFamily="34" charset="-120"/>
              </a:rPr>
              <a:t>Servidor GPU caído</a:t>
            </a:r>
            <a:endParaRPr lang="en-US" sz="900" dirty="0"/>
          </a:p>
        </p:txBody>
      </p:sp>
      <p:sp>
        <p:nvSpPr>
          <p:cNvPr id="11" name="Shape 9"/>
          <p:cNvSpPr/>
          <p:nvPr/>
        </p:nvSpPr>
        <p:spPr>
          <a:xfrm>
            <a:off x="2401214" y="1901952"/>
            <a:ext cx="2053742" cy="274320"/>
          </a:xfrm>
          <a:prstGeom prst="roundRect">
            <a:avLst>
              <a:gd name="adj" fmla="val 16667"/>
            </a:avLst>
          </a:prstGeom>
          <a:solidFill>
            <a:srgbClr val="F7E9D8"/>
          </a:solidFill>
          <a:ln w="12700">
            <a:solidFill>
              <a:srgbClr val="333333"/>
            </a:solidFill>
            <a:prstDash val="solid"/>
          </a:ln>
        </p:spPr>
      </p:sp>
      <p:sp>
        <p:nvSpPr>
          <p:cNvPr id="12" name="Text 10"/>
          <p:cNvSpPr/>
          <p:nvPr/>
        </p:nvSpPr>
        <p:spPr>
          <a:xfrm>
            <a:off x="2401214" y="1901952"/>
            <a:ext cx="2053742" cy="274320"/>
          </a:xfrm>
          <a:prstGeom prst="rect">
            <a:avLst/>
          </a:prstGeom>
          <a:noFill/>
          <a:ln/>
        </p:spPr>
        <p:txBody>
          <a:bodyPr wrap="square" lIns="0" tIns="0" rIns="0" bIns="0" rtlCol="0" anchor="ctr"/>
          <a:lstStyle/>
          <a:p>
            <a:pPr algn="ctr" indent="0" marL="0">
              <a:buNone/>
            </a:pPr>
            <a:r>
              <a:rPr lang="en-US" sz="900" dirty="0">
                <a:solidFill>
                  <a:srgbClr val="A85B12"/>
                </a:solidFill>
                <a:latin typeface="Consolas" pitchFamily="34" charset="0"/>
                <a:ea typeface="Consolas" pitchFamily="34" charset="-122"/>
                <a:cs typeface="Consolas" pitchFamily="34" charset="-120"/>
              </a:rPr>
              <a:t>Respaldo CPU prolongado</a:t>
            </a:r>
            <a:endParaRPr lang="en-US" sz="900" dirty="0"/>
          </a:p>
        </p:txBody>
      </p:sp>
      <p:sp>
        <p:nvSpPr>
          <p:cNvPr id="13" name="Shape 11"/>
          <p:cNvSpPr/>
          <p:nvPr/>
        </p:nvSpPr>
        <p:spPr>
          <a:xfrm>
            <a:off x="594360" y="2249424"/>
            <a:ext cx="1828800" cy="274320"/>
          </a:xfrm>
          <a:prstGeom prst="roundRect">
            <a:avLst>
              <a:gd name="adj" fmla="val 16667"/>
            </a:avLst>
          </a:prstGeom>
          <a:solidFill>
            <a:srgbClr val="F7E9D8"/>
          </a:solidFill>
          <a:ln w="12700">
            <a:solidFill>
              <a:srgbClr val="333333"/>
            </a:solidFill>
            <a:prstDash val="solid"/>
          </a:ln>
        </p:spPr>
      </p:sp>
      <p:sp>
        <p:nvSpPr>
          <p:cNvPr id="14" name="Text 12"/>
          <p:cNvSpPr/>
          <p:nvPr/>
        </p:nvSpPr>
        <p:spPr>
          <a:xfrm>
            <a:off x="594360" y="2249424"/>
            <a:ext cx="1828800" cy="274320"/>
          </a:xfrm>
          <a:prstGeom prst="rect">
            <a:avLst/>
          </a:prstGeom>
          <a:noFill/>
          <a:ln/>
        </p:spPr>
        <p:txBody>
          <a:bodyPr wrap="square" lIns="0" tIns="0" rIns="0" bIns="0" rtlCol="0" anchor="ctr"/>
          <a:lstStyle/>
          <a:p>
            <a:pPr algn="ctr" indent="0" marL="0">
              <a:buNone/>
            </a:pPr>
            <a:r>
              <a:rPr lang="en-US" sz="900" dirty="0">
                <a:solidFill>
                  <a:srgbClr val="A85B12"/>
                </a:solidFill>
                <a:latin typeface="Consolas" pitchFamily="34" charset="0"/>
                <a:ea typeface="Consolas" pitchFamily="34" charset="-122"/>
                <a:cs typeface="Consolas" pitchFamily="34" charset="-120"/>
              </a:rPr>
              <a:t>Blockchain estancada</a:t>
            </a:r>
            <a:endParaRPr lang="en-US" sz="900" dirty="0"/>
          </a:p>
        </p:txBody>
      </p:sp>
      <p:sp>
        <p:nvSpPr>
          <p:cNvPr id="15" name="Shape 13"/>
          <p:cNvSpPr/>
          <p:nvPr/>
        </p:nvSpPr>
        <p:spPr>
          <a:xfrm>
            <a:off x="2551176" y="2249424"/>
            <a:ext cx="2053742" cy="274320"/>
          </a:xfrm>
          <a:prstGeom prst="roundRect">
            <a:avLst>
              <a:gd name="adj" fmla="val 16667"/>
            </a:avLst>
          </a:prstGeom>
          <a:solidFill>
            <a:srgbClr val="F7E9D8"/>
          </a:solidFill>
          <a:ln w="12700">
            <a:solidFill>
              <a:srgbClr val="333333"/>
            </a:solidFill>
            <a:prstDash val="solid"/>
          </a:ln>
        </p:spPr>
      </p:sp>
      <p:sp>
        <p:nvSpPr>
          <p:cNvPr id="16" name="Text 14"/>
          <p:cNvSpPr/>
          <p:nvPr/>
        </p:nvSpPr>
        <p:spPr>
          <a:xfrm>
            <a:off x="2551176" y="2249424"/>
            <a:ext cx="2053742" cy="274320"/>
          </a:xfrm>
          <a:prstGeom prst="rect">
            <a:avLst/>
          </a:prstGeom>
          <a:noFill/>
          <a:ln/>
        </p:spPr>
        <p:txBody>
          <a:bodyPr wrap="square" lIns="0" tIns="0" rIns="0" bIns="0" rtlCol="0" anchor="ctr"/>
          <a:lstStyle/>
          <a:p>
            <a:pPr algn="ctr" indent="0" marL="0">
              <a:buNone/>
            </a:pPr>
            <a:r>
              <a:rPr lang="en-US" sz="900" dirty="0">
                <a:solidFill>
                  <a:srgbClr val="A85B12"/>
                </a:solidFill>
                <a:latin typeface="Consolas" pitchFamily="34" charset="0"/>
                <a:ea typeface="Consolas" pitchFamily="34" charset="-122"/>
                <a:cs typeface="Consolas" pitchFamily="34" charset="-120"/>
              </a:rPr>
              <a:t>Muchos tiempos agotados</a:t>
            </a:r>
            <a:endParaRPr lang="en-US" sz="900" dirty="0"/>
          </a:p>
        </p:txBody>
      </p:sp>
      <p:sp>
        <p:nvSpPr>
          <p:cNvPr id="17" name="Shape 15"/>
          <p:cNvSpPr/>
          <p:nvPr/>
        </p:nvSpPr>
        <p:spPr>
          <a:xfrm>
            <a:off x="4732934" y="2249424"/>
            <a:ext cx="1153973" cy="274320"/>
          </a:xfrm>
          <a:prstGeom prst="roundRect">
            <a:avLst>
              <a:gd name="adj" fmla="val 16667"/>
            </a:avLst>
          </a:prstGeom>
          <a:solidFill>
            <a:srgbClr val="F7E9D8"/>
          </a:solidFill>
          <a:ln w="12700">
            <a:solidFill>
              <a:srgbClr val="333333"/>
            </a:solidFill>
            <a:prstDash val="solid"/>
          </a:ln>
        </p:spPr>
      </p:sp>
      <p:sp>
        <p:nvSpPr>
          <p:cNvPr id="18" name="Text 16"/>
          <p:cNvSpPr/>
          <p:nvPr/>
        </p:nvSpPr>
        <p:spPr>
          <a:xfrm>
            <a:off x="4732934" y="2249424"/>
            <a:ext cx="1153973" cy="274320"/>
          </a:xfrm>
          <a:prstGeom prst="rect">
            <a:avLst/>
          </a:prstGeom>
          <a:noFill/>
          <a:ln/>
        </p:spPr>
        <p:txBody>
          <a:bodyPr wrap="square" lIns="0" tIns="0" rIns="0" bIns="0" rtlCol="0" anchor="ctr"/>
          <a:lstStyle/>
          <a:p>
            <a:pPr algn="ctr" indent="0" marL="0">
              <a:buNone/>
            </a:pPr>
            <a:r>
              <a:rPr lang="en-US" sz="900" dirty="0">
                <a:solidFill>
                  <a:srgbClr val="A85B12"/>
                </a:solidFill>
                <a:latin typeface="Consolas" pitchFamily="34" charset="0"/>
                <a:ea typeface="Consolas" pitchFamily="34" charset="-122"/>
                <a:cs typeface="Consolas" pitchFamily="34" charset="-120"/>
              </a:rPr>
              <a:t>Redis caído</a:t>
            </a:r>
            <a:endParaRPr lang="en-US" sz="900" dirty="0"/>
          </a:p>
        </p:txBody>
      </p:sp>
      <p:sp>
        <p:nvSpPr>
          <p:cNvPr id="19" name="Shape 17"/>
          <p:cNvSpPr/>
          <p:nvPr/>
        </p:nvSpPr>
        <p:spPr>
          <a:xfrm>
            <a:off x="594360" y="2596896"/>
            <a:ext cx="1378915" cy="274320"/>
          </a:xfrm>
          <a:prstGeom prst="roundRect">
            <a:avLst>
              <a:gd name="adj" fmla="val 16667"/>
            </a:avLst>
          </a:prstGeom>
          <a:solidFill>
            <a:srgbClr val="F7E9D8"/>
          </a:solidFill>
          <a:ln w="12700">
            <a:solidFill>
              <a:srgbClr val="333333"/>
            </a:solidFill>
            <a:prstDash val="solid"/>
          </a:ln>
        </p:spPr>
      </p:sp>
      <p:sp>
        <p:nvSpPr>
          <p:cNvPr id="20" name="Text 18"/>
          <p:cNvSpPr/>
          <p:nvPr/>
        </p:nvSpPr>
        <p:spPr>
          <a:xfrm>
            <a:off x="594360" y="2596896"/>
            <a:ext cx="1378915" cy="274320"/>
          </a:xfrm>
          <a:prstGeom prst="rect">
            <a:avLst/>
          </a:prstGeom>
          <a:noFill/>
          <a:ln/>
        </p:spPr>
        <p:txBody>
          <a:bodyPr wrap="square" lIns="0" tIns="0" rIns="0" bIns="0" rtlCol="0" anchor="ctr"/>
          <a:lstStyle/>
          <a:p>
            <a:pPr algn="ctr" indent="0" marL="0">
              <a:buNone/>
            </a:pPr>
            <a:r>
              <a:rPr lang="en-US" sz="900" dirty="0">
                <a:solidFill>
                  <a:srgbClr val="A85B12"/>
                </a:solidFill>
                <a:latin typeface="Consolas" pitchFamily="34" charset="0"/>
                <a:ea typeface="Consolas" pitchFamily="34" charset="-122"/>
                <a:cs typeface="Consolas" pitchFamily="34" charset="-120"/>
              </a:rPr>
              <a:t>Postgres caído</a:t>
            </a:r>
            <a:endParaRPr lang="en-US" sz="900" dirty="0"/>
          </a:p>
        </p:txBody>
      </p:sp>
      <p:sp>
        <p:nvSpPr>
          <p:cNvPr id="21" name="Shape 19"/>
          <p:cNvSpPr/>
          <p:nvPr/>
        </p:nvSpPr>
        <p:spPr>
          <a:xfrm>
            <a:off x="2101291" y="2596896"/>
            <a:ext cx="1378915" cy="274320"/>
          </a:xfrm>
          <a:prstGeom prst="roundRect">
            <a:avLst>
              <a:gd name="adj" fmla="val 16667"/>
            </a:avLst>
          </a:prstGeom>
          <a:solidFill>
            <a:srgbClr val="F7E9D8"/>
          </a:solidFill>
          <a:ln w="12700">
            <a:solidFill>
              <a:srgbClr val="333333"/>
            </a:solidFill>
            <a:prstDash val="solid"/>
          </a:ln>
        </p:spPr>
      </p:sp>
      <p:sp>
        <p:nvSpPr>
          <p:cNvPr id="22" name="Text 20"/>
          <p:cNvSpPr/>
          <p:nvPr/>
        </p:nvSpPr>
        <p:spPr>
          <a:xfrm>
            <a:off x="2101291" y="2596896"/>
            <a:ext cx="1378915" cy="274320"/>
          </a:xfrm>
          <a:prstGeom prst="rect">
            <a:avLst/>
          </a:prstGeom>
          <a:noFill/>
          <a:ln/>
        </p:spPr>
        <p:txBody>
          <a:bodyPr wrap="square" lIns="0" tIns="0" rIns="0" bIns="0" rtlCol="0" anchor="ctr"/>
          <a:lstStyle/>
          <a:p>
            <a:pPr algn="ctr" indent="0" marL="0">
              <a:buNone/>
            </a:pPr>
            <a:r>
              <a:rPr lang="en-US" sz="900" dirty="0">
                <a:solidFill>
                  <a:srgbClr val="A85B12"/>
                </a:solidFill>
                <a:latin typeface="Consolas" pitchFamily="34" charset="0"/>
                <a:ea typeface="Consolas" pitchFamily="34" charset="-122"/>
                <a:cs typeface="Consolas" pitchFamily="34" charset="-120"/>
              </a:rPr>
              <a:t>Cola creciente</a:t>
            </a:r>
            <a:endParaRPr lang="en-US" sz="900" dirty="0"/>
          </a:p>
        </p:txBody>
      </p:sp>
      <p:sp>
        <p:nvSpPr>
          <p:cNvPr id="23" name="Shape 21"/>
          <p:cNvSpPr/>
          <p:nvPr/>
        </p:nvSpPr>
        <p:spPr>
          <a:xfrm>
            <a:off x="3608222" y="2596896"/>
            <a:ext cx="1453896" cy="274320"/>
          </a:xfrm>
          <a:prstGeom prst="roundRect">
            <a:avLst>
              <a:gd name="adj" fmla="val 16667"/>
            </a:avLst>
          </a:prstGeom>
          <a:solidFill>
            <a:srgbClr val="F7E9D8"/>
          </a:solidFill>
          <a:ln w="12700">
            <a:solidFill>
              <a:srgbClr val="333333"/>
            </a:solidFill>
            <a:prstDash val="solid"/>
          </a:ln>
        </p:spPr>
      </p:sp>
      <p:sp>
        <p:nvSpPr>
          <p:cNvPr id="24" name="Text 22"/>
          <p:cNvSpPr/>
          <p:nvPr/>
        </p:nvSpPr>
        <p:spPr>
          <a:xfrm>
            <a:off x="3608222" y="2596896"/>
            <a:ext cx="1453896" cy="274320"/>
          </a:xfrm>
          <a:prstGeom prst="rect">
            <a:avLst/>
          </a:prstGeom>
          <a:noFill/>
          <a:ln/>
        </p:spPr>
        <p:txBody>
          <a:bodyPr wrap="square" lIns="0" tIns="0" rIns="0" bIns="0" rtlCol="0" anchor="ctr"/>
          <a:lstStyle/>
          <a:p>
            <a:pPr algn="ctr" indent="0" marL="0">
              <a:buNone/>
            </a:pPr>
            <a:r>
              <a:rPr lang="en-US" sz="900" dirty="0">
                <a:solidFill>
                  <a:srgbClr val="A85B12"/>
                </a:solidFill>
                <a:latin typeface="Consolas" pitchFamily="34" charset="0"/>
                <a:ea typeface="Consolas" pitchFamily="34" charset="-122"/>
                <a:cs typeface="Consolas" pitchFamily="34" charset="-120"/>
              </a:rPr>
              <a:t>Pod reiniciando</a:t>
            </a:r>
            <a:endParaRPr lang="en-US" sz="900" dirty="0"/>
          </a:p>
        </p:txBody>
      </p:sp>
      <p:sp>
        <p:nvSpPr>
          <p:cNvPr id="25" name="Shape 23"/>
          <p:cNvSpPr/>
          <p:nvPr/>
        </p:nvSpPr>
        <p:spPr>
          <a:xfrm>
            <a:off x="594360" y="2944368"/>
            <a:ext cx="1978762" cy="274320"/>
          </a:xfrm>
          <a:prstGeom prst="roundRect">
            <a:avLst>
              <a:gd name="adj" fmla="val 16667"/>
            </a:avLst>
          </a:prstGeom>
          <a:solidFill>
            <a:srgbClr val="F7E9D8"/>
          </a:solidFill>
          <a:ln w="12700">
            <a:solidFill>
              <a:srgbClr val="333333"/>
            </a:solidFill>
            <a:prstDash val="solid"/>
          </a:ln>
        </p:spPr>
      </p:sp>
      <p:sp>
        <p:nvSpPr>
          <p:cNvPr id="26" name="Text 24"/>
          <p:cNvSpPr/>
          <p:nvPr/>
        </p:nvSpPr>
        <p:spPr>
          <a:xfrm>
            <a:off x="594360" y="2944368"/>
            <a:ext cx="1978762" cy="274320"/>
          </a:xfrm>
          <a:prstGeom prst="rect">
            <a:avLst/>
          </a:prstGeom>
          <a:noFill/>
          <a:ln/>
        </p:spPr>
        <p:txBody>
          <a:bodyPr wrap="square" lIns="0" tIns="0" rIns="0" bIns="0" rtlCol="0" anchor="ctr"/>
          <a:lstStyle/>
          <a:p>
            <a:pPr algn="ctr" indent="0" marL="0">
              <a:buNone/>
            </a:pPr>
            <a:r>
              <a:rPr lang="en-US" sz="900" dirty="0">
                <a:solidFill>
                  <a:srgbClr val="A85B12"/>
                </a:solidFill>
                <a:latin typeface="Consolas" pitchFamily="34" charset="0"/>
                <a:ea typeface="Consolas" pitchFamily="34" charset="-122"/>
                <a:cs typeface="Consolas" pitchFamily="34" charset="-120"/>
              </a:rPr>
              <a:t>Objetivo sin responder</a:t>
            </a:r>
            <a:endParaRPr lang="en-US" sz="900" dirty="0"/>
          </a:p>
        </p:txBody>
      </p:sp>
      <p:sp>
        <p:nvSpPr>
          <p:cNvPr id="27" name="Text 25"/>
          <p:cNvSpPr/>
          <p:nvPr/>
        </p:nvSpPr>
        <p:spPr>
          <a:xfrm>
            <a:off x="594360" y="3749040"/>
            <a:ext cx="5303520" cy="100584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Las reglas están escritas sobre las métricas propias, no solo sobre las genéricas del sistema: </a:t>
            </a:r>
            <a:pPr indent="0" marL="0">
              <a:lnSpc>
                <a:spcPct val="115000"/>
              </a:lnSpc>
              <a:buNone/>
            </a:pPr>
            <a:r>
              <a:rPr lang="en-US" sz="1050" b="1" dirty="0">
                <a:solidFill>
                  <a:srgbClr val="10202F"/>
                </a:solidFill>
                <a:latin typeface="Calibri" pitchFamily="34" charset="0"/>
                <a:ea typeface="Calibri" pitchFamily="34" charset="-122"/>
                <a:cs typeface="Calibri" pitchFamily="34" charset="-120"/>
              </a:rPr>
              <a:t>“la cadena no avanza” es una condición de negocio</a:t>
            </a:r>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 no de infraestructura.</a:t>
            </a:r>
            <a:endParaRPr lang="en-US" sz="1050" dirty="0"/>
          </a:p>
        </p:txBody>
      </p:sp>
      <p:sp>
        <p:nvSpPr>
          <p:cNvPr id="28" name="Text 26"/>
          <p:cNvSpPr/>
          <p:nvPr/>
        </p:nvSpPr>
        <p:spPr>
          <a:xfrm>
            <a:off x="6263640" y="1554480"/>
            <a:ext cx="530352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Tablero de blockchain y minería</a:t>
            </a:r>
            <a:endParaRPr lang="en-US" sz="1250" dirty="0"/>
          </a:p>
        </p:txBody>
      </p:sp>
      <p:sp>
        <p:nvSpPr>
          <p:cNvPr id="29" name="Text 27"/>
          <p:cNvSpPr/>
          <p:nvPr/>
        </p:nvSpPr>
        <p:spPr>
          <a:xfrm>
            <a:off x="6263640" y="1901952"/>
            <a:ext cx="5303520" cy="292608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00" dirty="0">
                <a:solidFill>
                  <a:srgbClr val="5B6B7B"/>
                </a:solidFill>
                <a:latin typeface="Calibri" pitchFamily="34" charset="0"/>
                <a:ea typeface="Calibri" pitchFamily="34" charset="-122"/>
                <a:cs typeface="Calibri" pitchFamily="34" charset="-120"/>
              </a:rPr>
              <a:t>Bloques en la cadena y transacciones pendientes</a:t>
            </a:r>
            <a:endParaRPr lang="en-US" sz="1000" dirty="0"/>
          </a:p>
          <a:p>
            <a:pPr marL="342900" indent="-342900">
              <a:lnSpc>
                <a:spcPct val="110000"/>
              </a:lnSpc>
              <a:spcAft>
                <a:spcPts val="500"/>
              </a:spcAft>
              <a:buSzPct val="100000"/>
              <a:buChar char="•"/>
            </a:pPr>
            <a:r>
              <a:rPr lang="en-US" sz="1000" dirty="0">
                <a:solidFill>
                  <a:srgbClr val="5B6B7B"/>
                </a:solidFill>
                <a:latin typeface="Calibri" pitchFamily="34" charset="0"/>
                <a:ea typeface="Calibri" pitchFamily="34" charset="-122"/>
                <a:cs typeface="Calibri" pitchFamily="34" charset="-120"/>
              </a:rPr>
              <a:t>Dificultad exigida y estado del minado</a:t>
            </a:r>
            <a:endParaRPr lang="en-US" sz="1000" dirty="0"/>
          </a:p>
          <a:p>
            <a:pPr marL="342900" indent="-342900">
              <a:lnSpc>
                <a:spcPct val="110000"/>
              </a:lnSpc>
              <a:spcAft>
                <a:spcPts val="500"/>
              </a:spcAft>
              <a:buSzPct val="100000"/>
              <a:buChar char="•"/>
            </a:pPr>
            <a:r>
              <a:rPr lang="en-US" sz="1000" dirty="0">
                <a:solidFill>
                  <a:srgbClr val="5B6B7B"/>
                </a:solidFill>
                <a:latin typeface="Calibri" pitchFamily="34" charset="0"/>
                <a:ea typeface="Calibri" pitchFamily="34" charset="-122"/>
                <a:cs typeface="Calibri" pitchFamily="34" charset="-120"/>
              </a:rPr>
              <a:t>GPU viva contra respaldo activo</a:t>
            </a:r>
            <a:endParaRPr lang="en-US" sz="1000" dirty="0"/>
          </a:p>
          <a:p>
            <a:pPr marL="342900" indent="-342900">
              <a:lnSpc>
                <a:spcPct val="110000"/>
              </a:lnSpc>
              <a:spcAft>
                <a:spcPts val="500"/>
              </a:spcAft>
              <a:buSzPct val="100000"/>
              <a:buChar char="•"/>
            </a:pPr>
            <a:r>
              <a:rPr lang="en-US" sz="1000" dirty="0">
                <a:solidFill>
                  <a:srgbClr val="5B6B7B"/>
                </a:solidFill>
                <a:latin typeface="Calibri" pitchFamily="34" charset="0"/>
                <a:ea typeface="Calibri" pitchFamily="34" charset="-122"/>
                <a:cs typeface="Calibri" pitchFamily="34" charset="-120"/>
              </a:rPr>
              <a:t>Bloques minados por minuto</a:t>
            </a:r>
            <a:endParaRPr lang="en-US" sz="1000" dirty="0"/>
          </a:p>
          <a:p>
            <a:pPr marL="342900" indent="-342900">
              <a:lnSpc>
                <a:spcPct val="110000"/>
              </a:lnSpc>
              <a:spcAft>
                <a:spcPts val="500"/>
              </a:spcAft>
              <a:buSzPct val="100000"/>
              <a:buChar char="•"/>
            </a:pPr>
            <a:r>
              <a:rPr lang="en-US" sz="1000" dirty="0">
                <a:solidFill>
                  <a:srgbClr val="5B6B7B"/>
                </a:solidFill>
                <a:latin typeface="Calibri" pitchFamily="34" charset="0"/>
                <a:ea typeface="Calibri" pitchFamily="34" charset="-122"/>
                <a:cs typeface="Calibri" pitchFamily="34" charset="-120"/>
              </a:rPr>
              <a:t>Tiempo de minado, mediana y percentil 95</a:t>
            </a:r>
            <a:endParaRPr lang="en-US" sz="1000" dirty="0"/>
          </a:p>
          <a:p>
            <a:pPr marL="342900" indent="-342900">
              <a:lnSpc>
                <a:spcPct val="110000"/>
              </a:lnSpc>
              <a:spcAft>
                <a:spcPts val="500"/>
              </a:spcAft>
              <a:buSzPct val="100000"/>
              <a:buChar char="•"/>
            </a:pPr>
            <a:r>
              <a:rPr lang="en-US" sz="1000" dirty="0">
                <a:solidFill>
                  <a:srgbClr val="5B6B7B"/>
                </a:solidFill>
                <a:latin typeface="Calibri" pitchFamily="34" charset="0"/>
                <a:ea typeface="Calibri" pitchFamily="34" charset="-122"/>
                <a:cs typeface="Calibri" pitchFamily="34" charset="-120"/>
              </a:rPr>
              <a:t>Hashes por segundo, comparando CPU contra GPU</a:t>
            </a:r>
            <a:endParaRPr lang="en-US" sz="1000" dirty="0"/>
          </a:p>
          <a:p>
            <a:pPr marL="342900" indent="-342900">
              <a:lnSpc>
                <a:spcPct val="110000"/>
              </a:lnSpc>
              <a:spcAft>
                <a:spcPts val="500"/>
              </a:spcAft>
              <a:buSzPct val="100000"/>
              <a:buChar char="•"/>
            </a:pPr>
            <a:r>
              <a:rPr lang="en-US" sz="1000" dirty="0">
                <a:solidFill>
                  <a:srgbClr val="5B6B7B"/>
                </a:solidFill>
                <a:latin typeface="Calibri" pitchFamily="34" charset="0"/>
                <a:ea typeface="Calibri" pitchFamily="34" charset="-122"/>
                <a:cs typeface="Calibri" pitchFamily="34" charset="-120"/>
              </a:rPr>
              <a:t>Tiempo de minado por longitud de prefijo</a:t>
            </a:r>
            <a:endParaRPr lang="en-US" sz="1000" dirty="0"/>
          </a:p>
          <a:p>
            <a:pPr marL="342900" indent="-342900">
              <a:lnSpc>
                <a:spcPct val="110000"/>
              </a:lnSpc>
              <a:spcAft>
                <a:spcPts val="500"/>
              </a:spcAft>
              <a:buSzPct val="100000"/>
              <a:buChar char="•"/>
            </a:pPr>
            <a:r>
              <a:rPr lang="en-US" sz="1000" dirty="0">
                <a:solidFill>
                  <a:srgbClr val="5B6B7B"/>
                </a:solidFill>
                <a:latin typeface="Calibri" pitchFamily="34" charset="0"/>
                <a:ea typeface="Calibri" pitchFamily="34" charset="-122"/>
                <a:cs typeface="Calibri" pitchFamily="34" charset="-120"/>
              </a:rPr>
              <a:t>Latencia de la cola y tiempo de validación</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RESULTADOS</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26 / 30</a:t>
            </a:r>
            <a:endParaRPr lang="en-US" sz="900" dirty="0"/>
          </a:p>
        </p:txBody>
      </p:sp>
      <p:sp>
        <p:nvSpPr>
          <p:cNvPr id="5" name="Shape 3"/>
          <p:cNvSpPr/>
          <p:nvPr/>
        </p:nvSpPr>
        <p:spPr>
          <a:xfrm>
            <a:off x="0" y="6803136"/>
            <a:ext cx="10539984"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RESULTADOS MEDIDOS</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Cuánto cuesta minar según la dificultad</a:t>
            </a:r>
            <a:endParaRPr lang="en-US" sz="2700" dirty="0"/>
          </a:p>
        </p:txBody>
      </p:sp>
      <p:sp>
        <p:nvSpPr>
          <p:cNvPr id="8" name="Text 6"/>
          <p:cNvSpPr/>
          <p:nvPr/>
        </p:nvSpPr>
        <p:spPr>
          <a:xfrm>
            <a:off x="594360" y="1536192"/>
            <a:ext cx="1097280" cy="384048"/>
          </a:xfrm>
          <a:prstGeom prst="rect">
            <a:avLst/>
          </a:prstGeom>
          <a:noFill/>
          <a:ln/>
        </p:spPr>
        <p:txBody>
          <a:bodyPr wrap="square" lIns="0" tIns="0" rIns="0" bIns="0" rtlCol="0" anchor="ctr"/>
          <a:lstStyle/>
          <a:p>
            <a:pPr algn="l" indent="0" marL="0">
              <a:buNone/>
            </a:pPr>
            <a:r>
              <a:rPr lang="en-US" sz="850" b="1" spc="80" kern="0" dirty="0">
                <a:solidFill>
                  <a:srgbClr val="5B6B7B"/>
                </a:solidFill>
                <a:latin typeface="Calibri" pitchFamily="34" charset="0"/>
                <a:ea typeface="Calibri" pitchFamily="34" charset="-122"/>
                <a:cs typeface="Calibri" pitchFamily="34" charset="-120"/>
              </a:rPr>
              <a:t>CEROS</a:t>
            </a:r>
            <a:endParaRPr lang="en-US" sz="850" dirty="0"/>
          </a:p>
        </p:txBody>
      </p:sp>
      <p:sp>
        <p:nvSpPr>
          <p:cNvPr id="9" name="Text 7"/>
          <p:cNvSpPr/>
          <p:nvPr/>
        </p:nvSpPr>
        <p:spPr>
          <a:xfrm>
            <a:off x="1691640" y="1536192"/>
            <a:ext cx="2194560" cy="384048"/>
          </a:xfrm>
          <a:prstGeom prst="rect">
            <a:avLst/>
          </a:prstGeom>
          <a:noFill/>
          <a:ln/>
        </p:spPr>
        <p:txBody>
          <a:bodyPr wrap="square" lIns="0" tIns="0" rIns="0" bIns="0" rtlCol="0" anchor="ctr"/>
          <a:lstStyle/>
          <a:p>
            <a:pPr algn="r" indent="0" marL="0">
              <a:buNone/>
            </a:pPr>
            <a:r>
              <a:rPr lang="en-US" sz="850" b="1" spc="80" kern="0" dirty="0">
                <a:solidFill>
                  <a:srgbClr val="5B6B7B"/>
                </a:solidFill>
                <a:latin typeface="Calibri" pitchFamily="34" charset="0"/>
                <a:ea typeface="Calibri" pitchFamily="34" charset="-122"/>
                <a:cs typeface="Calibri" pitchFamily="34" charset="-120"/>
              </a:rPr>
              <a:t>NONCE ESPERADO</a:t>
            </a:r>
            <a:endParaRPr lang="en-US" sz="850" dirty="0"/>
          </a:p>
        </p:txBody>
      </p:sp>
      <p:sp>
        <p:nvSpPr>
          <p:cNvPr id="10" name="Text 8"/>
          <p:cNvSpPr/>
          <p:nvPr/>
        </p:nvSpPr>
        <p:spPr>
          <a:xfrm>
            <a:off x="3886200" y="1536192"/>
            <a:ext cx="1463040" cy="384048"/>
          </a:xfrm>
          <a:prstGeom prst="rect">
            <a:avLst/>
          </a:prstGeom>
          <a:noFill/>
          <a:ln/>
        </p:spPr>
        <p:txBody>
          <a:bodyPr wrap="square" lIns="0" tIns="0" rIns="0" bIns="0" rtlCol="0" anchor="ctr"/>
          <a:lstStyle/>
          <a:p>
            <a:pPr algn="r" indent="0" marL="0">
              <a:buNone/>
            </a:pPr>
            <a:r>
              <a:rPr lang="en-US" sz="850" b="1" spc="80" kern="0" dirty="0">
                <a:solidFill>
                  <a:srgbClr val="5B6B7B"/>
                </a:solidFill>
                <a:latin typeface="Calibri" pitchFamily="34" charset="0"/>
                <a:ea typeface="Calibri" pitchFamily="34" charset="-122"/>
                <a:cs typeface="Calibri" pitchFamily="34" charset="-120"/>
              </a:rPr>
              <a:t>1 MINERO</a:t>
            </a:r>
            <a:endParaRPr lang="en-US" sz="850" dirty="0"/>
          </a:p>
        </p:txBody>
      </p:sp>
      <p:sp>
        <p:nvSpPr>
          <p:cNvPr id="11" name="Text 9"/>
          <p:cNvSpPr/>
          <p:nvPr/>
        </p:nvSpPr>
        <p:spPr>
          <a:xfrm>
            <a:off x="5349240" y="1536192"/>
            <a:ext cx="1463040" cy="384048"/>
          </a:xfrm>
          <a:prstGeom prst="rect">
            <a:avLst/>
          </a:prstGeom>
          <a:noFill/>
          <a:ln/>
        </p:spPr>
        <p:txBody>
          <a:bodyPr wrap="square" lIns="0" tIns="0" rIns="0" bIns="0" rtlCol="0" anchor="ctr"/>
          <a:lstStyle/>
          <a:p>
            <a:pPr algn="r" indent="0" marL="0">
              <a:buNone/>
            </a:pPr>
            <a:r>
              <a:rPr lang="en-US" sz="850" b="1" spc="80" kern="0" dirty="0">
                <a:solidFill>
                  <a:srgbClr val="5B6B7B"/>
                </a:solidFill>
                <a:latin typeface="Calibri" pitchFamily="34" charset="0"/>
                <a:ea typeface="Calibri" pitchFamily="34" charset="-122"/>
                <a:cs typeface="Calibri" pitchFamily="34" charset="-120"/>
              </a:rPr>
              <a:t>4 MINEROS</a:t>
            </a:r>
            <a:endParaRPr lang="en-US" sz="850" dirty="0"/>
          </a:p>
        </p:txBody>
      </p:sp>
      <p:sp>
        <p:nvSpPr>
          <p:cNvPr id="12" name="Text 10"/>
          <p:cNvSpPr/>
          <p:nvPr/>
        </p:nvSpPr>
        <p:spPr>
          <a:xfrm>
            <a:off x="6812280" y="1536192"/>
            <a:ext cx="1280160" cy="384048"/>
          </a:xfrm>
          <a:prstGeom prst="rect">
            <a:avLst/>
          </a:prstGeom>
          <a:noFill/>
          <a:ln/>
        </p:spPr>
        <p:txBody>
          <a:bodyPr wrap="square" lIns="0" tIns="0" rIns="0" bIns="0" rtlCol="0" anchor="ctr"/>
          <a:lstStyle/>
          <a:p>
            <a:pPr algn="l" indent="0" marL="0">
              <a:buNone/>
            </a:pPr>
            <a:r>
              <a:rPr lang="en-US" sz="850" b="1" spc="80" kern="0" dirty="0">
                <a:solidFill>
                  <a:srgbClr val="5B6B7B"/>
                </a:solidFill>
                <a:latin typeface="Calibri" pitchFamily="34" charset="0"/>
                <a:ea typeface="Calibri" pitchFamily="34" charset="-122"/>
                <a:cs typeface="Calibri" pitchFamily="34" charset="-120"/>
              </a:rPr>
              <a:t>ESTADO</a:t>
            </a:r>
            <a:endParaRPr lang="en-US" sz="850" dirty="0"/>
          </a:p>
        </p:txBody>
      </p:sp>
      <p:sp>
        <p:nvSpPr>
          <p:cNvPr id="13" name="Shape 11"/>
          <p:cNvSpPr/>
          <p:nvPr/>
        </p:nvSpPr>
        <p:spPr>
          <a:xfrm>
            <a:off x="594360" y="1901952"/>
            <a:ext cx="7498080" cy="16459"/>
          </a:xfrm>
          <a:prstGeom prst="rect">
            <a:avLst/>
          </a:prstGeom>
          <a:solidFill>
            <a:srgbClr val="DDE3E9"/>
          </a:solidFill>
          <a:ln w="12700">
            <a:solidFill>
              <a:srgbClr val="333333"/>
            </a:solidFill>
            <a:prstDash val="solid"/>
          </a:ln>
        </p:spPr>
      </p:sp>
      <p:sp>
        <p:nvSpPr>
          <p:cNvPr id="14" name="Text 12"/>
          <p:cNvSpPr/>
          <p:nvPr/>
        </p:nvSpPr>
        <p:spPr>
          <a:xfrm>
            <a:off x="594360" y="1920240"/>
            <a:ext cx="1097280" cy="384048"/>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4</a:t>
            </a:r>
            <a:endParaRPr lang="en-US" sz="1000" dirty="0"/>
          </a:p>
        </p:txBody>
      </p:sp>
      <p:sp>
        <p:nvSpPr>
          <p:cNvPr id="15" name="Text 13"/>
          <p:cNvSpPr/>
          <p:nvPr/>
        </p:nvSpPr>
        <p:spPr>
          <a:xfrm>
            <a:off x="1691640" y="1920240"/>
            <a:ext cx="219456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65.536</a:t>
            </a:r>
            <a:endParaRPr lang="en-US" sz="1000" dirty="0"/>
          </a:p>
        </p:txBody>
      </p:sp>
      <p:sp>
        <p:nvSpPr>
          <p:cNvPr id="16" name="Text 14"/>
          <p:cNvSpPr/>
          <p:nvPr/>
        </p:nvSpPr>
        <p:spPr>
          <a:xfrm>
            <a:off x="3886200" y="1920240"/>
            <a:ext cx="146304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0,1 s</a:t>
            </a:r>
            <a:endParaRPr lang="en-US" sz="1000" dirty="0"/>
          </a:p>
        </p:txBody>
      </p:sp>
      <p:sp>
        <p:nvSpPr>
          <p:cNvPr id="17" name="Text 15"/>
          <p:cNvSpPr/>
          <p:nvPr/>
        </p:nvSpPr>
        <p:spPr>
          <a:xfrm>
            <a:off x="5349240" y="1920240"/>
            <a:ext cx="146304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0,0 s</a:t>
            </a:r>
            <a:endParaRPr lang="en-US" sz="1000" dirty="0"/>
          </a:p>
        </p:txBody>
      </p:sp>
      <p:sp>
        <p:nvSpPr>
          <p:cNvPr id="18" name="Text 16"/>
          <p:cNvSpPr/>
          <p:nvPr/>
        </p:nvSpPr>
        <p:spPr>
          <a:xfrm>
            <a:off x="6812280" y="1920240"/>
            <a:ext cx="1280160" cy="384048"/>
          </a:xfrm>
          <a:prstGeom prst="rect">
            <a:avLst/>
          </a:prstGeom>
          <a:noFill/>
          <a:ln/>
        </p:spPr>
        <p:txBody>
          <a:bodyPr wrap="square" lIns="0" tIns="0" rIns="0" bIns="0" rtlCol="0" anchor="ctr"/>
          <a:lstStyle/>
          <a:p>
            <a:pPr algn="l" indent="0" marL="0">
              <a:buNone/>
            </a:pPr>
            <a:r>
              <a:rPr lang="en-US" sz="1000" dirty="0">
                <a:solidFill>
                  <a:srgbClr val="0B6E4F"/>
                </a:solidFill>
                <a:latin typeface="Calibri" pitchFamily="34" charset="0"/>
                <a:ea typeface="Calibri" pitchFamily="34" charset="-122"/>
                <a:cs typeface="Calibri" pitchFamily="34" charset="-120"/>
              </a:rPr>
              <a:t>Medido</a:t>
            </a:r>
            <a:endParaRPr lang="en-US" sz="1000" dirty="0"/>
          </a:p>
        </p:txBody>
      </p:sp>
      <p:sp>
        <p:nvSpPr>
          <p:cNvPr id="19" name="Shape 17"/>
          <p:cNvSpPr/>
          <p:nvPr/>
        </p:nvSpPr>
        <p:spPr>
          <a:xfrm>
            <a:off x="594360" y="2295144"/>
            <a:ext cx="7498080" cy="7315"/>
          </a:xfrm>
          <a:prstGeom prst="rect">
            <a:avLst/>
          </a:prstGeom>
          <a:solidFill>
            <a:srgbClr val="DDE3E9"/>
          </a:solidFill>
          <a:ln w="12700">
            <a:solidFill>
              <a:srgbClr val="333333"/>
            </a:solidFill>
            <a:prstDash val="solid"/>
          </a:ln>
        </p:spPr>
      </p:sp>
      <p:sp>
        <p:nvSpPr>
          <p:cNvPr id="20" name="Text 18"/>
          <p:cNvSpPr/>
          <p:nvPr/>
        </p:nvSpPr>
        <p:spPr>
          <a:xfrm>
            <a:off x="594360" y="2304288"/>
            <a:ext cx="1097280" cy="384048"/>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5</a:t>
            </a:r>
            <a:endParaRPr lang="en-US" sz="1000" dirty="0"/>
          </a:p>
        </p:txBody>
      </p:sp>
      <p:sp>
        <p:nvSpPr>
          <p:cNvPr id="21" name="Text 19"/>
          <p:cNvSpPr/>
          <p:nvPr/>
        </p:nvSpPr>
        <p:spPr>
          <a:xfrm>
            <a:off x="1691640" y="2304288"/>
            <a:ext cx="219456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1.048.576</a:t>
            </a:r>
            <a:endParaRPr lang="en-US" sz="1000" dirty="0"/>
          </a:p>
        </p:txBody>
      </p:sp>
      <p:sp>
        <p:nvSpPr>
          <p:cNvPr id="22" name="Text 20"/>
          <p:cNvSpPr/>
          <p:nvPr/>
        </p:nvSpPr>
        <p:spPr>
          <a:xfrm>
            <a:off x="3886200" y="2304288"/>
            <a:ext cx="146304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1,2 s</a:t>
            </a:r>
            <a:endParaRPr lang="en-US" sz="1000" dirty="0"/>
          </a:p>
        </p:txBody>
      </p:sp>
      <p:sp>
        <p:nvSpPr>
          <p:cNvPr id="23" name="Text 21"/>
          <p:cNvSpPr/>
          <p:nvPr/>
        </p:nvSpPr>
        <p:spPr>
          <a:xfrm>
            <a:off x="5349240" y="2304288"/>
            <a:ext cx="146304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0,3 s</a:t>
            </a:r>
            <a:endParaRPr lang="en-US" sz="1000" dirty="0"/>
          </a:p>
        </p:txBody>
      </p:sp>
      <p:sp>
        <p:nvSpPr>
          <p:cNvPr id="24" name="Text 22"/>
          <p:cNvSpPr/>
          <p:nvPr/>
        </p:nvSpPr>
        <p:spPr>
          <a:xfrm>
            <a:off x="6812280" y="2304288"/>
            <a:ext cx="1280160" cy="384048"/>
          </a:xfrm>
          <a:prstGeom prst="rect">
            <a:avLst/>
          </a:prstGeom>
          <a:noFill/>
          <a:ln/>
        </p:spPr>
        <p:txBody>
          <a:bodyPr wrap="square" lIns="0" tIns="0" rIns="0" bIns="0" rtlCol="0" anchor="ctr"/>
          <a:lstStyle/>
          <a:p>
            <a:pPr algn="l" indent="0" marL="0">
              <a:buNone/>
            </a:pPr>
            <a:r>
              <a:rPr lang="en-US" sz="1000" dirty="0">
                <a:solidFill>
                  <a:srgbClr val="0B6E4F"/>
                </a:solidFill>
                <a:latin typeface="Calibri" pitchFamily="34" charset="0"/>
                <a:ea typeface="Calibri" pitchFamily="34" charset="-122"/>
                <a:cs typeface="Calibri" pitchFamily="34" charset="-120"/>
              </a:rPr>
              <a:t>Medido</a:t>
            </a:r>
            <a:endParaRPr lang="en-US" sz="1000" dirty="0"/>
          </a:p>
        </p:txBody>
      </p:sp>
      <p:sp>
        <p:nvSpPr>
          <p:cNvPr id="25" name="Shape 23"/>
          <p:cNvSpPr/>
          <p:nvPr/>
        </p:nvSpPr>
        <p:spPr>
          <a:xfrm>
            <a:off x="594360" y="2679192"/>
            <a:ext cx="7498080" cy="7315"/>
          </a:xfrm>
          <a:prstGeom prst="rect">
            <a:avLst/>
          </a:prstGeom>
          <a:solidFill>
            <a:srgbClr val="DDE3E9"/>
          </a:solidFill>
          <a:ln w="12700">
            <a:solidFill>
              <a:srgbClr val="333333"/>
            </a:solidFill>
            <a:prstDash val="solid"/>
          </a:ln>
        </p:spPr>
      </p:sp>
      <p:sp>
        <p:nvSpPr>
          <p:cNvPr id="26" name="Text 24"/>
          <p:cNvSpPr/>
          <p:nvPr/>
        </p:nvSpPr>
        <p:spPr>
          <a:xfrm>
            <a:off x="594360" y="2688336"/>
            <a:ext cx="1097280" cy="384048"/>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6</a:t>
            </a:r>
            <a:endParaRPr lang="en-US" sz="1000" dirty="0"/>
          </a:p>
        </p:txBody>
      </p:sp>
      <p:sp>
        <p:nvSpPr>
          <p:cNvPr id="27" name="Text 25"/>
          <p:cNvSpPr/>
          <p:nvPr/>
        </p:nvSpPr>
        <p:spPr>
          <a:xfrm>
            <a:off x="1691640" y="2688336"/>
            <a:ext cx="219456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16.777.216</a:t>
            </a:r>
            <a:endParaRPr lang="en-US" sz="1000" dirty="0"/>
          </a:p>
        </p:txBody>
      </p:sp>
      <p:sp>
        <p:nvSpPr>
          <p:cNvPr id="28" name="Text 26"/>
          <p:cNvSpPr/>
          <p:nvPr/>
        </p:nvSpPr>
        <p:spPr>
          <a:xfrm>
            <a:off x="3886200" y="2688336"/>
            <a:ext cx="146304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18,6 s</a:t>
            </a:r>
            <a:endParaRPr lang="en-US" sz="1000" dirty="0"/>
          </a:p>
        </p:txBody>
      </p:sp>
      <p:sp>
        <p:nvSpPr>
          <p:cNvPr id="29" name="Text 27"/>
          <p:cNvSpPr/>
          <p:nvPr/>
        </p:nvSpPr>
        <p:spPr>
          <a:xfrm>
            <a:off x="5349240" y="2688336"/>
            <a:ext cx="146304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4,6 s</a:t>
            </a:r>
            <a:endParaRPr lang="en-US" sz="1000" dirty="0"/>
          </a:p>
        </p:txBody>
      </p:sp>
      <p:sp>
        <p:nvSpPr>
          <p:cNvPr id="30" name="Text 28"/>
          <p:cNvSpPr/>
          <p:nvPr/>
        </p:nvSpPr>
        <p:spPr>
          <a:xfrm>
            <a:off x="6812280" y="2688336"/>
            <a:ext cx="1280160" cy="384048"/>
          </a:xfrm>
          <a:prstGeom prst="rect">
            <a:avLst/>
          </a:prstGeom>
          <a:noFill/>
          <a:ln/>
        </p:spPr>
        <p:txBody>
          <a:bodyPr wrap="square" lIns="0" tIns="0" rIns="0" bIns="0" rtlCol="0" anchor="ctr"/>
          <a:lstStyle/>
          <a:p>
            <a:pPr algn="l" indent="0" marL="0">
              <a:buNone/>
            </a:pPr>
            <a:r>
              <a:rPr lang="en-US" sz="1000" dirty="0">
                <a:solidFill>
                  <a:srgbClr val="0B6E4F"/>
                </a:solidFill>
                <a:latin typeface="Calibri" pitchFamily="34" charset="0"/>
                <a:ea typeface="Calibri" pitchFamily="34" charset="-122"/>
                <a:cs typeface="Calibri" pitchFamily="34" charset="-120"/>
              </a:rPr>
              <a:t>Medido</a:t>
            </a:r>
            <a:endParaRPr lang="en-US" sz="1000" dirty="0"/>
          </a:p>
        </p:txBody>
      </p:sp>
      <p:sp>
        <p:nvSpPr>
          <p:cNvPr id="31" name="Shape 29"/>
          <p:cNvSpPr/>
          <p:nvPr/>
        </p:nvSpPr>
        <p:spPr>
          <a:xfrm>
            <a:off x="594360" y="3063240"/>
            <a:ext cx="7498080" cy="7315"/>
          </a:xfrm>
          <a:prstGeom prst="rect">
            <a:avLst/>
          </a:prstGeom>
          <a:solidFill>
            <a:srgbClr val="DDE3E9"/>
          </a:solidFill>
          <a:ln w="12700">
            <a:solidFill>
              <a:srgbClr val="333333"/>
            </a:solidFill>
            <a:prstDash val="solid"/>
          </a:ln>
        </p:spPr>
      </p:sp>
      <p:sp>
        <p:nvSpPr>
          <p:cNvPr id="32" name="Text 30"/>
          <p:cNvSpPr/>
          <p:nvPr/>
        </p:nvSpPr>
        <p:spPr>
          <a:xfrm>
            <a:off x="594360" y="3072384"/>
            <a:ext cx="1097280" cy="384048"/>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7</a:t>
            </a:r>
            <a:endParaRPr lang="en-US" sz="1000" dirty="0"/>
          </a:p>
        </p:txBody>
      </p:sp>
      <p:sp>
        <p:nvSpPr>
          <p:cNvPr id="33" name="Text 31"/>
          <p:cNvSpPr/>
          <p:nvPr/>
        </p:nvSpPr>
        <p:spPr>
          <a:xfrm>
            <a:off x="1691640" y="3072384"/>
            <a:ext cx="219456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268.435.456</a:t>
            </a:r>
            <a:endParaRPr lang="en-US" sz="1000" dirty="0"/>
          </a:p>
        </p:txBody>
      </p:sp>
      <p:sp>
        <p:nvSpPr>
          <p:cNvPr id="34" name="Text 32"/>
          <p:cNvSpPr/>
          <p:nvPr/>
        </p:nvSpPr>
        <p:spPr>
          <a:xfrm>
            <a:off x="3886200" y="3072384"/>
            <a:ext cx="146304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4,9 min</a:t>
            </a:r>
            <a:endParaRPr lang="en-US" sz="1000" dirty="0"/>
          </a:p>
        </p:txBody>
      </p:sp>
      <p:sp>
        <p:nvSpPr>
          <p:cNvPr id="35" name="Text 33"/>
          <p:cNvSpPr/>
          <p:nvPr/>
        </p:nvSpPr>
        <p:spPr>
          <a:xfrm>
            <a:off x="5349240" y="3072384"/>
            <a:ext cx="146304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1,2 min</a:t>
            </a:r>
            <a:endParaRPr lang="en-US" sz="1000" dirty="0"/>
          </a:p>
        </p:txBody>
      </p:sp>
      <p:sp>
        <p:nvSpPr>
          <p:cNvPr id="36" name="Text 34"/>
          <p:cNvSpPr/>
          <p:nvPr/>
        </p:nvSpPr>
        <p:spPr>
          <a:xfrm>
            <a:off x="6812280" y="3072384"/>
            <a:ext cx="1280160" cy="384048"/>
          </a:xfrm>
          <a:prstGeom prst="rect">
            <a:avLst/>
          </a:prstGeom>
          <a:noFill/>
          <a:ln/>
        </p:spPr>
        <p:txBody>
          <a:bodyPr wrap="square" lIns="0" tIns="0" rIns="0" bIns="0" rtlCol="0" anchor="ctr"/>
          <a:lstStyle/>
          <a:p>
            <a:pPr algn="l" indent="0" marL="0">
              <a:buNone/>
            </a:pPr>
            <a:r>
              <a:rPr lang="en-US" sz="1000" dirty="0">
                <a:solidFill>
                  <a:srgbClr val="A85B12"/>
                </a:solidFill>
                <a:latin typeface="Calibri" pitchFamily="34" charset="0"/>
                <a:ea typeface="Calibri" pitchFamily="34" charset="-122"/>
                <a:cs typeface="Calibri" pitchFamily="34" charset="-120"/>
              </a:rPr>
              <a:t>Calculado</a:t>
            </a:r>
            <a:endParaRPr lang="en-US" sz="1000" dirty="0"/>
          </a:p>
        </p:txBody>
      </p:sp>
      <p:sp>
        <p:nvSpPr>
          <p:cNvPr id="37" name="Shape 35"/>
          <p:cNvSpPr/>
          <p:nvPr/>
        </p:nvSpPr>
        <p:spPr>
          <a:xfrm>
            <a:off x="594360" y="3447288"/>
            <a:ext cx="7498080" cy="7315"/>
          </a:xfrm>
          <a:prstGeom prst="rect">
            <a:avLst/>
          </a:prstGeom>
          <a:solidFill>
            <a:srgbClr val="DDE3E9"/>
          </a:solidFill>
          <a:ln w="12700">
            <a:solidFill>
              <a:srgbClr val="333333"/>
            </a:solidFill>
            <a:prstDash val="solid"/>
          </a:ln>
        </p:spPr>
      </p:sp>
      <p:sp>
        <p:nvSpPr>
          <p:cNvPr id="38" name="Text 36"/>
          <p:cNvSpPr/>
          <p:nvPr/>
        </p:nvSpPr>
        <p:spPr>
          <a:xfrm>
            <a:off x="594360" y="3456432"/>
            <a:ext cx="1097280" cy="384048"/>
          </a:xfrm>
          <a:prstGeom prst="rect">
            <a:avLst/>
          </a:prstGeom>
          <a:noFill/>
          <a:ln/>
        </p:spPr>
        <p:txBody>
          <a:bodyPr wrap="square" lIns="0" tIns="0" rIns="0" bIns="0" rtlCol="0" anchor="ctr"/>
          <a:lstStyle/>
          <a:p>
            <a:pPr algn="l" indent="0" marL="0">
              <a:buNone/>
            </a:pPr>
            <a:r>
              <a:rPr lang="en-US" sz="1000" dirty="0">
                <a:solidFill>
                  <a:srgbClr val="10202F"/>
                </a:solidFill>
                <a:latin typeface="Consolas" pitchFamily="34" charset="0"/>
                <a:ea typeface="Consolas" pitchFamily="34" charset="-122"/>
                <a:cs typeface="Consolas" pitchFamily="34" charset="-120"/>
              </a:rPr>
              <a:t>8</a:t>
            </a:r>
            <a:endParaRPr lang="en-US" sz="1000" dirty="0"/>
          </a:p>
        </p:txBody>
      </p:sp>
      <p:sp>
        <p:nvSpPr>
          <p:cNvPr id="39" name="Text 37"/>
          <p:cNvSpPr/>
          <p:nvPr/>
        </p:nvSpPr>
        <p:spPr>
          <a:xfrm>
            <a:off x="1691640" y="3456432"/>
            <a:ext cx="219456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4.294.967.296</a:t>
            </a:r>
            <a:endParaRPr lang="en-US" sz="1000" dirty="0"/>
          </a:p>
        </p:txBody>
      </p:sp>
      <p:sp>
        <p:nvSpPr>
          <p:cNvPr id="40" name="Text 38"/>
          <p:cNvSpPr/>
          <p:nvPr/>
        </p:nvSpPr>
        <p:spPr>
          <a:xfrm>
            <a:off x="3886200" y="3456432"/>
            <a:ext cx="146304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1,3 h</a:t>
            </a:r>
            <a:endParaRPr lang="en-US" sz="1000" dirty="0"/>
          </a:p>
        </p:txBody>
      </p:sp>
      <p:sp>
        <p:nvSpPr>
          <p:cNvPr id="41" name="Text 39"/>
          <p:cNvSpPr/>
          <p:nvPr/>
        </p:nvSpPr>
        <p:spPr>
          <a:xfrm>
            <a:off x="5349240" y="3456432"/>
            <a:ext cx="1463040" cy="384048"/>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20 min</a:t>
            </a:r>
            <a:endParaRPr lang="en-US" sz="1000" dirty="0"/>
          </a:p>
        </p:txBody>
      </p:sp>
      <p:sp>
        <p:nvSpPr>
          <p:cNvPr id="42" name="Text 40"/>
          <p:cNvSpPr/>
          <p:nvPr/>
        </p:nvSpPr>
        <p:spPr>
          <a:xfrm>
            <a:off x="6812280" y="3456432"/>
            <a:ext cx="1280160" cy="384048"/>
          </a:xfrm>
          <a:prstGeom prst="rect">
            <a:avLst/>
          </a:prstGeom>
          <a:noFill/>
          <a:ln/>
        </p:spPr>
        <p:txBody>
          <a:bodyPr wrap="square" lIns="0" tIns="0" rIns="0" bIns="0" rtlCol="0" anchor="ctr"/>
          <a:lstStyle/>
          <a:p>
            <a:pPr algn="l" indent="0" marL="0">
              <a:buNone/>
            </a:pPr>
            <a:r>
              <a:rPr lang="en-US" sz="1000" dirty="0">
                <a:solidFill>
                  <a:srgbClr val="A85B12"/>
                </a:solidFill>
                <a:latin typeface="Calibri" pitchFamily="34" charset="0"/>
                <a:ea typeface="Calibri" pitchFamily="34" charset="-122"/>
                <a:cs typeface="Calibri" pitchFamily="34" charset="-120"/>
              </a:rPr>
              <a:t>Calculado</a:t>
            </a:r>
            <a:endParaRPr lang="en-US" sz="1000" dirty="0"/>
          </a:p>
        </p:txBody>
      </p:sp>
      <p:sp>
        <p:nvSpPr>
          <p:cNvPr id="43" name="Text 41"/>
          <p:cNvSpPr/>
          <p:nvPr/>
        </p:nvSpPr>
        <p:spPr>
          <a:xfrm>
            <a:off x="8458200" y="1600200"/>
            <a:ext cx="3108960" cy="566928"/>
          </a:xfrm>
          <a:prstGeom prst="rect">
            <a:avLst/>
          </a:prstGeom>
          <a:noFill/>
          <a:ln/>
        </p:spPr>
        <p:txBody>
          <a:bodyPr wrap="square" lIns="0" tIns="0" rIns="0" bIns="0" rtlCol="0" anchor="ctr"/>
          <a:lstStyle/>
          <a:p>
            <a:pPr indent="0" marL="0">
              <a:buNone/>
            </a:pPr>
            <a:r>
              <a:rPr lang="en-US" sz="2600" b="1" dirty="0">
                <a:solidFill>
                  <a:srgbClr val="0B6E4F"/>
                </a:solidFill>
                <a:latin typeface="Cambria" pitchFamily="34" charset="0"/>
                <a:ea typeface="Cambria" pitchFamily="34" charset="-122"/>
                <a:cs typeface="Cambria" pitchFamily="34" charset="-120"/>
              </a:rPr>
              <a:t>904.373</a:t>
            </a:r>
            <a:endParaRPr lang="en-US" sz="2600" dirty="0"/>
          </a:p>
        </p:txBody>
      </p:sp>
      <p:sp>
        <p:nvSpPr>
          <p:cNvPr id="44" name="Text 42"/>
          <p:cNvSpPr/>
          <p:nvPr/>
        </p:nvSpPr>
        <p:spPr>
          <a:xfrm>
            <a:off x="8458200" y="2167128"/>
            <a:ext cx="3108960" cy="256032"/>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hashes por segundo</a:t>
            </a:r>
            <a:endParaRPr lang="en-US" sz="1050" dirty="0"/>
          </a:p>
        </p:txBody>
      </p:sp>
      <p:sp>
        <p:nvSpPr>
          <p:cNvPr id="45" name="Text 43"/>
          <p:cNvSpPr/>
          <p:nvPr/>
        </p:nvSpPr>
        <p:spPr>
          <a:xfrm>
            <a:off x="8458200" y="2404872"/>
            <a:ext cx="3108960" cy="411480"/>
          </a:xfrm>
          <a:prstGeom prst="rect">
            <a:avLst/>
          </a:prstGeom>
          <a:noFill/>
          <a:ln/>
        </p:spPr>
        <p:txBody>
          <a:bodyPr wrap="square" lIns="0" tIns="0" rIns="0" bIns="0" rtlCol="0" anchor="ctr"/>
          <a:lstStyle/>
          <a:p>
            <a:pPr indent="0" marL="0">
              <a:lnSpc>
                <a:spcPct val="110000"/>
              </a:lnSpc>
              <a:buNone/>
            </a:pPr>
            <a:r>
              <a:rPr lang="en-US" sz="950" dirty="0">
                <a:solidFill>
                  <a:srgbClr val="5B6B7B"/>
                </a:solidFill>
                <a:latin typeface="Calibri" pitchFamily="34" charset="0"/>
                <a:ea typeface="Calibri" pitchFamily="34" charset="-122"/>
                <a:cs typeface="Calibri" pitchFamily="34" charset="-120"/>
              </a:rPr>
              <a:t>medido por minero, en un núcleo</a:t>
            </a:r>
            <a:endParaRPr lang="en-US" sz="950" dirty="0"/>
          </a:p>
        </p:txBody>
      </p:sp>
      <p:sp>
        <p:nvSpPr>
          <p:cNvPr id="46" name="Shape 44"/>
          <p:cNvSpPr/>
          <p:nvPr/>
        </p:nvSpPr>
        <p:spPr>
          <a:xfrm>
            <a:off x="8458200" y="3017520"/>
            <a:ext cx="3108960" cy="1371600"/>
          </a:xfrm>
          <a:prstGeom prst="roundRect">
            <a:avLst>
              <a:gd name="adj" fmla="val 4000"/>
            </a:avLst>
          </a:prstGeom>
          <a:solidFill>
            <a:srgbClr val="DCEFE6"/>
          </a:solidFill>
          <a:ln w="12700">
            <a:solidFill>
              <a:srgbClr val="333333"/>
            </a:solidFill>
            <a:prstDash val="solid"/>
          </a:ln>
        </p:spPr>
      </p:sp>
      <p:sp>
        <p:nvSpPr>
          <p:cNvPr id="47" name="Text 45"/>
          <p:cNvSpPr/>
          <p:nvPr/>
        </p:nvSpPr>
        <p:spPr>
          <a:xfrm>
            <a:off x="8686800" y="3145536"/>
            <a:ext cx="2651760" cy="1115568"/>
          </a:xfrm>
          <a:prstGeom prst="rect">
            <a:avLst/>
          </a:prstGeom>
          <a:noFill/>
          <a:ln/>
        </p:spPr>
        <p:txBody>
          <a:bodyPr wrap="square" lIns="0" tIns="0" rIns="0" bIns="0" rtlCol="0" anchor="t"/>
          <a:lstStyle/>
          <a:p>
            <a:pPr indent="0" marL="0">
              <a:lnSpc>
                <a:spcPct val="118000"/>
              </a:lnSpc>
              <a:buNone/>
            </a:pPr>
            <a:r>
              <a:rPr lang="en-US" sz="1000" b="1" dirty="0">
                <a:solidFill>
                  <a:srgbClr val="0B6E4F"/>
                </a:solidFill>
                <a:latin typeface="Calibri" pitchFamily="34" charset="0"/>
                <a:ea typeface="Calibri" pitchFamily="34" charset="-122"/>
                <a:cs typeface="Calibri" pitchFamily="34" charset="-120"/>
              </a:rPr>
              <a:t>Con esa velocidad medida se puede predecir </a:t>
            </a:r>
            <a:pPr indent="0" marL="0">
              <a:lnSpc>
                <a:spcPct val="118000"/>
              </a:lnSpc>
              <a:buNone/>
            </a:pPr>
            <a:r>
              <a:rPr lang="en-US" sz="1000" dirty="0">
                <a:solidFill>
                  <a:srgbClr val="5B6B7B"/>
                </a:solidFill>
                <a:latin typeface="Calibri" pitchFamily="34" charset="0"/>
                <a:ea typeface="Calibri" pitchFamily="34" charset="-122"/>
                <a:cs typeface="Calibri" pitchFamily="34" charset="-120"/>
              </a:rPr>
              <a:t>el costo de cualquier dificultad, porque el nonce esperado crece como 16 elevado a la cantidad de ceros.</a:t>
            </a:r>
            <a:endParaRPr lang="en-US" sz="1000" dirty="0"/>
          </a:p>
        </p:txBody>
      </p:sp>
      <p:sp>
        <p:nvSpPr>
          <p:cNvPr id="48" name="Text 46"/>
          <p:cNvSpPr/>
          <p:nvPr/>
        </p:nvSpPr>
        <p:spPr>
          <a:xfrm>
            <a:off x="594360" y="4480560"/>
            <a:ext cx="10972800" cy="82296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Las dificultades 7 y 8 se dejan calculadas en lugar de corridas. </a:t>
            </a:r>
            <a:pPr indent="0" marL="0">
              <a:lnSpc>
                <a:spcPct val="115000"/>
              </a:lnSpc>
              <a:buNone/>
            </a:pPr>
            <a:r>
              <a:rPr lang="en-US" sz="1050" b="1" dirty="0">
                <a:solidFill>
                  <a:srgbClr val="10202F"/>
                </a:solidFill>
                <a:latin typeface="Calibri" pitchFamily="34" charset="0"/>
                <a:ea typeface="Calibri" pitchFamily="34" charset="-122"/>
                <a:cs typeface="Calibri" pitchFamily="34" charset="-120"/>
              </a:rPr>
              <a:t>Un límite calculado a partir de una velocidad medida es más informativo que una corrida abandonada por tiempo agotado</a:t>
            </a:r>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 — y la distinción entre medido y calculado queda declarada.</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RESULTADOS</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27 / 30</a:t>
            </a:r>
            <a:endParaRPr lang="en-US" sz="900" dirty="0"/>
          </a:p>
        </p:txBody>
      </p:sp>
      <p:sp>
        <p:nvSpPr>
          <p:cNvPr id="5" name="Shape 3"/>
          <p:cNvSpPr/>
          <p:nvPr/>
        </p:nvSpPr>
        <p:spPr>
          <a:xfrm>
            <a:off x="0" y="6803136"/>
            <a:ext cx="10945368"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RESULTADOS MEDIDOS</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Qué gobierna el rendimiento del pool</a:t>
            </a:r>
            <a:endParaRPr lang="en-US" sz="2700" dirty="0"/>
          </a:p>
        </p:txBody>
      </p:sp>
      <p:sp>
        <p:nvSpPr>
          <p:cNvPr id="8" name="Text 6"/>
          <p:cNvSpPr/>
          <p:nvPr/>
        </p:nvSpPr>
        <p:spPr>
          <a:xfrm>
            <a:off x="594360" y="1554480"/>
            <a:ext cx="5486400" cy="274320"/>
          </a:xfrm>
          <a:prstGeom prst="rect">
            <a:avLst/>
          </a:prstGeom>
          <a:noFill/>
          <a:ln/>
        </p:spPr>
        <p:txBody>
          <a:bodyPr wrap="square" lIns="0" tIns="0" rIns="0" bIns="0" rtlCol="0" anchor="ctr"/>
          <a:lstStyle/>
          <a:p>
            <a:pPr indent="0" marL="0">
              <a:buNone/>
            </a:pPr>
            <a:r>
              <a:rPr lang="en-US" sz="1200" b="1" dirty="0">
                <a:solidFill>
                  <a:srgbClr val="10202F"/>
                </a:solidFill>
                <a:latin typeface="Calibri" pitchFamily="34" charset="0"/>
                <a:ea typeface="Calibri" pitchFamily="34" charset="-122"/>
                <a:cs typeface="Calibri" pitchFamily="34" charset="-120"/>
              </a:rPr>
              <a:t>Tiempo de confirmación · 30 transacciones</a:t>
            </a:r>
            <a:endParaRPr lang="en-US" sz="1200" dirty="0"/>
          </a:p>
        </p:txBody>
      </p:sp>
      <p:sp>
        <p:nvSpPr>
          <p:cNvPr id="9" name="Text 7"/>
          <p:cNvSpPr/>
          <p:nvPr/>
        </p:nvSpPr>
        <p:spPr>
          <a:xfrm>
            <a:off x="594360" y="1920240"/>
            <a:ext cx="2286000" cy="347472"/>
          </a:xfrm>
          <a:prstGeom prst="rect">
            <a:avLst/>
          </a:prstGeom>
          <a:noFill/>
          <a:ln/>
        </p:spPr>
        <p:txBody>
          <a:bodyPr wrap="square" lIns="0" tIns="0" rIns="0" bIns="0" rtlCol="0" anchor="ctr"/>
          <a:lstStyle/>
          <a:p>
            <a:pPr indent="0" marL="0">
              <a:buNone/>
            </a:pPr>
            <a:r>
              <a:rPr lang="en-US" sz="1000" b="1" dirty="0">
                <a:solidFill>
                  <a:srgbClr val="10202F"/>
                </a:solidFill>
                <a:latin typeface="Calibri" pitchFamily="34" charset="0"/>
                <a:ea typeface="Calibri" pitchFamily="34" charset="-122"/>
                <a:cs typeface="Calibri" pitchFamily="34" charset="-120"/>
              </a:rPr>
              <a:t>Fragmento 25%, 1</a:t>
            </a:r>
            <a:endParaRPr lang="en-US" sz="1000" dirty="0"/>
          </a:p>
        </p:txBody>
      </p:sp>
      <p:sp>
        <p:nvSpPr>
          <p:cNvPr id="10" name="Shape 8"/>
          <p:cNvSpPr/>
          <p:nvPr/>
        </p:nvSpPr>
        <p:spPr>
          <a:xfrm>
            <a:off x="2971800" y="1975104"/>
            <a:ext cx="2011680" cy="237744"/>
          </a:xfrm>
          <a:prstGeom prst="roundRect">
            <a:avLst>
              <a:gd name="adj" fmla="val 15385"/>
            </a:avLst>
          </a:prstGeom>
          <a:solidFill>
            <a:srgbClr val="E6EBF0"/>
          </a:solidFill>
          <a:ln w="12700">
            <a:solidFill>
              <a:srgbClr val="333333"/>
            </a:solidFill>
            <a:prstDash val="solid"/>
          </a:ln>
        </p:spPr>
      </p:sp>
      <p:sp>
        <p:nvSpPr>
          <p:cNvPr id="11" name="Shape 9"/>
          <p:cNvSpPr/>
          <p:nvPr/>
        </p:nvSpPr>
        <p:spPr>
          <a:xfrm>
            <a:off x="2971800" y="1975104"/>
            <a:ext cx="2011680" cy="237744"/>
          </a:xfrm>
          <a:prstGeom prst="roundRect">
            <a:avLst>
              <a:gd name="adj" fmla="val 15385"/>
            </a:avLst>
          </a:prstGeom>
          <a:solidFill>
            <a:srgbClr val="A85B12"/>
          </a:solidFill>
          <a:ln w="12700">
            <a:solidFill>
              <a:srgbClr val="333333"/>
            </a:solidFill>
            <a:prstDash val="solid"/>
          </a:ln>
        </p:spPr>
      </p:sp>
      <p:sp>
        <p:nvSpPr>
          <p:cNvPr id="12" name="Text 10"/>
          <p:cNvSpPr/>
          <p:nvPr/>
        </p:nvSpPr>
        <p:spPr>
          <a:xfrm>
            <a:off x="5111496" y="1920240"/>
            <a:ext cx="914400" cy="347472"/>
          </a:xfrm>
          <a:prstGeom prst="rect">
            <a:avLst/>
          </a:prstGeom>
          <a:noFill/>
          <a:ln/>
        </p:spPr>
        <p:txBody>
          <a:bodyPr wrap="square" lIns="0" tIns="0" rIns="0" bIns="0" rtlCol="0" anchor="ctr"/>
          <a:lstStyle/>
          <a:p>
            <a:pPr algn="r" indent="0" marL="0">
              <a:buNone/>
            </a:pPr>
            <a:r>
              <a:rPr lang="en-US" sz="1050" b="1" dirty="0">
                <a:solidFill>
                  <a:srgbClr val="10202F"/>
                </a:solidFill>
                <a:latin typeface="Calibri" pitchFamily="34" charset="0"/>
                <a:ea typeface="Calibri" pitchFamily="34" charset="-122"/>
                <a:cs typeface="Calibri" pitchFamily="34" charset="-120"/>
              </a:rPr>
              <a:t>17,7 s</a:t>
            </a:r>
            <a:endParaRPr lang="en-US" sz="1050" dirty="0"/>
          </a:p>
        </p:txBody>
      </p:sp>
      <p:sp>
        <p:nvSpPr>
          <p:cNvPr id="13" name="Text 11"/>
          <p:cNvSpPr/>
          <p:nvPr/>
        </p:nvSpPr>
        <p:spPr>
          <a:xfrm>
            <a:off x="594360" y="2395728"/>
            <a:ext cx="2286000" cy="347472"/>
          </a:xfrm>
          <a:prstGeom prst="rect">
            <a:avLst/>
          </a:prstGeom>
          <a:noFill/>
          <a:ln/>
        </p:spPr>
        <p:txBody>
          <a:bodyPr wrap="square" lIns="0" tIns="0" rIns="0" bIns="0" rtlCol="0" anchor="ctr"/>
          <a:lstStyle/>
          <a:p>
            <a:pPr indent="0" marL="0">
              <a:buNone/>
            </a:pPr>
            <a:r>
              <a:rPr lang="en-US" sz="1000" b="1" dirty="0">
                <a:solidFill>
                  <a:srgbClr val="10202F"/>
                </a:solidFill>
                <a:latin typeface="Calibri" pitchFamily="34" charset="0"/>
                <a:ea typeface="Calibri" pitchFamily="34" charset="-122"/>
                <a:cs typeface="Calibri" pitchFamily="34" charset="-120"/>
              </a:rPr>
              <a:t>Fragmento 25%, 2</a:t>
            </a:r>
            <a:endParaRPr lang="en-US" sz="1000" dirty="0"/>
          </a:p>
        </p:txBody>
      </p:sp>
      <p:sp>
        <p:nvSpPr>
          <p:cNvPr id="14" name="Shape 12"/>
          <p:cNvSpPr/>
          <p:nvPr/>
        </p:nvSpPr>
        <p:spPr>
          <a:xfrm>
            <a:off x="2971800" y="2450592"/>
            <a:ext cx="2011680" cy="237744"/>
          </a:xfrm>
          <a:prstGeom prst="roundRect">
            <a:avLst>
              <a:gd name="adj" fmla="val 15385"/>
            </a:avLst>
          </a:prstGeom>
          <a:solidFill>
            <a:srgbClr val="E6EBF0"/>
          </a:solidFill>
          <a:ln w="12700">
            <a:solidFill>
              <a:srgbClr val="333333"/>
            </a:solidFill>
            <a:prstDash val="solid"/>
          </a:ln>
        </p:spPr>
      </p:sp>
      <p:sp>
        <p:nvSpPr>
          <p:cNvPr id="15" name="Shape 13"/>
          <p:cNvSpPr/>
          <p:nvPr/>
        </p:nvSpPr>
        <p:spPr>
          <a:xfrm>
            <a:off x="2971800" y="2450592"/>
            <a:ext cx="945490" cy="237744"/>
          </a:xfrm>
          <a:prstGeom prst="roundRect">
            <a:avLst>
              <a:gd name="adj" fmla="val 15385"/>
            </a:avLst>
          </a:prstGeom>
          <a:solidFill>
            <a:srgbClr val="1F4E79"/>
          </a:solidFill>
          <a:ln w="12700">
            <a:solidFill>
              <a:srgbClr val="333333"/>
            </a:solidFill>
            <a:prstDash val="solid"/>
          </a:ln>
        </p:spPr>
      </p:sp>
      <p:sp>
        <p:nvSpPr>
          <p:cNvPr id="16" name="Text 14"/>
          <p:cNvSpPr/>
          <p:nvPr/>
        </p:nvSpPr>
        <p:spPr>
          <a:xfrm>
            <a:off x="5111496" y="2395728"/>
            <a:ext cx="914400" cy="347472"/>
          </a:xfrm>
          <a:prstGeom prst="rect">
            <a:avLst/>
          </a:prstGeom>
          <a:noFill/>
          <a:ln/>
        </p:spPr>
        <p:txBody>
          <a:bodyPr wrap="square" lIns="0" tIns="0" rIns="0" bIns="0" rtlCol="0" anchor="ctr"/>
          <a:lstStyle/>
          <a:p>
            <a:pPr algn="r" indent="0" marL="0">
              <a:buNone/>
            </a:pPr>
            <a:r>
              <a:rPr lang="en-US" sz="1050" b="1" dirty="0">
                <a:solidFill>
                  <a:srgbClr val="10202F"/>
                </a:solidFill>
                <a:latin typeface="Calibri" pitchFamily="34" charset="0"/>
                <a:ea typeface="Calibri" pitchFamily="34" charset="-122"/>
                <a:cs typeface="Calibri" pitchFamily="34" charset="-120"/>
              </a:rPr>
              <a:t>8,3 s</a:t>
            </a:r>
            <a:endParaRPr lang="en-US" sz="1050" dirty="0"/>
          </a:p>
        </p:txBody>
      </p:sp>
      <p:sp>
        <p:nvSpPr>
          <p:cNvPr id="17" name="Text 15"/>
          <p:cNvSpPr/>
          <p:nvPr/>
        </p:nvSpPr>
        <p:spPr>
          <a:xfrm>
            <a:off x="594360" y="2871216"/>
            <a:ext cx="2286000" cy="347472"/>
          </a:xfrm>
          <a:prstGeom prst="rect">
            <a:avLst/>
          </a:prstGeom>
          <a:noFill/>
          <a:ln/>
        </p:spPr>
        <p:txBody>
          <a:bodyPr wrap="square" lIns="0" tIns="0" rIns="0" bIns="0" rtlCol="0" anchor="ctr"/>
          <a:lstStyle/>
          <a:p>
            <a:pPr indent="0" marL="0">
              <a:buNone/>
            </a:pPr>
            <a:r>
              <a:rPr lang="en-US" sz="1000" b="1" dirty="0">
                <a:solidFill>
                  <a:srgbClr val="10202F"/>
                </a:solidFill>
                <a:latin typeface="Calibri" pitchFamily="34" charset="0"/>
                <a:ea typeface="Calibri" pitchFamily="34" charset="-122"/>
                <a:cs typeface="Calibri" pitchFamily="34" charset="-120"/>
              </a:rPr>
              <a:t>Fragmento 10%, 1</a:t>
            </a:r>
            <a:endParaRPr lang="en-US" sz="1000" dirty="0"/>
          </a:p>
        </p:txBody>
      </p:sp>
      <p:sp>
        <p:nvSpPr>
          <p:cNvPr id="18" name="Shape 16"/>
          <p:cNvSpPr/>
          <p:nvPr/>
        </p:nvSpPr>
        <p:spPr>
          <a:xfrm>
            <a:off x="2971800" y="2926080"/>
            <a:ext cx="2011680" cy="237744"/>
          </a:xfrm>
          <a:prstGeom prst="roundRect">
            <a:avLst>
              <a:gd name="adj" fmla="val 15385"/>
            </a:avLst>
          </a:prstGeom>
          <a:solidFill>
            <a:srgbClr val="E6EBF0"/>
          </a:solidFill>
          <a:ln w="12700">
            <a:solidFill>
              <a:srgbClr val="333333"/>
            </a:solidFill>
            <a:prstDash val="solid"/>
          </a:ln>
        </p:spPr>
      </p:sp>
      <p:sp>
        <p:nvSpPr>
          <p:cNvPr id="19" name="Shape 17"/>
          <p:cNvSpPr/>
          <p:nvPr/>
        </p:nvSpPr>
        <p:spPr>
          <a:xfrm>
            <a:off x="2971800" y="2926080"/>
            <a:ext cx="402336" cy="237744"/>
          </a:xfrm>
          <a:prstGeom prst="roundRect">
            <a:avLst>
              <a:gd name="adj" fmla="val 15385"/>
            </a:avLst>
          </a:prstGeom>
          <a:solidFill>
            <a:srgbClr val="0B6E4F"/>
          </a:solidFill>
          <a:ln w="12700">
            <a:solidFill>
              <a:srgbClr val="333333"/>
            </a:solidFill>
            <a:prstDash val="solid"/>
          </a:ln>
        </p:spPr>
      </p:sp>
      <p:sp>
        <p:nvSpPr>
          <p:cNvPr id="20" name="Text 18"/>
          <p:cNvSpPr/>
          <p:nvPr/>
        </p:nvSpPr>
        <p:spPr>
          <a:xfrm>
            <a:off x="5111496" y="2871216"/>
            <a:ext cx="914400" cy="347472"/>
          </a:xfrm>
          <a:prstGeom prst="rect">
            <a:avLst/>
          </a:prstGeom>
          <a:noFill/>
          <a:ln/>
        </p:spPr>
        <p:txBody>
          <a:bodyPr wrap="square" lIns="0" tIns="0" rIns="0" bIns="0" rtlCol="0" anchor="ctr"/>
          <a:lstStyle/>
          <a:p>
            <a:pPr algn="r" indent="0" marL="0">
              <a:buNone/>
            </a:pPr>
            <a:r>
              <a:rPr lang="en-US" sz="1050" b="1" dirty="0">
                <a:solidFill>
                  <a:srgbClr val="10202F"/>
                </a:solidFill>
                <a:latin typeface="Calibri" pitchFamily="34" charset="0"/>
                <a:ea typeface="Calibri" pitchFamily="34" charset="-122"/>
                <a:cs typeface="Calibri" pitchFamily="34" charset="-120"/>
              </a:rPr>
              <a:t>3,5 s</a:t>
            </a:r>
            <a:endParaRPr lang="en-US" sz="1050" dirty="0"/>
          </a:p>
        </p:txBody>
      </p:sp>
      <p:sp>
        <p:nvSpPr>
          <p:cNvPr id="21" name="Text 19"/>
          <p:cNvSpPr/>
          <p:nvPr/>
        </p:nvSpPr>
        <p:spPr>
          <a:xfrm>
            <a:off x="594360" y="3346704"/>
            <a:ext cx="2286000" cy="347472"/>
          </a:xfrm>
          <a:prstGeom prst="rect">
            <a:avLst/>
          </a:prstGeom>
          <a:noFill/>
          <a:ln/>
        </p:spPr>
        <p:txBody>
          <a:bodyPr wrap="square" lIns="0" tIns="0" rIns="0" bIns="0" rtlCol="0" anchor="ctr"/>
          <a:lstStyle/>
          <a:p>
            <a:pPr indent="0" marL="0">
              <a:buNone/>
            </a:pPr>
            <a:r>
              <a:rPr lang="en-US" sz="1000" b="1" dirty="0">
                <a:solidFill>
                  <a:srgbClr val="10202F"/>
                </a:solidFill>
                <a:latin typeface="Calibri" pitchFamily="34" charset="0"/>
                <a:ea typeface="Calibri" pitchFamily="34" charset="-122"/>
                <a:cs typeface="Calibri" pitchFamily="34" charset="-120"/>
              </a:rPr>
              <a:t>Fragmento 10%, 2</a:t>
            </a:r>
            <a:endParaRPr lang="en-US" sz="1000" dirty="0"/>
          </a:p>
        </p:txBody>
      </p:sp>
      <p:sp>
        <p:nvSpPr>
          <p:cNvPr id="22" name="Shape 20"/>
          <p:cNvSpPr/>
          <p:nvPr/>
        </p:nvSpPr>
        <p:spPr>
          <a:xfrm>
            <a:off x="2971800" y="3401568"/>
            <a:ext cx="2011680" cy="237744"/>
          </a:xfrm>
          <a:prstGeom prst="roundRect">
            <a:avLst>
              <a:gd name="adj" fmla="val 15385"/>
            </a:avLst>
          </a:prstGeom>
          <a:solidFill>
            <a:srgbClr val="E6EBF0"/>
          </a:solidFill>
          <a:ln w="12700">
            <a:solidFill>
              <a:srgbClr val="333333"/>
            </a:solidFill>
            <a:prstDash val="solid"/>
          </a:ln>
        </p:spPr>
      </p:sp>
      <p:sp>
        <p:nvSpPr>
          <p:cNvPr id="23" name="Shape 21"/>
          <p:cNvSpPr/>
          <p:nvPr/>
        </p:nvSpPr>
        <p:spPr>
          <a:xfrm>
            <a:off x="2971800" y="3401568"/>
            <a:ext cx="502920" cy="237744"/>
          </a:xfrm>
          <a:prstGeom prst="roundRect">
            <a:avLst>
              <a:gd name="adj" fmla="val 15385"/>
            </a:avLst>
          </a:prstGeom>
          <a:solidFill>
            <a:srgbClr val="0B6E4F"/>
          </a:solidFill>
          <a:ln w="12700">
            <a:solidFill>
              <a:srgbClr val="333333"/>
            </a:solidFill>
            <a:prstDash val="solid"/>
          </a:ln>
        </p:spPr>
      </p:sp>
      <p:sp>
        <p:nvSpPr>
          <p:cNvPr id="24" name="Text 22"/>
          <p:cNvSpPr/>
          <p:nvPr/>
        </p:nvSpPr>
        <p:spPr>
          <a:xfrm>
            <a:off x="5111496" y="3346704"/>
            <a:ext cx="914400" cy="347472"/>
          </a:xfrm>
          <a:prstGeom prst="rect">
            <a:avLst/>
          </a:prstGeom>
          <a:noFill/>
          <a:ln/>
        </p:spPr>
        <p:txBody>
          <a:bodyPr wrap="square" lIns="0" tIns="0" rIns="0" bIns="0" rtlCol="0" anchor="ctr"/>
          <a:lstStyle/>
          <a:p>
            <a:pPr algn="r" indent="0" marL="0">
              <a:buNone/>
            </a:pPr>
            <a:r>
              <a:rPr lang="en-US" sz="1050" b="1" dirty="0">
                <a:solidFill>
                  <a:srgbClr val="10202F"/>
                </a:solidFill>
                <a:latin typeface="Calibri" pitchFamily="34" charset="0"/>
                <a:ea typeface="Calibri" pitchFamily="34" charset="-122"/>
                <a:cs typeface="Calibri" pitchFamily="34" charset="-120"/>
              </a:rPr>
              <a:t>4,4 s</a:t>
            </a:r>
            <a:endParaRPr lang="en-US" sz="1050" dirty="0"/>
          </a:p>
        </p:txBody>
      </p:sp>
      <p:sp>
        <p:nvSpPr>
          <p:cNvPr id="25" name="Text 23"/>
          <p:cNvSpPr/>
          <p:nvPr/>
        </p:nvSpPr>
        <p:spPr>
          <a:xfrm>
            <a:off x="594360" y="3886200"/>
            <a:ext cx="5486400" cy="274320"/>
          </a:xfrm>
          <a:prstGeom prst="rect">
            <a:avLst/>
          </a:prstGeom>
          <a:noFill/>
          <a:ln/>
        </p:spPr>
        <p:txBody>
          <a:bodyPr wrap="square" lIns="0" tIns="0" rIns="0" bIns="0" rtlCol="0" anchor="ctr"/>
          <a:lstStyle/>
          <a:p>
            <a:pPr indent="0" marL="0">
              <a:buNone/>
            </a:pPr>
            <a:r>
              <a:rPr lang="en-US" sz="950" dirty="0">
                <a:solidFill>
                  <a:srgbClr val="5B6B7B"/>
                </a:solidFill>
                <a:latin typeface="Calibri" pitchFamily="34" charset="0"/>
                <a:ea typeface="Calibri" pitchFamily="34" charset="-122"/>
                <a:cs typeface="Calibri" pitchFamily="34" charset="-120"/>
              </a:rPr>
              <a:t>El segundo número es la cantidad de mineros.</a:t>
            </a:r>
            <a:endParaRPr lang="en-US" sz="950" dirty="0"/>
          </a:p>
        </p:txBody>
      </p:sp>
      <p:sp>
        <p:nvSpPr>
          <p:cNvPr id="26" name="Text 24"/>
          <p:cNvSpPr/>
          <p:nvPr/>
        </p:nvSpPr>
        <p:spPr>
          <a:xfrm>
            <a:off x="6446520" y="1600200"/>
            <a:ext cx="2377440" cy="566928"/>
          </a:xfrm>
          <a:prstGeom prst="rect">
            <a:avLst/>
          </a:prstGeom>
          <a:noFill/>
          <a:ln/>
        </p:spPr>
        <p:txBody>
          <a:bodyPr wrap="square" lIns="0" tIns="0" rIns="0" bIns="0" rtlCol="0" anchor="ctr"/>
          <a:lstStyle/>
          <a:p>
            <a:pPr indent="0" marL="0">
              <a:buNone/>
            </a:pPr>
            <a:r>
              <a:rPr lang="en-US" sz="2600" b="1" dirty="0">
                <a:solidFill>
                  <a:srgbClr val="0B6E4F"/>
                </a:solidFill>
                <a:latin typeface="Cambria" pitchFamily="34" charset="0"/>
                <a:ea typeface="Cambria" pitchFamily="34" charset="-122"/>
                <a:cs typeface="Cambria" pitchFamily="34" charset="-120"/>
              </a:rPr>
              <a:t>5,05×</a:t>
            </a:r>
            <a:endParaRPr lang="en-US" sz="2600" dirty="0"/>
          </a:p>
        </p:txBody>
      </p:sp>
      <p:sp>
        <p:nvSpPr>
          <p:cNvPr id="27" name="Text 25"/>
          <p:cNvSpPr/>
          <p:nvPr/>
        </p:nvSpPr>
        <p:spPr>
          <a:xfrm>
            <a:off x="6446520" y="2167128"/>
            <a:ext cx="2377440" cy="256032"/>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fragmentar más</a:t>
            </a:r>
            <a:endParaRPr lang="en-US" sz="1050" dirty="0"/>
          </a:p>
        </p:txBody>
      </p:sp>
      <p:sp>
        <p:nvSpPr>
          <p:cNvPr id="28" name="Text 26"/>
          <p:cNvSpPr/>
          <p:nvPr/>
        </p:nvSpPr>
        <p:spPr>
          <a:xfrm>
            <a:off x="6446520" y="2404872"/>
            <a:ext cx="2377440" cy="411480"/>
          </a:xfrm>
          <a:prstGeom prst="rect">
            <a:avLst/>
          </a:prstGeom>
          <a:noFill/>
          <a:ln/>
        </p:spPr>
        <p:txBody>
          <a:bodyPr wrap="square" lIns="0" tIns="0" rIns="0" bIns="0" rtlCol="0" anchor="ctr"/>
          <a:lstStyle/>
          <a:p>
            <a:pPr indent="0" marL="0">
              <a:lnSpc>
                <a:spcPct val="110000"/>
              </a:lnSpc>
              <a:buNone/>
            </a:pPr>
            <a:r>
              <a:rPr lang="en-US" sz="950" dirty="0">
                <a:solidFill>
                  <a:srgbClr val="5B6B7B"/>
                </a:solidFill>
                <a:latin typeface="Calibri" pitchFamily="34" charset="0"/>
                <a:ea typeface="Calibri" pitchFamily="34" charset="-122"/>
                <a:cs typeface="Calibri" pitchFamily="34" charset="-120"/>
              </a:rPr>
              <a:t>bajar el fragmento de 25% a 10%</a:t>
            </a:r>
            <a:endParaRPr lang="en-US" sz="950" dirty="0"/>
          </a:p>
        </p:txBody>
      </p:sp>
      <p:sp>
        <p:nvSpPr>
          <p:cNvPr id="29" name="Text 27"/>
          <p:cNvSpPr/>
          <p:nvPr/>
        </p:nvSpPr>
        <p:spPr>
          <a:xfrm>
            <a:off x="9189720" y="1600200"/>
            <a:ext cx="2377440" cy="566928"/>
          </a:xfrm>
          <a:prstGeom prst="rect">
            <a:avLst/>
          </a:prstGeom>
          <a:noFill/>
          <a:ln/>
        </p:spPr>
        <p:txBody>
          <a:bodyPr wrap="square" lIns="0" tIns="0" rIns="0" bIns="0" rtlCol="0" anchor="ctr"/>
          <a:lstStyle/>
          <a:p>
            <a:pPr indent="0" marL="0">
              <a:buNone/>
            </a:pPr>
            <a:r>
              <a:rPr lang="en-US" sz="2600" b="1" dirty="0">
                <a:solidFill>
                  <a:srgbClr val="1F4E79"/>
                </a:solidFill>
                <a:latin typeface="Cambria" pitchFamily="34" charset="0"/>
                <a:ea typeface="Cambria" pitchFamily="34" charset="-122"/>
                <a:cs typeface="Cambria" pitchFamily="34" charset="-120"/>
              </a:rPr>
              <a:t>2,13×</a:t>
            </a:r>
            <a:endParaRPr lang="en-US" sz="2600" dirty="0"/>
          </a:p>
        </p:txBody>
      </p:sp>
      <p:sp>
        <p:nvSpPr>
          <p:cNvPr id="30" name="Text 28"/>
          <p:cNvSpPr/>
          <p:nvPr/>
        </p:nvSpPr>
        <p:spPr>
          <a:xfrm>
            <a:off x="9189720" y="2167128"/>
            <a:ext cx="2377440" cy="256032"/>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duplicar mineros</a:t>
            </a:r>
            <a:endParaRPr lang="en-US" sz="1050" dirty="0"/>
          </a:p>
        </p:txBody>
      </p:sp>
      <p:sp>
        <p:nvSpPr>
          <p:cNvPr id="31" name="Text 29"/>
          <p:cNvSpPr/>
          <p:nvPr/>
        </p:nvSpPr>
        <p:spPr>
          <a:xfrm>
            <a:off x="9189720" y="2404872"/>
            <a:ext cx="2377440" cy="411480"/>
          </a:xfrm>
          <a:prstGeom prst="rect">
            <a:avLst/>
          </a:prstGeom>
          <a:noFill/>
          <a:ln/>
        </p:spPr>
        <p:txBody>
          <a:bodyPr wrap="square" lIns="0" tIns="0" rIns="0" bIns="0" rtlCol="0" anchor="ctr"/>
          <a:lstStyle/>
          <a:p>
            <a:pPr indent="0" marL="0">
              <a:lnSpc>
                <a:spcPct val="110000"/>
              </a:lnSpc>
              <a:buNone/>
            </a:pPr>
            <a:r>
              <a:rPr lang="en-US" sz="950" dirty="0">
                <a:solidFill>
                  <a:srgbClr val="5B6B7B"/>
                </a:solidFill>
                <a:latin typeface="Calibri" pitchFamily="34" charset="0"/>
                <a:ea typeface="Calibri" pitchFamily="34" charset="-122"/>
                <a:cs typeface="Calibri" pitchFamily="34" charset="-120"/>
              </a:rPr>
              <a:t>pasar de uno a dos</a:t>
            </a:r>
            <a:endParaRPr lang="en-US" sz="950" dirty="0"/>
          </a:p>
        </p:txBody>
      </p:sp>
      <p:sp>
        <p:nvSpPr>
          <p:cNvPr id="32" name="Shape 30"/>
          <p:cNvSpPr/>
          <p:nvPr/>
        </p:nvSpPr>
        <p:spPr>
          <a:xfrm>
            <a:off x="6446520" y="3017520"/>
            <a:ext cx="5120640" cy="1234440"/>
          </a:xfrm>
          <a:prstGeom prst="roundRect">
            <a:avLst>
              <a:gd name="adj" fmla="val 4444"/>
            </a:avLst>
          </a:prstGeom>
          <a:solidFill>
            <a:srgbClr val="F7E9D8"/>
          </a:solidFill>
          <a:ln w="12700">
            <a:solidFill>
              <a:srgbClr val="333333"/>
            </a:solidFill>
            <a:prstDash val="solid"/>
          </a:ln>
        </p:spPr>
      </p:sp>
      <p:sp>
        <p:nvSpPr>
          <p:cNvPr id="33" name="Text 31"/>
          <p:cNvSpPr/>
          <p:nvPr/>
        </p:nvSpPr>
        <p:spPr>
          <a:xfrm>
            <a:off x="6675120" y="3145536"/>
            <a:ext cx="4663440" cy="978408"/>
          </a:xfrm>
          <a:prstGeom prst="rect">
            <a:avLst/>
          </a:prstGeom>
          <a:noFill/>
          <a:ln/>
        </p:spPr>
        <p:txBody>
          <a:bodyPr wrap="square" lIns="0" tIns="0" rIns="0" bIns="0" rtlCol="0" anchor="t"/>
          <a:lstStyle/>
          <a:p>
            <a:pPr indent="0" marL="0">
              <a:lnSpc>
                <a:spcPct val="118000"/>
              </a:lnSpc>
              <a:buNone/>
            </a:pPr>
            <a:r>
              <a:rPr lang="en-US" sz="1000" b="1" dirty="0">
                <a:solidFill>
                  <a:srgbClr val="A85B12"/>
                </a:solidFill>
                <a:latin typeface="Calibri" pitchFamily="34" charset="0"/>
                <a:ea typeface="Calibri" pitchFamily="34" charset="-122"/>
                <a:cs typeface="Calibri" pitchFamily="34" charset="-120"/>
              </a:rPr>
              <a:t>Y el resultado contraintuitivo: </a:t>
            </a:r>
            <a:pPr indent="0" marL="0">
              <a:lnSpc>
                <a:spcPct val="118000"/>
              </a:lnSpc>
              <a:buNone/>
            </a:pPr>
            <a:r>
              <a:rPr lang="en-US" sz="1000" dirty="0">
                <a:solidFill>
                  <a:srgbClr val="5B6B7B"/>
                </a:solidFill>
                <a:latin typeface="Calibri" pitchFamily="34" charset="0"/>
                <a:ea typeface="Calibri" pitchFamily="34" charset="-122"/>
                <a:cs typeface="Calibri" pitchFamily="34" charset="-120"/>
              </a:rPr>
              <a:t>con fragmentos chicos, agregar un segundo minero empeoró el tiempo. El fragmento ya era tan corto que uno solo alcanzaba.</a:t>
            </a:r>
            <a:endParaRPr lang="en-US" sz="1000" dirty="0"/>
          </a:p>
        </p:txBody>
      </p:sp>
      <p:sp>
        <p:nvSpPr>
          <p:cNvPr id="34" name="Shape 32"/>
          <p:cNvSpPr/>
          <p:nvPr/>
        </p:nvSpPr>
        <p:spPr>
          <a:xfrm>
            <a:off x="594360" y="4343400"/>
            <a:ext cx="10972800" cy="1097280"/>
          </a:xfrm>
          <a:prstGeom prst="roundRect">
            <a:avLst>
              <a:gd name="adj" fmla="val 5000"/>
            </a:avLst>
          </a:prstGeom>
          <a:solidFill>
            <a:srgbClr val="DCEFE6"/>
          </a:solidFill>
          <a:ln w="12700">
            <a:solidFill>
              <a:srgbClr val="333333"/>
            </a:solidFill>
            <a:prstDash val="solid"/>
          </a:ln>
        </p:spPr>
      </p:sp>
      <p:sp>
        <p:nvSpPr>
          <p:cNvPr id="35" name="Text 33"/>
          <p:cNvSpPr/>
          <p:nvPr/>
        </p:nvSpPr>
        <p:spPr>
          <a:xfrm>
            <a:off x="822960" y="4471416"/>
            <a:ext cx="10515600" cy="84124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La síntesis de los dos pilares: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el Pilar 1 midió que la GPU hashea 127 veces más rápido. Pero a nivel sistema, la palanca dominante resultó ser cómo se reparte el trabajo — porque en esas dificultades el cuello de botella no era el hasheo. Optimizar el componente más llamativo no sirve si el problema está en otro lado.</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RESULTADOS</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28 / 30</a:t>
            </a:r>
            <a:endParaRPr lang="en-US" sz="900" dirty="0"/>
          </a:p>
        </p:txBody>
      </p:sp>
      <p:sp>
        <p:nvSpPr>
          <p:cNvPr id="5" name="Shape 3"/>
          <p:cNvSpPr/>
          <p:nvPr/>
        </p:nvSpPr>
        <p:spPr>
          <a:xfrm>
            <a:off x="0" y="6803136"/>
            <a:ext cx="11350752"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RESULTADOS MEDIDOS</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Dos defectos que aparecieron al medir</a:t>
            </a:r>
            <a:endParaRPr lang="en-US" sz="2700" dirty="0"/>
          </a:p>
        </p:txBody>
      </p:sp>
      <p:sp>
        <p:nvSpPr>
          <p:cNvPr id="8" name="Shape 6"/>
          <p:cNvSpPr/>
          <p:nvPr/>
        </p:nvSpPr>
        <p:spPr>
          <a:xfrm>
            <a:off x="594360" y="1554480"/>
            <a:ext cx="5349240" cy="1965960"/>
          </a:xfrm>
          <a:prstGeom prst="roundRect">
            <a:avLst>
              <a:gd name="adj" fmla="val 2791"/>
            </a:avLst>
          </a:prstGeom>
          <a:solidFill>
            <a:srgbClr val="F0F3F6"/>
          </a:solidFill>
          <a:ln w="12700">
            <a:solidFill>
              <a:srgbClr val="333333"/>
            </a:solidFill>
            <a:prstDash val="solid"/>
          </a:ln>
        </p:spPr>
      </p:sp>
      <p:sp>
        <p:nvSpPr>
          <p:cNvPr id="9" name="Shape 7"/>
          <p:cNvSpPr/>
          <p:nvPr/>
        </p:nvSpPr>
        <p:spPr>
          <a:xfrm>
            <a:off x="795528" y="1719072"/>
            <a:ext cx="980237" cy="237744"/>
          </a:xfrm>
          <a:prstGeom prst="roundRect">
            <a:avLst>
              <a:gd name="adj" fmla="val 19231"/>
            </a:avLst>
          </a:prstGeom>
          <a:solidFill>
            <a:srgbClr val="F7E9D8"/>
          </a:solidFill>
          <a:ln w="12700">
            <a:solidFill>
              <a:srgbClr val="333333"/>
            </a:solidFill>
            <a:prstDash val="solid"/>
          </a:ln>
        </p:spPr>
      </p:sp>
      <p:sp>
        <p:nvSpPr>
          <p:cNvPr id="10" name="Text 8"/>
          <p:cNvSpPr/>
          <p:nvPr/>
        </p:nvSpPr>
        <p:spPr>
          <a:xfrm>
            <a:off x="795528" y="1719072"/>
            <a:ext cx="980237" cy="237744"/>
          </a:xfrm>
          <a:prstGeom prst="rect">
            <a:avLst/>
          </a:prstGeom>
          <a:noFill/>
          <a:ln/>
        </p:spPr>
        <p:txBody>
          <a:bodyPr wrap="square" lIns="0" tIns="0" rIns="0" bIns="0" rtlCol="0" anchor="ctr"/>
          <a:lstStyle/>
          <a:p>
            <a:pPr algn="ctr" indent="0" marL="0">
              <a:buNone/>
            </a:pPr>
            <a:r>
              <a:rPr lang="en-US" sz="900" dirty="0">
                <a:solidFill>
                  <a:srgbClr val="A85B12"/>
                </a:solidFill>
                <a:latin typeface="Consolas" pitchFamily="34" charset="0"/>
                <a:ea typeface="Consolas" pitchFamily="34" charset="-122"/>
                <a:cs typeface="Consolas" pitchFamily="34" charset="-120"/>
              </a:rPr>
              <a:t>Defecto 1</a:t>
            </a:r>
            <a:endParaRPr lang="en-US" sz="900" dirty="0"/>
          </a:p>
        </p:txBody>
      </p:sp>
      <p:sp>
        <p:nvSpPr>
          <p:cNvPr id="11" name="Text 9"/>
          <p:cNvSpPr/>
          <p:nvPr/>
        </p:nvSpPr>
        <p:spPr>
          <a:xfrm>
            <a:off x="795528" y="2066544"/>
            <a:ext cx="49469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Se buscaba en el lugar equivocado</a:t>
            </a:r>
            <a:endParaRPr lang="en-US" sz="1250" dirty="0"/>
          </a:p>
        </p:txBody>
      </p:sp>
      <p:sp>
        <p:nvSpPr>
          <p:cNvPr id="12" name="Text 10"/>
          <p:cNvSpPr/>
          <p:nvPr/>
        </p:nvSpPr>
        <p:spPr>
          <a:xfrm>
            <a:off x="795528" y="2377440"/>
            <a:ext cx="4946904" cy="100584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El espacio de nonces estaba fijo en 10 millones dentro del código. Para un prefijo de 6 ceros el nonce esperado son 16,8 millones: la solución no estaba dentro del espacio que se barría. No era un límite de cómputo, era una constante mal dimensionada.</a:t>
            </a:r>
            <a:endParaRPr lang="en-US" sz="1000" dirty="0"/>
          </a:p>
        </p:txBody>
      </p:sp>
      <p:sp>
        <p:nvSpPr>
          <p:cNvPr id="13" name="Shape 11"/>
          <p:cNvSpPr/>
          <p:nvPr/>
        </p:nvSpPr>
        <p:spPr>
          <a:xfrm>
            <a:off x="6217920" y="1554480"/>
            <a:ext cx="5349240" cy="1965960"/>
          </a:xfrm>
          <a:prstGeom prst="roundRect">
            <a:avLst>
              <a:gd name="adj" fmla="val 2791"/>
            </a:avLst>
          </a:prstGeom>
          <a:solidFill>
            <a:srgbClr val="F0F3F6"/>
          </a:solidFill>
          <a:ln w="12700">
            <a:solidFill>
              <a:srgbClr val="333333"/>
            </a:solidFill>
            <a:prstDash val="solid"/>
          </a:ln>
        </p:spPr>
      </p:sp>
      <p:sp>
        <p:nvSpPr>
          <p:cNvPr id="14" name="Shape 12"/>
          <p:cNvSpPr/>
          <p:nvPr/>
        </p:nvSpPr>
        <p:spPr>
          <a:xfrm>
            <a:off x="6419088" y="1719072"/>
            <a:ext cx="980237" cy="237744"/>
          </a:xfrm>
          <a:prstGeom prst="roundRect">
            <a:avLst>
              <a:gd name="adj" fmla="val 19231"/>
            </a:avLst>
          </a:prstGeom>
          <a:solidFill>
            <a:srgbClr val="F7E9D8"/>
          </a:solidFill>
          <a:ln w="12700">
            <a:solidFill>
              <a:srgbClr val="333333"/>
            </a:solidFill>
            <a:prstDash val="solid"/>
          </a:ln>
        </p:spPr>
      </p:sp>
      <p:sp>
        <p:nvSpPr>
          <p:cNvPr id="15" name="Text 13"/>
          <p:cNvSpPr/>
          <p:nvPr/>
        </p:nvSpPr>
        <p:spPr>
          <a:xfrm>
            <a:off x="6419088" y="1719072"/>
            <a:ext cx="980237" cy="237744"/>
          </a:xfrm>
          <a:prstGeom prst="rect">
            <a:avLst/>
          </a:prstGeom>
          <a:noFill/>
          <a:ln/>
        </p:spPr>
        <p:txBody>
          <a:bodyPr wrap="square" lIns="0" tIns="0" rIns="0" bIns="0" rtlCol="0" anchor="ctr"/>
          <a:lstStyle/>
          <a:p>
            <a:pPr algn="ctr" indent="0" marL="0">
              <a:buNone/>
            </a:pPr>
            <a:r>
              <a:rPr lang="en-US" sz="900" dirty="0">
                <a:solidFill>
                  <a:srgbClr val="A85B12"/>
                </a:solidFill>
                <a:latin typeface="Consolas" pitchFamily="34" charset="0"/>
                <a:ea typeface="Consolas" pitchFamily="34" charset="-122"/>
                <a:cs typeface="Consolas" pitchFamily="34" charset="-120"/>
              </a:rPr>
              <a:t>Defecto 2</a:t>
            </a:r>
            <a:endParaRPr lang="en-US" sz="900" dirty="0"/>
          </a:p>
        </p:txBody>
      </p:sp>
      <p:sp>
        <p:nvSpPr>
          <p:cNvPr id="16" name="Text 14"/>
          <p:cNvSpPr/>
          <p:nvPr/>
        </p:nvSpPr>
        <p:spPr>
          <a:xfrm>
            <a:off x="6419088" y="2066544"/>
            <a:ext cx="4946904"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Nadie cancelaba el trabajo obsoleto</a:t>
            </a:r>
            <a:endParaRPr lang="en-US" sz="1250" dirty="0"/>
          </a:p>
        </p:txBody>
      </p:sp>
      <p:sp>
        <p:nvSpPr>
          <p:cNvPr id="17" name="Text 15"/>
          <p:cNvSpPr/>
          <p:nvPr/>
        </p:nvSpPr>
        <p:spPr>
          <a:xfrm>
            <a:off x="6419088" y="2377440"/>
            <a:ext cx="4946904" cy="1005840"/>
          </a:xfrm>
          <a:prstGeom prst="rect">
            <a:avLst/>
          </a:prstGeom>
          <a:noFill/>
          <a:ln/>
        </p:spPr>
        <p:txBody>
          <a:bodyPr wrap="square" lIns="0" tIns="0" rIns="0" bIns="0" rtlCol="0" anchor="ctr"/>
          <a:lstStyle/>
          <a:p>
            <a:pPr indent="0" marL="0">
              <a:lnSpc>
                <a:spcPct val="115000"/>
              </a:lnSpc>
              <a:buNone/>
            </a:pPr>
            <a:r>
              <a:rPr lang="en-US" sz="1000" dirty="0">
                <a:solidFill>
                  <a:srgbClr val="5B6B7B"/>
                </a:solidFill>
                <a:latin typeface="Calibri" pitchFamily="34" charset="0"/>
                <a:ea typeface="Calibri" pitchFamily="34" charset="-122"/>
                <a:cs typeface="Calibri" pitchFamily="34" charset="-120"/>
              </a:rPr>
              <a:t>Cuando un minero encuentra el nonce, los demás fragmentos siguen encolados y se procesan igual. Y como la cola es de orden estricto, el intento siguiente espera detrás. Medido: 8 intentos y 160 fragmentos para un solo bloque.</a:t>
            </a:r>
            <a:endParaRPr lang="en-US" sz="1000" dirty="0"/>
          </a:p>
        </p:txBody>
      </p:sp>
      <p:sp>
        <p:nvSpPr>
          <p:cNvPr id="18" name="Text 16"/>
          <p:cNvSpPr/>
          <p:nvPr/>
        </p:nvSpPr>
        <p:spPr>
          <a:xfrm>
            <a:off x="594360" y="3749040"/>
            <a:ext cx="2606040" cy="566928"/>
          </a:xfrm>
          <a:prstGeom prst="rect">
            <a:avLst/>
          </a:prstGeom>
          <a:noFill/>
          <a:ln/>
        </p:spPr>
        <p:txBody>
          <a:bodyPr wrap="square" lIns="0" tIns="0" rIns="0" bIns="0" rtlCol="0" anchor="ctr"/>
          <a:lstStyle/>
          <a:p>
            <a:pPr indent="0" marL="0">
              <a:buNone/>
            </a:pPr>
            <a:r>
              <a:rPr lang="en-US" sz="2400" b="1" dirty="0">
                <a:solidFill>
                  <a:srgbClr val="A85B12"/>
                </a:solidFill>
                <a:latin typeface="Cambria" pitchFamily="34" charset="0"/>
                <a:ea typeface="Cambria" pitchFamily="34" charset="-122"/>
                <a:cs typeface="Cambria" pitchFamily="34" charset="-120"/>
              </a:rPr>
              <a:t>250,9 s</a:t>
            </a:r>
            <a:endParaRPr lang="en-US" sz="2400" dirty="0"/>
          </a:p>
        </p:txBody>
      </p:sp>
      <p:sp>
        <p:nvSpPr>
          <p:cNvPr id="19" name="Text 17"/>
          <p:cNvSpPr/>
          <p:nvPr/>
        </p:nvSpPr>
        <p:spPr>
          <a:xfrm>
            <a:off x="594360" y="4315968"/>
            <a:ext cx="2606040" cy="256032"/>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antes</a:t>
            </a:r>
            <a:endParaRPr lang="en-US" sz="1050" dirty="0"/>
          </a:p>
        </p:txBody>
      </p:sp>
      <p:sp>
        <p:nvSpPr>
          <p:cNvPr id="20" name="Text 18"/>
          <p:cNvSpPr/>
          <p:nvPr/>
        </p:nvSpPr>
        <p:spPr>
          <a:xfrm>
            <a:off x="594360" y="4553712"/>
            <a:ext cx="2606040" cy="411480"/>
          </a:xfrm>
          <a:prstGeom prst="rect">
            <a:avLst/>
          </a:prstGeom>
          <a:noFill/>
          <a:ln/>
        </p:spPr>
        <p:txBody>
          <a:bodyPr wrap="square" lIns="0" tIns="0" rIns="0" bIns="0" rtlCol="0" anchor="ctr"/>
          <a:lstStyle/>
          <a:p>
            <a:pPr indent="0" marL="0">
              <a:lnSpc>
                <a:spcPct val="110000"/>
              </a:lnSpc>
              <a:buNone/>
            </a:pPr>
            <a:r>
              <a:rPr lang="en-US" sz="950" dirty="0">
                <a:solidFill>
                  <a:srgbClr val="5B6B7B"/>
                </a:solidFill>
                <a:latin typeface="Calibri" pitchFamily="34" charset="0"/>
                <a:ea typeface="Calibri" pitchFamily="34" charset="-122"/>
                <a:cs typeface="Calibri" pitchFamily="34" charset="-120"/>
              </a:rPr>
              <a:t>tiempo total</a:t>
            </a:r>
            <a:endParaRPr lang="en-US" sz="950" dirty="0"/>
          </a:p>
        </p:txBody>
      </p:sp>
      <p:sp>
        <p:nvSpPr>
          <p:cNvPr id="21" name="Text 19"/>
          <p:cNvSpPr/>
          <p:nvPr/>
        </p:nvSpPr>
        <p:spPr>
          <a:xfrm>
            <a:off x="3337560" y="3749040"/>
            <a:ext cx="2606040" cy="566928"/>
          </a:xfrm>
          <a:prstGeom prst="rect">
            <a:avLst/>
          </a:prstGeom>
          <a:noFill/>
          <a:ln/>
        </p:spPr>
        <p:txBody>
          <a:bodyPr wrap="square" lIns="0" tIns="0" rIns="0" bIns="0" rtlCol="0" anchor="ctr"/>
          <a:lstStyle/>
          <a:p>
            <a:pPr indent="0" marL="0">
              <a:buNone/>
            </a:pPr>
            <a:r>
              <a:rPr lang="en-US" sz="2400" b="1" dirty="0">
                <a:solidFill>
                  <a:srgbClr val="0B6E4F"/>
                </a:solidFill>
                <a:latin typeface="Cambria" pitchFamily="34" charset="0"/>
                <a:ea typeface="Cambria" pitchFamily="34" charset="-122"/>
                <a:cs typeface="Cambria" pitchFamily="34" charset="-120"/>
              </a:rPr>
              <a:t>37,6 s</a:t>
            </a:r>
            <a:endParaRPr lang="en-US" sz="2400" dirty="0"/>
          </a:p>
        </p:txBody>
      </p:sp>
      <p:sp>
        <p:nvSpPr>
          <p:cNvPr id="22" name="Text 20"/>
          <p:cNvSpPr/>
          <p:nvPr/>
        </p:nvSpPr>
        <p:spPr>
          <a:xfrm>
            <a:off x="3337560" y="4315968"/>
            <a:ext cx="2606040" cy="256032"/>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después</a:t>
            </a:r>
            <a:endParaRPr lang="en-US" sz="1050" dirty="0"/>
          </a:p>
        </p:txBody>
      </p:sp>
      <p:sp>
        <p:nvSpPr>
          <p:cNvPr id="23" name="Text 21"/>
          <p:cNvSpPr/>
          <p:nvPr/>
        </p:nvSpPr>
        <p:spPr>
          <a:xfrm>
            <a:off x="3337560" y="4553712"/>
            <a:ext cx="2606040" cy="411480"/>
          </a:xfrm>
          <a:prstGeom prst="rect">
            <a:avLst/>
          </a:prstGeom>
          <a:noFill/>
          <a:ln/>
        </p:spPr>
        <p:txBody>
          <a:bodyPr wrap="square" lIns="0" tIns="0" rIns="0" bIns="0" rtlCol="0" anchor="ctr"/>
          <a:lstStyle/>
          <a:p>
            <a:pPr indent="0" marL="0">
              <a:lnSpc>
                <a:spcPct val="110000"/>
              </a:lnSpc>
              <a:buNone/>
            </a:pPr>
            <a:r>
              <a:rPr lang="en-US" sz="950" dirty="0">
                <a:solidFill>
                  <a:srgbClr val="5B6B7B"/>
                </a:solidFill>
                <a:latin typeface="Calibri" pitchFamily="34" charset="0"/>
                <a:ea typeface="Calibri" pitchFamily="34" charset="-122"/>
                <a:cs typeface="Calibri" pitchFamily="34" charset="-120"/>
              </a:rPr>
              <a:t>tiempo total</a:t>
            </a:r>
            <a:endParaRPr lang="en-US" sz="950" dirty="0"/>
          </a:p>
        </p:txBody>
      </p:sp>
      <p:sp>
        <p:nvSpPr>
          <p:cNvPr id="24" name="Text 22"/>
          <p:cNvSpPr/>
          <p:nvPr/>
        </p:nvSpPr>
        <p:spPr>
          <a:xfrm>
            <a:off x="6080760" y="3749040"/>
            <a:ext cx="2606040" cy="566928"/>
          </a:xfrm>
          <a:prstGeom prst="rect">
            <a:avLst/>
          </a:prstGeom>
          <a:noFill/>
          <a:ln/>
        </p:spPr>
        <p:txBody>
          <a:bodyPr wrap="square" lIns="0" tIns="0" rIns="0" bIns="0" rtlCol="0" anchor="ctr"/>
          <a:lstStyle/>
          <a:p>
            <a:pPr indent="0" marL="0">
              <a:buNone/>
            </a:pPr>
            <a:r>
              <a:rPr lang="en-US" sz="2400" b="1" dirty="0">
                <a:solidFill>
                  <a:srgbClr val="A85B12"/>
                </a:solidFill>
                <a:latin typeface="Cambria" pitchFamily="34" charset="0"/>
                <a:ea typeface="Cambria" pitchFamily="34" charset="-122"/>
                <a:cs typeface="Cambria" pitchFamily="34" charset="-120"/>
              </a:rPr>
              <a:t>8 de 10</a:t>
            </a:r>
            <a:endParaRPr lang="en-US" sz="2400" dirty="0"/>
          </a:p>
        </p:txBody>
      </p:sp>
      <p:sp>
        <p:nvSpPr>
          <p:cNvPr id="25" name="Text 23"/>
          <p:cNvSpPr/>
          <p:nvPr/>
        </p:nvSpPr>
        <p:spPr>
          <a:xfrm>
            <a:off x="6080760" y="4315968"/>
            <a:ext cx="2606040" cy="256032"/>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antes</a:t>
            </a:r>
            <a:endParaRPr lang="en-US" sz="1050" dirty="0"/>
          </a:p>
        </p:txBody>
      </p:sp>
      <p:sp>
        <p:nvSpPr>
          <p:cNvPr id="26" name="Text 24"/>
          <p:cNvSpPr/>
          <p:nvPr/>
        </p:nvSpPr>
        <p:spPr>
          <a:xfrm>
            <a:off x="6080760" y="4553712"/>
            <a:ext cx="2606040" cy="411480"/>
          </a:xfrm>
          <a:prstGeom prst="rect">
            <a:avLst/>
          </a:prstGeom>
          <a:noFill/>
          <a:ln/>
        </p:spPr>
        <p:txBody>
          <a:bodyPr wrap="square" lIns="0" tIns="0" rIns="0" bIns="0" rtlCol="0" anchor="ctr"/>
          <a:lstStyle/>
          <a:p>
            <a:pPr indent="0" marL="0">
              <a:lnSpc>
                <a:spcPct val="110000"/>
              </a:lnSpc>
              <a:buNone/>
            </a:pPr>
            <a:r>
              <a:rPr lang="en-US" sz="950" dirty="0">
                <a:solidFill>
                  <a:srgbClr val="5B6B7B"/>
                </a:solidFill>
                <a:latin typeface="Calibri" pitchFamily="34" charset="0"/>
                <a:ea typeface="Calibri" pitchFamily="34" charset="-122"/>
                <a:cs typeface="Calibri" pitchFamily="34" charset="-120"/>
              </a:rPr>
              <a:t>confirmadas</a:t>
            </a:r>
            <a:endParaRPr lang="en-US" sz="950" dirty="0"/>
          </a:p>
        </p:txBody>
      </p:sp>
      <p:sp>
        <p:nvSpPr>
          <p:cNvPr id="27" name="Text 25"/>
          <p:cNvSpPr/>
          <p:nvPr/>
        </p:nvSpPr>
        <p:spPr>
          <a:xfrm>
            <a:off x="8823960" y="3749040"/>
            <a:ext cx="2606040" cy="566928"/>
          </a:xfrm>
          <a:prstGeom prst="rect">
            <a:avLst/>
          </a:prstGeom>
          <a:noFill/>
          <a:ln/>
        </p:spPr>
        <p:txBody>
          <a:bodyPr wrap="square" lIns="0" tIns="0" rIns="0" bIns="0" rtlCol="0" anchor="ctr"/>
          <a:lstStyle/>
          <a:p>
            <a:pPr indent="0" marL="0">
              <a:buNone/>
            </a:pPr>
            <a:r>
              <a:rPr lang="en-US" sz="2400" b="1" dirty="0">
                <a:solidFill>
                  <a:srgbClr val="0B6E4F"/>
                </a:solidFill>
                <a:latin typeface="Cambria" pitchFamily="34" charset="0"/>
                <a:ea typeface="Cambria" pitchFamily="34" charset="-122"/>
                <a:cs typeface="Cambria" pitchFamily="34" charset="-120"/>
              </a:rPr>
              <a:t>10 de 10</a:t>
            </a:r>
            <a:endParaRPr lang="en-US" sz="2400" dirty="0"/>
          </a:p>
        </p:txBody>
      </p:sp>
      <p:sp>
        <p:nvSpPr>
          <p:cNvPr id="28" name="Text 26"/>
          <p:cNvSpPr/>
          <p:nvPr/>
        </p:nvSpPr>
        <p:spPr>
          <a:xfrm>
            <a:off x="8823960" y="4315968"/>
            <a:ext cx="2606040" cy="256032"/>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después</a:t>
            </a:r>
            <a:endParaRPr lang="en-US" sz="1050" dirty="0"/>
          </a:p>
        </p:txBody>
      </p:sp>
      <p:sp>
        <p:nvSpPr>
          <p:cNvPr id="29" name="Text 27"/>
          <p:cNvSpPr/>
          <p:nvPr/>
        </p:nvSpPr>
        <p:spPr>
          <a:xfrm>
            <a:off x="8823960" y="4553712"/>
            <a:ext cx="2606040" cy="411480"/>
          </a:xfrm>
          <a:prstGeom prst="rect">
            <a:avLst/>
          </a:prstGeom>
          <a:noFill/>
          <a:ln/>
        </p:spPr>
        <p:txBody>
          <a:bodyPr wrap="square" lIns="0" tIns="0" rIns="0" bIns="0" rtlCol="0" anchor="ctr"/>
          <a:lstStyle/>
          <a:p>
            <a:pPr indent="0" marL="0">
              <a:lnSpc>
                <a:spcPct val="110000"/>
              </a:lnSpc>
              <a:buNone/>
            </a:pPr>
            <a:r>
              <a:rPr lang="en-US" sz="950" dirty="0">
                <a:solidFill>
                  <a:srgbClr val="5B6B7B"/>
                </a:solidFill>
                <a:latin typeface="Calibri" pitchFamily="34" charset="0"/>
                <a:ea typeface="Calibri" pitchFamily="34" charset="-122"/>
                <a:cs typeface="Calibri" pitchFamily="34" charset="-120"/>
              </a:rPr>
              <a:t>confirmadas</a:t>
            </a:r>
            <a:endParaRPr lang="en-US" sz="950" dirty="0"/>
          </a:p>
        </p:txBody>
      </p:sp>
      <p:sp>
        <p:nvSpPr>
          <p:cNvPr id="30" name="Text 28"/>
          <p:cNvSpPr/>
          <p:nvPr/>
        </p:nvSpPr>
        <p:spPr>
          <a:xfrm>
            <a:off x="594360" y="5029200"/>
            <a:ext cx="10972800" cy="777240"/>
          </a:xfrm>
          <a:prstGeom prst="rect">
            <a:avLst/>
          </a:prstGeom>
          <a:noFill/>
          <a:ln/>
        </p:spPr>
        <p:txBody>
          <a:bodyPr wrap="square" lIns="0" tIns="0" rIns="0" bIns="0" rtlCol="0" anchor="ctr"/>
          <a:lstStyle/>
          <a:p>
            <a:pPr indent="0" marL="0">
              <a:lnSpc>
                <a:spcPct val="115000"/>
              </a:lnSpc>
              <a:buNone/>
            </a:pPr>
            <a:r>
              <a:rPr lang="en-US" sz="1050" b="1" dirty="0">
                <a:solidFill>
                  <a:srgbClr val="10202F"/>
                </a:solidFill>
                <a:latin typeface="Calibri" pitchFamily="34" charset="0"/>
                <a:ea typeface="Calibri" pitchFamily="34" charset="-122"/>
                <a:cs typeface="Calibri" pitchFamily="34" charset="-120"/>
              </a:rPr>
              <a:t>6,3 veces más rápido y sin transacciones perdidas. </a:t>
            </a:r>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El arreglo fue chico —el coordinador ya limpiaba una cola, faltaba hacer lo mismo con la otra— pero encontrarlo requirió preguntarse por qué un número no cerraba con otro.</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RESULTADOS</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29 / 30</a:t>
            </a:r>
            <a:endParaRPr lang="en-US" sz="900" dirty="0"/>
          </a:p>
        </p:txBody>
      </p:sp>
      <p:sp>
        <p:nvSpPr>
          <p:cNvPr id="5" name="Shape 3"/>
          <p:cNvSpPr/>
          <p:nvPr/>
        </p:nvSpPr>
        <p:spPr>
          <a:xfrm>
            <a:off x="0" y="6803136"/>
            <a:ext cx="11756136"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RESULTADOS MEDIDOS</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Comportamiento bajo carga</a:t>
            </a:r>
            <a:endParaRPr lang="en-US" sz="2700" dirty="0"/>
          </a:p>
        </p:txBody>
      </p:sp>
      <p:sp>
        <p:nvSpPr>
          <p:cNvPr id="8" name="Text 6"/>
          <p:cNvSpPr/>
          <p:nvPr/>
        </p:nvSpPr>
        <p:spPr>
          <a:xfrm>
            <a:off x="594360" y="1600200"/>
            <a:ext cx="2560320" cy="566928"/>
          </a:xfrm>
          <a:prstGeom prst="rect">
            <a:avLst/>
          </a:prstGeom>
          <a:noFill/>
          <a:ln/>
        </p:spPr>
        <p:txBody>
          <a:bodyPr wrap="square" lIns="0" tIns="0" rIns="0" bIns="0" rtlCol="0" anchor="ctr"/>
          <a:lstStyle/>
          <a:p>
            <a:pPr indent="0" marL="0">
              <a:buNone/>
            </a:pPr>
            <a:r>
              <a:rPr lang="en-US" sz="2600" b="1" dirty="0">
                <a:solidFill>
                  <a:srgbClr val="0B6E4F"/>
                </a:solidFill>
                <a:latin typeface="Cambria" pitchFamily="34" charset="0"/>
                <a:ea typeface="Cambria" pitchFamily="34" charset="-122"/>
                <a:cs typeface="Cambria" pitchFamily="34" charset="-120"/>
              </a:rPr>
              <a:t>10.000</a:t>
            </a:r>
            <a:endParaRPr lang="en-US" sz="2600" dirty="0"/>
          </a:p>
        </p:txBody>
      </p:sp>
      <p:sp>
        <p:nvSpPr>
          <p:cNvPr id="9" name="Text 7"/>
          <p:cNvSpPr/>
          <p:nvPr/>
        </p:nvSpPr>
        <p:spPr>
          <a:xfrm>
            <a:off x="594360" y="2167128"/>
            <a:ext cx="2560320" cy="256032"/>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de 10.000 confirmadas</a:t>
            </a:r>
            <a:endParaRPr lang="en-US" sz="1050" dirty="0"/>
          </a:p>
        </p:txBody>
      </p:sp>
      <p:sp>
        <p:nvSpPr>
          <p:cNvPr id="10" name="Text 8"/>
          <p:cNvSpPr/>
          <p:nvPr/>
        </p:nvSpPr>
        <p:spPr>
          <a:xfrm>
            <a:off x="594360" y="2404872"/>
            <a:ext cx="2560320" cy="411480"/>
          </a:xfrm>
          <a:prstGeom prst="rect">
            <a:avLst/>
          </a:prstGeom>
          <a:noFill/>
          <a:ln/>
        </p:spPr>
        <p:txBody>
          <a:bodyPr wrap="square" lIns="0" tIns="0" rIns="0" bIns="0" rtlCol="0" anchor="ctr"/>
          <a:lstStyle/>
          <a:p>
            <a:pPr indent="0" marL="0">
              <a:lnSpc>
                <a:spcPct val="110000"/>
              </a:lnSpc>
              <a:buNone/>
            </a:pPr>
            <a:r>
              <a:rPr lang="en-US" sz="950" dirty="0">
                <a:solidFill>
                  <a:srgbClr val="5B6B7B"/>
                </a:solidFill>
                <a:latin typeface="Calibri" pitchFamily="34" charset="0"/>
                <a:ea typeface="Calibri" pitchFamily="34" charset="-122"/>
                <a:cs typeface="Calibri" pitchFamily="34" charset="-120"/>
              </a:rPr>
              <a:t>cero transacciones perdidas</a:t>
            </a:r>
            <a:endParaRPr lang="en-US" sz="950" dirty="0"/>
          </a:p>
        </p:txBody>
      </p:sp>
      <p:sp>
        <p:nvSpPr>
          <p:cNvPr id="11" name="Text 9"/>
          <p:cNvSpPr/>
          <p:nvPr/>
        </p:nvSpPr>
        <p:spPr>
          <a:xfrm>
            <a:off x="3337560" y="1600200"/>
            <a:ext cx="2560320" cy="566928"/>
          </a:xfrm>
          <a:prstGeom prst="rect">
            <a:avLst/>
          </a:prstGeom>
          <a:noFill/>
          <a:ln/>
        </p:spPr>
        <p:txBody>
          <a:bodyPr wrap="square" lIns="0" tIns="0" rIns="0" bIns="0" rtlCol="0" anchor="ctr"/>
          <a:lstStyle/>
          <a:p>
            <a:pPr indent="0" marL="0">
              <a:buNone/>
            </a:pPr>
            <a:r>
              <a:rPr lang="en-US" sz="2600" b="1" dirty="0">
                <a:solidFill>
                  <a:srgbClr val="10202F"/>
                </a:solidFill>
                <a:latin typeface="Cambria" pitchFamily="34" charset="0"/>
                <a:ea typeface="Cambria" pitchFamily="34" charset="-122"/>
                <a:cs typeface="Cambria" pitchFamily="34" charset="-120"/>
              </a:rPr>
              <a:t>37,5</a:t>
            </a:r>
            <a:endParaRPr lang="en-US" sz="2600" dirty="0"/>
          </a:p>
        </p:txBody>
      </p:sp>
      <p:sp>
        <p:nvSpPr>
          <p:cNvPr id="12" name="Text 10"/>
          <p:cNvSpPr/>
          <p:nvPr/>
        </p:nvSpPr>
        <p:spPr>
          <a:xfrm>
            <a:off x="3337560" y="2167128"/>
            <a:ext cx="2560320" cy="256032"/>
          </a:xfrm>
          <a:prstGeom prst="rect">
            <a:avLst/>
          </a:prstGeom>
          <a:noFill/>
          <a:ln/>
        </p:spPr>
        <p:txBody>
          <a:bodyPr wrap="square" lIns="0" tIns="0" rIns="0" bIns="0" rtlCol="0" anchor="ctr"/>
          <a:lstStyle/>
          <a:p>
            <a:pPr indent="0" marL="0">
              <a:buNone/>
            </a:pPr>
            <a:r>
              <a:rPr lang="en-US" sz="1050" b="1" dirty="0">
                <a:solidFill>
                  <a:srgbClr val="10202F"/>
                </a:solidFill>
                <a:latin typeface="Calibri" pitchFamily="34" charset="0"/>
                <a:ea typeface="Calibri" pitchFamily="34" charset="-122"/>
                <a:cs typeface="Calibri" pitchFamily="34" charset="-120"/>
              </a:rPr>
              <a:t>por segundo</a:t>
            </a:r>
            <a:endParaRPr lang="en-US" sz="1050" dirty="0"/>
          </a:p>
        </p:txBody>
      </p:sp>
      <p:sp>
        <p:nvSpPr>
          <p:cNvPr id="13" name="Text 11"/>
          <p:cNvSpPr/>
          <p:nvPr/>
        </p:nvSpPr>
        <p:spPr>
          <a:xfrm>
            <a:off x="3337560" y="2404872"/>
            <a:ext cx="2560320" cy="411480"/>
          </a:xfrm>
          <a:prstGeom prst="rect">
            <a:avLst/>
          </a:prstGeom>
          <a:noFill/>
          <a:ln/>
        </p:spPr>
        <p:txBody>
          <a:bodyPr wrap="square" lIns="0" tIns="0" rIns="0" bIns="0" rtlCol="0" anchor="ctr"/>
          <a:lstStyle/>
          <a:p>
            <a:pPr indent="0" marL="0">
              <a:lnSpc>
                <a:spcPct val="110000"/>
              </a:lnSpc>
              <a:buNone/>
            </a:pPr>
            <a:r>
              <a:rPr lang="en-US" sz="950" dirty="0">
                <a:solidFill>
                  <a:srgbClr val="5B6B7B"/>
                </a:solidFill>
                <a:latin typeface="Calibri" pitchFamily="34" charset="0"/>
                <a:ea typeface="Calibri" pitchFamily="34" charset="-122"/>
                <a:cs typeface="Calibri" pitchFamily="34" charset="-120"/>
              </a:rPr>
              <a:t>rendimiento sostenido</a:t>
            </a:r>
            <a:endParaRPr lang="en-US" sz="950" dirty="0"/>
          </a:p>
        </p:txBody>
      </p:sp>
      <p:sp>
        <p:nvSpPr>
          <p:cNvPr id="14" name="Shape 12"/>
          <p:cNvSpPr/>
          <p:nvPr/>
        </p:nvSpPr>
        <p:spPr>
          <a:xfrm>
            <a:off x="594360" y="3063240"/>
            <a:ext cx="5303520" cy="731520"/>
          </a:xfrm>
          <a:prstGeom prst="roundRect">
            <a:avLst>
              <a:gd name="adj" fmla="val 7500"/>
            </a:avLst>
          </a:prstGeom>
          <a:solidFill>
            <a:srgbClr val="F0F3F6"/>
          </a:solidFill>
          <a:ln w="12700">
            <a:solidFill>
              <a:srgbClr val="333333"/>
            </a:solidFill>
            <a:prstDash val="solid"/>
          </a:ln>
        </p:spPr>
      </p:sp>
      <p:sp>
        <p:nvSpPr>
          <p:cNvPr id="15" name="Text 13"/>
          <p:cNvSpPr/>
          <p:nvPr/>
        </p:nvSpPr>
        <p:spPr>
          <a:xfrm>
            <a:off x="822960" y="3191256"/>
            <a:ext cx="4846320" cy="475488"/>
          </a:xfrm>
          <a:prstGeom prst="rect">
            <a:avLst/>
          </a:prstGeom>
          <a:noFill/>
          <a:ln/>
        </p:spPr>
        <p:txBody>
          <a:bodyPr wrap="square" lIns="0" tIns="0" rIns="0" bIns="0" rtlCol="0" anchor="t"/>
          <a:lstStyle/>
          <a:p>
            <a:pPr indent="0" marL="0">
              <a:lnSpc>
                <a:spcPct val="118000"/>
              </a:lnSpc>
              <a:buNone/>
            </a:pPr>
            <a:r>
              <a:rPr lang="en-US" sz="1000" b="1" dirty="0">
                <a:solidFill>
                  <a:srgbClr val="10202F"/>
                </a:solidFill>
                <a:latin typeface="Calibri" pitchFamily="34" charset="0"/>
                <a:ea typeface="Calibri" pitchFamily="34" charset="-122"/>
                <a:cs typeface="Calibri" pitchFamily="34" charset="-120"/>
              </a:rPr>
              <a:t>Es 200 veces </a:t>
            </a:r>
            <a:pPr indent="0" marL="0">
              <a:lnSpc>
                <a:spcPct val="118000"/>
              </a:lnSpc>
              <a:buNone/>
            </a:pPr>
            <a:r>
              <a:rPr lang="en-US" sz="1000" dirty="0">
                <a:solidFill>
                  <a:srgbClr val="5B6B7B"/>
                </a:solidFill>
                <a:latin typeface="Calibri" pitchFamily="34" charset="0"/>
                <a:ea typeface="Calibri" pitchFamily="34" charset="-122"/>
                <a:cs typeface="Calibri" pitchFamily="34" charset="-120"/>
              </a:rPr>
              <a:t>el volumen máximo que se había medido antes de esta etapa.</a:t>
            </a:r>
            <a:endParaRPr lang="en-US" sz="1000" dirty="0"/>
          </a:p>
        </p:txBody>
      </p:sp>
      <p:sp>
        <p:nvSpPr>
          <p:cNvPr id="16" name="Text 14"/>
          <p:cNvSpPr/>
          <p:nvPr/>
        </p:nvSpPr>
        <p:spPr>
          <a:xfrm>
            <a:off x="6263640" y="1554480"/>
            <a:ext cx="1554480" cy="365760"/>
          </a:xfrm>
          <a:prstGeom prst="rect">
            <a:avLst/>
          </a:prstGeom>
          <a:noFill/>
          <a:ln/>
        </p:spPr>
        <p:txBody>
          <a:bodyPr wrap="square" lIns="0" tIns="0" rIns="0" bIns="0" rtlCol="0" anchor="ctr"/>
          <a:lstStyle/>
          <a:p>
            <a:pPr algn="l" indent="0" marL="0">
              <a:buNone/>
            </a:pPr>
            <a:r>
              <a:rPr lang="en-US" sz="850" b="1" spc="80" kern="0" dirty="0">
                <a:solidFill>
                  <a:srgbClr val="5B6B7B"/>
                </a:solidFill>
                <a:latin typeface="Calibri" pitchFamily="34" charset="0"/>
                <a:ea typeface="Calibri" pitchFamily="34" charset="-122"/>
                <a:cs typeface="Calibri" pitchFamily="34" charset="-120"/>
              </a:rPr>
              <a:t>TRANSACCIONES</a:t>
            </a:r>
            <a:endParaRPr lang="en-US" sz="850" dirty="0"/>
          </a:p>
        </p:txBody>
      </p:sp>
      <p:sp>
        <p:nvSpPr>
          <p:cNvPr id="17" name="Text 15"/>
          <p:cNvSpPr/>
          <p:nvPr/>
        </p:nvSpPr>
        <p:spPr>
          <a:xfrm>
            <a:off x="7818120" y="1554480"/>
            <a:ext cx="1280160" cy="365760"/>
          </a:xfrm>
          <a:prstGeom prst="rect">
            <a:avLst/>
          </a:prstGeom>
          <a:noFill/>
          <a:ln/>
        </p:spPr>
        <p:txBody>
          <a:bodyPr wrap="square" lIns="0" tIns="0" rIns="0" bIns="0" rtlCol="0" anchor="ctr"/>
          <a:lstStyle/>
          <a:p>
            <a:pPr algn="r" indent="0" marL="0">
              <a:buNone/>
            </a:pPr>
            <a:r>
              <a:rPr lang="en-US" sz="850" b="1" spc="80" kern="0" dirty="0">
                <a:solidFill>
                  <a:srgbClr val="5B6B7B"/>
                </a:solidFill>
                <a:latin typeface="Calibri" pitchFamily="34" charset="0"/>
                <a:ea typeface="Calibri" pitchFamily="34" charset="-122"/>
                <a:cs typeface="Calibri" pitchFamily="34" charset="-120"/>
              </a:rPr>
              <a:t>TOTAL</a:t>
            </a:r>
            <a:endParaRPr lang="en-US" sz="850" dirty="0"/>
          </a:p>
        </p:txBody>
      </p:sp>
      <p:sp>
        <p:nvSpPr>
          <p:cNvPr id="18" name="Text 16"/>
          <p:cNvSpPr/>
          <p:nvPr/>
        </p:nvSpPr>
        <p:spPr>
          <a:xfrm>
            <a:off x="9098280" y="1554480"/>
            <a:ext cx="1280160" cy="365760"/>
          </a:xfrm>
          <a:prstGeom prst="rect">
            <a:avLst/>
          </a:prstGeom>
          <a:noFill/>
          <a:ln/>
        </p:spPr>
        <p:txBody>
          <a:bodyPr wrap="square" lIns="0" tIns="0" rIns="0" bIns="0" rtlCol="0" anchor="ctr"/>
          <a:lstStyle/>
          <a:p>
            <a:pPr algn="r" indent="0" marL="0">
              <a:buNone/>
            </a:pPr>
            <a:r>
              <a:rPr lang="en-US" sz="850" b="1" spc="80" kern="0" dirty="0">
                <a:solidFill>
                  <a:srgbClr val="5B6B7B"/>
                </a:solidFill>
                <a:latin typeface="Calibri" pitchFamily="34" charset="0"/>
                <a:ea typeface="Calibri" pitchFamily="34" charset="-122"/>
                <a:cs typeface="Calibri" pitchFamily="34" charset="-120"/>
              </a:rPr>
              <a:t>LATENCIA</a:t>
            </a:r>
            <a:endParaRPr lang="en-US" sz="850" dirty="0"/>
          </a:p>
        </p:txBody>
      </p:sp>
      <p:sp>
        <p:nvSpPr>
          <p:cNvPr id="19" name="Text 17"/>
          <p:cNvSpPr/>
          <p:nvPr/>
        </p:nvSpPr>
        <p:spPr>
          <a:xfrm>
            <a:off x="10378440" y="1554480"/>
            <a:ext cx="1188720" cy="365760"/>
          </a:xfrm>
          <a:prstGeom prst="rect">
            <a:avLst/>
          </a:prstGeom>
          <a:noFill/>
          <a:ln/>
        </p:spPr>
        <p:txBody>
          <a:bodyPr wrap="square" lIns="0" tIns="0" rIns="0" bIns="0" rtlCol="0" anchor="ctr"/>
          <a:lstStyle/>
          <a:p>
            <a:pPr algn="r" indent="0" marL="0">
              <a:buNone/>
            </a:pPr>
            <a:r>
              <a:rPr lang="en-US" sz="850" b="1" spc="80" kern="0" dirty="0">
                <a:solidFill>
                  <a:srgbClr val="5B6B7B"/>
                </a:solidFill>
                <a:latin typeface="Calibri" pitchFamily="34" charset="0"/>
                <a:ea typeface="Calibri" pitchFamily="34" charset="-122"/>
                <a:cs typeface="Calibri" pitchFamily="34" charset="-120"/>
              </a:rPr>
              <a:t>P95</a:t>
            </a:r>
            <a:endParaRPr lang="en-US" sz="850" dirty="0"/>
          </a:p>
        </p:txBody>
      </p:sp>
      <p:sp>
        <p:nvSpPr>
          <p:cNvPr id="20" name="Shape 18"/>
          <p:cNvSpPr/>
          <p:nvPr/>
        </p:nvSpPr>
        <p:spPr>
          <a:xfrm>
            <a:off x="6263640" y="1901952"/>
            <a:ext cx="5303520" cy="16459"/>
          </a:xfrm>
          <a:prstGeom prst="rect">
            <a:avLst/>
          </a:prstGeom>
          <a:solidFill>
            <a:srgbClr val="DDE3E9"/>
          </a:solidFill>
          <a:ln w="12700">
            <a:solidFill>
              <a:srgbClr val="333333"/>
            </a:solidFill>
            <a:prstDash val="solid"/>
          </a:ln>
        </p:spPr>
      </p:sp>
      <p:sp>
        <p:nvSpPr>
          <p:cNvPr id="21" name="Text 19"/>
          <p:cNvSpPr/>
          <p:nvPr/>
        </p:nvSpPr>
        <p:spPr>
          <a:xfrm>
            <a:off x="6263640" y="1920240"/>
            <a:ext cx="155448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1.000</a:t>
            </a:r>
            <a:endParaRPr lang="en-US" sz="1000" dirty="0"/>
          </a:p>
        </p:txBody>
      </p:sp>
      <p:sp>
        <p:nvSpPr>
          <p:cNvPr id="22" name="Text 20"/>
          <p:cNvSpPr/>
          <p:nvPr/>
        </p:nvSpPr>
        <p:spPr>
          <a:xfrm>
            <a:off x="7818120" y="1920240"/>
            <a:ext cx="1280160" cy="365760"/>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46,4 s</a:t>
            </a:r>
            <a:endParaRPr lang="en-US" sz="1000" dirty="0"/>
          </a:p>
        </p:txBody>
      </p:sp>
      <p:sp>
        <p:nvSpPr>
          <p:cNvPr id="23" name="Text 21"/>
          <p:cNvSpPr/>
          <p:nvPr/>
        </p:nvSpPr>
        <p:spPr>
          <a:xfrm>
            <a:off x="9098280" y="1920240"/>
            <a:ext cx="1280160" cy="365760"/>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3,41 s</a:t>
            </a:r>
            <a:endParaRPr lang="en-US" sz="1000" dirty="0"/>
          </a:p>
        </p:txBody>
      </p:sp>
      <p:sp>
        <p:nvSpPr>
          <p:cNvPr id="24" name="Text 22"/>
          <p:cNvSpPr/>
          <p:nvPr/>
        </p:nvSpPr>
        <p:spPr>
          <a:xfrm>
            <a:off x="10378440" y="1920240"/>
            <a:ext cx="1188720" cy="365760"/>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3,75 s</a:t>
            </a:r>
            <a:endParaRPr lang="en-US" sz="1000" dirty="0"/>
          </a:p>
        </p:txBody>
      </p:sp>
      <p:sp>
        <p:nvSpPr>
          <p:cNvPr id="25" name="Shape 23"/>
          <p:cNvSpPr/>
          <p:nvPr/>
        </p:nvSpPr>
        <p:spPr>
          <a:xfrm>
            <a:off x="6263640" y="2276856"/>
            <a:ext cx="5303520" cy="7315"/>
          </a:xfrm>
          <a:prstGeom prst="rect">
            <a:avLst/>
          </a:prstGeom>
          <a:solidFill>
            <a:srgbClr val="DDE3E9"/>
          </a:solidFill>
          <a:ln w="12700">
            <a:solidFill>
              <a:srgbClr val="333333"/>
            </a:solidFill>
            <a:prstDash val="solid"/>
          </a:ln>
        </p:spPr>
      </p:sp>
      <p:sp>
        <p:nvSpPr>
          <p:cNvPr id="26" name="Text 24"/>
          <p:cNvSpPr/>
          <p:nvPr/>
        </p:nvSpPr>
        <p:spPr>
          <a:xfrm>
            <a:off x="6263640" y="2286000"/>
            <a:ext cx="1554480" cy="365760"/>
          </a:xfrm>
          <a:prstGeom prst="rect">
            <a:avLst/>
          </a:prstGeom>
          <a:noFill/>
          <a:ln/>
        </p:spPr>
        <p:txBody>
          <a:bodyPr wrap="square" lIns="0" tIns="0" rIns="0" bIns="0" rtlCol="0" anchor="ctr"/>
          <a:lstStyle/>
          <a:p>
            <a:pPr algn="l" indent="0" marL="0">
              <a:buNone/>
            </a:pPr>
            <a:r>
              <a:rPr lang="en-US" sz="1000" dirty="0">
                <a:solidFill>
                  <a:srgbClr val="10202F"/>
                </a:solidFill>
                <a:latin typeface="Calibri" pitchFamily="34" charset="0"/>
                <a:ea typeface="Calibri" pitchFamily="34" charset="-122"/>
                <a:cs typeface="Calibri" pitchFamily="34" charset="-120"/>
              </a:rPr>
              <a:t>10.000</a:t>
            </a:r>
            <a:endParaRPr lang="en-US" sz="1000" dirty="0"/>
          </a:p>
        </p:txBody>
      </p:sp>
      <p:sp>
        <p:nvSpPr>
          <p:cNvPr id="27" name="Text 25"/>
          <p:cNvSpPr/>
          <p:nvPr/>
        </p:nvSpPr>
        <p:spPr>
          <a:xfrm>
            <a:off x="7818120" y="2286000"/>
            <a:ext cx="1280160" cy="365760"/>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266,6 s</a:t>
            </a:r>
            <a:endParaRPr lang="en-US" sz="1000" dirty="0"/>
          </a:p>
        </p:txBody>
      </p:sp>
      <p:sp>
        <p:nvSpPr>
          <p:cNvPr id="28" name="Text 26"/>
          <p:cNvSpPr/>
          <p:nvPr/>
        </p:nvSpPr>
        <p:spPr>
          <a:xfrm>
            <a:off x="9098280" y="2286000"/>
            <a:ext cx="1280160" cy="365760"/>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6,61 s</a:t>
            </a:r>
            <a:endParaRPr lang="en-US" sz="1000" dirty="0"/>
          </a:p>
        </p:txBody>
      </p:sp>
      <p:sp>
        <p:nvSpPr>
          <p:cNvPr id="29" name="Text 27"/>
          <p:cNvSpPr/>
          <p:nvPr/>
        </p:nvSpPr>
        <p:spPr>
          <a:xfrm>
            <a:off x="10378440" y="2286000"/>
            <a:ext cx="1188720" cy="365760"/>
          </a:xfrm>
          <a:prstGeom prst="rect">
            <a:avLst/>
          </a:prstGeom>
          <a:noFill/>
          <a:ln/>
        </p:spPr>
        <p:txBody>
          <a:bodyPr wrap="square" lIns="0" tIns="0" rIns="0" bIns="0" rtlCol="0" anchor="ctr"/>
          <a:lstStyle/>
          <a:p>
            <a:pPr algn="r" indent="0" marL="0">
              <a:buNone/>
            </a:pPr>
            <a:r>
              <a:rPr lang="en-US" sz="1000" dirty="0">
                <a:solidFill>
                  <a:srgbClr val="10202F"/>
                </a:solidFill>
                <a:latin typeface="Calibri" pitchFamily="34" charset="0"/>
                <a:ea typeface="Calibri" pitchFamily="34" charset="-122"/>
                <a:cs typeface="Calibri" pitchFamily="34" charset="-120"/>
              </a:rPr>
              <a:t>7,39 s</a:t>
            </a:r>
            <a:endParaRPr lang="en-US" sz="1000" dirty="0"/>
          </a:p>
        </p:txBody>
      </p:sp>
      <p:sp>
        <p:nvSpPr>
          <p:cNvPr id="30" name="Shape 28"/>
          <p:cNvSpPr/>
          <p:nvPr/>
        </p:nvSpPr>
        <p:spPr>
          <a:xfrm>
            <a:off x="6263640" y="2880360"/>
            <a:ext cx="5303520" cy="1371600"/>
          </a:xfrm>
          <a:prstGeom prst="roundRect">
            <a:avLst>
              <a:gd name="adj" fmla="val 4000"/>
            </a:avLst>
          </a:prstGeom>
          <a:solidFill>
            <a:srgbClr val="DCEFE6"/>
          </a:solidFill>
          <a:ln w="12700">
            <a:solidFill>
              <a:srgbClr val="333333"/>
            </a:solidFill>
            <a:prstDash val="solid"/>
          </a:ln>
        </p:spPr>
      </p:sp>
      <p:sp>
        <p:nvSpPr>
          <p:cNvPr id="31" name="Text 29"/>
          <p:cNvSpPr/>
          <p:nvPr/>
        </p:nvSpPr>
        <p:spPr>
          <a:xfrm>
            <a:off x="6492240" y="3008376"/>
            <a:ext cx="4846320" cy="1115568"/>
          </a:xfrm>
          <a:prstGeom prst="rect">
            <a:avLst/>
          </a:prstGeom>
          <a:noFill/>
          <a:ln/>
        </p:spPr>
        <p:txBody>
          <a:bodyPr wrap="square" lIns="0" tIns="0" rIns="0" bIns="0" rtlCol="0" anchor="t"/>
          <a:lstStyle/>
          <a:p>
            <a:pPr indent="0" marL="0">
              <a:lnSpc>
                <a:spcPct val="118000"/>
              </a:lnSpc>
              <a:buNone/>
            </a:pPr>
            <a:r>
              <a:rPr lang="en-US" sz="1000" b="1" dirty="0">
                <a:solidFill>
                  <a:srgbClr val="0B6E4F"/>
                </a:solidFill>
                <a:latin typeface="Calibri" pitchFamily="34" charset="0"/>
                <a:ea typeface="Calibri" pitchFamily="34" charset="-122"/>
                <a:cs typeface="Calibri" pitchFamily="34" charset="-120"/>
              </a:rPr>
              <a:t>Multiplicar el volumen por diez solo duplicó la latencia. </a:t>
            </a:r>
            <a:pPr indent="0" marL="0">
              <a:lnSpc>
                <a:spcPct val="118000"/>
              </a:lnSpc>
              <a:buNone/>
            </a:pPr>
            <a:r>
              <a:rPr lang="en-US" sz="1000" dirty="0">
                <a:solidFill>
                  <a:srgbClr val="5B6B7B"/>
                </a:solidFill>
                <a:latin typeface="Calibri" pitchFamily="34" charset="0"/>
                <a:ea typeface="Calibri" pitchFamily="34" charset="-122"/>
                <a:cs typeface="Calibri" pitchFamily="34" charset="-120"/>
              </a:rPr>
              <a:t>El sistema agrupa transacciones en bloques, así que lo que crece linealmente es el tiempo total, no la espera individual de cada persona.</a:t>
            </a:r>
            <a:endParaRPr lang="en-US" sz="1000" dirty="0"/>
          </a:p>
        </p:txBody>
      </p:sp>
      <p:sp>
        <p:nvSpPr>
          <p:cNvPr id="32" name="Shape 30"/>
          <p:cNvSpPr/>
          <p:nvPr/>
        </p:nvSpPr>
        <p:spPr>
          <a:xfrm>
            <a:off x="594360" y="4434840"/>
            <a:ext cx="10972800" cy="960120"/>
          </a:xfrm>
          <a:prstGeom prst="roundRect">
            <a:avLst>
              <a:gd name="adj" fmla="val 5714"/>
            </a:avLst>
          </a:prstGeom>
          <a:solidFill>
            <a:srgbClr val="F0F3F6"/>
          </a:solidFill>
          <a:ln w="12700">
            <a:solidFill>
              <a:srgbClr val="333333"/>
            </a:solidFill>
            <a:prstDash val="solid"/>
          </a:ln>
        </p:spPr>
      </p:sp>
      <p:sp>
        <p:nvSpPr>
          <p:cNvPr id="33" name="Text 31"/>
          <p:cNvSpPr/>
          <p:nvPr/>
        </p:nvSpPr>
        <p:spPr>
          <a:xfrm>
            <a:off x="822960" y="4562856"/>
            <a:ext cx="10515600" cy="704088"/>
          </a:xfrm>
          <a:prstGeom prst="rect">
            <a:avLst/>
          </a:prstGeom>
          <a:noFill/>
          <a:ln/>
        </p:spPr>
        <p:txBody>
          <a:bodyPr wrap="square" lIns="0" tIns="0" rIns="0" bIns="0" rtlCol="0" anchor="t"/>
          <a:lstStyle/>
          <a:p>
            <a:pPr indent="0" marL="0">
              <a:lnSpc>
                <a:spcPct val="118000"/>
              </a:lnSpc>
              <a:buNone/>
            </a:pPr>
            <a:r>
              <a:rPr lang="en-US" sz="1050" b="1" dirty="0">
                <a:solidFill>
                  <a:srgbClr val="10202F"/>
                </a:solidFill>
                <a:latin typeface="Calibri" pitchFamily="34" charset="0"/>
                <a:ea typeface="Calibri" pitchFamily="34" charset="-122"/>
                <a:cs typeface="Calibri" pitchFamily="34" charset="-120"/>
              </a:rPr>
              <a:t>Cómo hay que leer estos números: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la confirmación es por bloque, así que las 10.000 transacciones se resolvieron en unos 27 bloques — son 27 observaciones independientes, no 10.000. Declararlo importa más que el número en sí.</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6382512"/>
            <a:ext cx="12161520" cy="10973"/>
          </a:xfrm>
          <a:prstGeom prst="rect">
            <a:avLst/>
          </a:prstGeom>
          <a:solidFill>
            <a:srgbClr val="DDE3E9"/>
          </a:solidFill>
          <a:ln w="12700">
            <a:solidFill>
              <a:srgbClr val="333333"/>
            </a:solidFill>
            <a:prstDash val="solid"/>
          </a:ln>
        </p:spPr>
      </p:sp>
      <p:sp>
        <p:nvSpPr>
          <p:cNvPr id="3" name="Text 1"/>
          <p:cNvSpPr/>
          <p:nvPr/>
        </p:nvSpPr>
        <p:spPr>
          <a:xfrm>
            <a:off x="594360" y="6455664"/>
            <a:ext cx="6400800" cy="256032"/>
          </a:xfrm>
          <a:prstGeom prst="rect">
            <a:avLst/>
          </a:prstGeom>
          <a:noFill/>
          <a:ln/>
        </p:spPr>
        <p:txBody>
          <a:bodyPr wrap="square" lIns="0" tIns="0" rIns="0" bIns="0" rtlCol="0" anchor="ctr"/>
          <a:lstStyle/>
          <a:p>
            <a:pPr indent="0" marL="0">
              <a:buNone/>
            </a:pPr>
            <a:r>
              <a:rPr lang="en-US" sz="900" b="1" spc="120" kern="0" dirty="0">
                <a:solidFill>
                  <a:srgbClr val="5B6B7B"/>
                </a:solidFill>
                <a:latin typeface="Calibri" pitchFamily="34" charset="0"/>
                <a:ea typeface="Calibri" pitchFamily="34" charset="-122"/>
                <a:cs typeface="Calibri" pitchFamily="34" charset="-120"/>
              </a:rPr>
              <a:t>CIERRE</a:t>
            </a:r>
            <a:endParaRPr lang="en-US" sz="900" dirty="0"/>
          </a:p>
        </p:txBody>
      </p:sp>
      <p:sp>
        <p:nvSpPr>
          <p:cNvPr id="4" name="Text 2"/>
          <p:cNvSpPr/>
          <p:nvPr/>
        </p:nvSpPr>
        <p:spPr>
          <a:xfrm>
            <a:off x="9738360" y="6455664"/>
            <a:ext cx="1828800" cy="256032"/>
          </a:xfrm>
          <a:prstGeom prst="rect">
            <a:avLst/>
          </a:prstGeom>
          <a:noFill/>
          <a:ln/>
        </p:spPr>
        <p:txBody>
          <a:bodyPr wrap="square" lIns="0" tIns="0" rIns="0" bIns="0" rtlCol="0" anchor="ctr"/>
          <a:lstStyle/>
          <a:p>
            <a:pPr algn="r" indent="0" marL="0">
              <a:buNone/>
            </a:pPr>
            <a:r>
              <a:rPr lang="en-US" sz="900" dirty="0">
                <a:solidFill>
                  <a:srgbClr val="5B6B7B"/>
                </a:solidFill>
                <a:latin typeface="Consolas" pitchFamily="34" charset="0"/>
                <a:ea typeface="Consolas" pitchFamily="34" charset="-122"/>
                <a:cs typeface="Consolas" pitchFamily="34" charset="-120"/>
              </a:rPr>
              <a:t>30 / 30</a:t>
            </a:r>
            <a:endParaRPr lang="en-US" sz="900" dirty="0"/>
          </a:p>
        </p:txBody>
      </p:sp>
      <p:sp>
        <p:nvSpPr>
          <p:cNvPr id="5" name="Shape 3"/>
          <p:cNvSpPr/>
          <p:nvPr/>
        </p:nvSpPr>
        <p:spPr>
          <a:xfrm>
            <a:off x="0" y="6803136"/>
            <a:ext cx="12161520" cy="54864"/>
          </a:xfrm>
          <a:prstGeom prst="rect">
            <a:avLst/>
          </a:prstGeom>
          <a:solidFill>
            <a:srgbClr val="0B6E4F"/>
          </a:solidFill>
          <a:ln w="12700">
            <a:solidFill>
              <a:srgbClr val="333333"/>
            </a:solidFill>
            <a:prstDash val="solid"/>
          </a:ln>
        </p:spPr>
      </p:sp>
      <p:sp>
        <p:nvSpPr>
          <p:cNvPr id="6" name="Text 4"/>
          <p:cNvSpPr/>
          <p:nvPr/>
        </p:nvSpPr>
        <p:spPr>
          <a:xfrm>
            <a:off x="594360" y="365760"/>
            <a:ext cx="10972800" cy="237744"/>
          </a:xfrm>
          <a:prstGeom prst="rect">
            <a:avLst/>
          </a:prstGeom>
          <a:noFill/>
          <a:ln/>
        </p:spPr>
        <p:txBody>
          <a:bodyPr wrap="square" lIns="0" tIns="0" rIns="0" bIns="0" rtlCol="0" anchor="ctr"/>
          <a:lstStyle/>
          <a:p>
            <a:pPr indent="0" marL="0">
              <a:buNone/>
            </a:pPr>
            <a:r>
              <a:rPr lang="en-US" sz="1050" b="1" spc="160" kern="0" dirty="0">
                <a:solidFill>
                  <a:srgbClr val="0B6E4F"/>
                </a:solidFill>
                <a:latin typeface="Calibri" pitchFamily="34" charset="0"/>
                <a:ea typeface="Calibri" pitchFamily="34" charset="-122"/>
                <a:cs typeface="Calibri" pitchFamily="34" charset="-120"/>
              </a:rPr>
              <a:t>CIERRE</a:t>
            </a:r>
            <a:endParaRPr lang="en-US" sz="1050" dirty="0"/>
          </a:p>
        </p:txBody>
      </p:sp>
      <p:sp>
        <p:nvSpPr>
          <p:cNvPr id="7" name="Text 5"/>
          <p:cNvSpPr/>
          <p:nvPr/>
        </p:nvSpPr>
        <p:spPr>
          <a:xfrm>
            <a:off x="594360" y="640080"/>
            <a:ext cx="10972800" cy="658368"/>
          </a:xfrm>
          <a:prstGeom prst="rect">
            <a:avLst/>
          </a:prstGeom>
          <a:noFill/>
          <a:ln/>
        </p:spPr>
        <p:txBody>
          <a:bodyPr wrap="square" lIns="0" tIns="0" rIns="0" bIns="0" rtlCol="0" anchor="ctr"/>
          <a:lstStyle/>
          <a:p>
            <a:pPr indent="0" marL="0">
              <a:buNone/>
            </a:pPr>
            <a:r>
              <a:rPr lang="en-US" sz="2700" b="1" dirty="0">
                <a:solidFill>
                  <a:srgbClr val="10202F"/>
                </a:solidFill>
                <a:latin typeface="Cambria" pitchFamily="34" charset="0"/>
                <a:ea typeface="Cambria" pitchFamily="34" charset="-122"/>
                <a:cs typeface="Cambria" pitchFamily="34" charset="-120"/>
              </a:rPr>
              <a:t>Qué aprendimos construyendo esto</a:t>
            </a:r>
            <a:endParaRPr lang="en-US" sz="2700" dirty="0"/>
          </a:p>
        </p:txBody>
      </p:sp>
      <p:sp>
        <p:nvSpPr>
          <p:cNvPr id="8" name="Shape 6"/>
          <p:cNvSpPr/>
          <p:nvPr/>
        </p:nvSpPr>
        <p:spPr>
          <a:xfrm>
            <a:off x="594360" y="1600200"/>
            <a:ext cx="5303520" cy="1371600"/>
          </a:xfrm>
          <a:prstGeom prst="roundRect">
            <a:avLst>
              <a:gd name="adj" fmla="val 4000"/>
            </a:avLst>
          </a:prstGeom>
          <a:solidFill>
            <a:srgbClr val="DCEFE6"/>
          </a:solidFill>
          <a:ln w="12700">
            <a:solidFill>
              <a:srgbClr val="333333"/>
            </a:solidFill>
            <a:prstDash val="solid"/>
          </a:ln>
        </p:spPr>
      </p:sp>
      <p:sp>
        <p:nvSpPr>
          <p:cNvPr id="9" name="Text 7"/>
          <p:cNvSpPr/>
          <p:nvPr/>
        </p:nvSpPr>
        <p:spPr>
          <a:xfrm>
            <a:off x="822960" y="1728216"/>
            <a:ext cx="4846320" cy="1115568"/>
          </a:xfrm>
          <a:prstGeom prst="rect">
            <a:avLst/>
          </a:prstGeom>
          <a:noFill/>
          <a:ln/>
        </p:spPr>
        <p:txBody>
          <a:bodyPr wrap="square" lIns="0" tIns="0" rIns="0" bIns="0" rtlCol="0" anchor="t"/>
          <a:lstStyle/>
          <a:p>
            <a:pPr indent="0" marL="0">
              <a:lnSpc>
                <a:spcPct val="118000"/>
              </a:lnSpc>
              <a:buNone/>
            </a:pPr>
            <a:r>
              <a:rPr lang="en-US" sz="1050" b="1" dirty="0">
                <a:solidFill>
                  <a:srgbClr val="0B6E4F"/>
                </a:solidFill>
                <a:latin typeface="Calibri" pitchFamily="34" charset="0"/>
                <a:ea typeface="Calibri" pitchFamily="34" charset="-122"/>
                <a:cs typeface="Calibri" pitchFamily="34" charset="-120"/>
              </a:rPr>
              <a:t>Medir no produjo solo números, produjo diagnósticos.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Los dos defectos más importantes no aparecieron programando: aparecieron al preguntarnos por qué un número no cerraba con otro.</a:t>
            </a:r>
            <a:endParaRPr lang="en-US" sz="1050" dirty="0"/>
          </a:p>
        </p:txBody>
      </p:sp>
      <p:sp>
        <p:nvSpPr>
          <p:cNvPr id="10" name="Shape 8"/>
          <p:cNvSpPr/>
          <p:nvPr/>
        </p:nvSpPr>
        <p:spPr>
          <a:xfrm>
            <a:off x="594360" y="3108960"/>
            <a:ext cx="5303520" cy="1234440"/>
          </a:xfrm>
          <a:prstGeom prst="roundRect">
            <a:avLst>
              <a:gd name="adj" fmla="val 4444"/>
            </a:avLst>
          </a:prstGeom>
          <a:solidFill>
            <a:srgbClr val="F0F3F6"/>
          </a:solidFill>
          <a:ln w="12700">
            <a:solidFill>
              <a:srgbClr val="333333"/>
            </a:solidFill>
            <a:prstDash val="solid"/>
          </a:ln>
        </p:spPr>
      </p:sp>
      <p:sp>
        <p:nvSpPr>
          <p:cNvPr id="11" name="Text 9"/>
          <p:cNvSpPr/>
          <p:nvPr/>
        </p:nvSpPr>
        <p:spPr>
          <a:xfrm>
            <a:off x="822960" y="3236976"/>
            <a:ext cx="4846320" cy="978408"/>
          </a:xfrm>
          <a:prstGeom prst="rect">
            <a:avLst/>
          </a:prstGeom>
          <a:noFill/>
          <a:ln/>
        </p:spPr>
        <p:txBody>
          <a:bodyPr wrap="square" lIns="0" tIns="0" rIns="0" bIns="0" rtlCol="0" anchor="t"/>
          <a:lstStyle/>
          <a:p>
            <a:pPr indent="0" marL="0">
              <a:lnSpc>
                <a:spcPct val="118000"/>
              </a:lnSpc>
              <a:buNone/>
            </a:pPr>
            <a:r>
              <a:rPr lang="en-US" sz="1050" b="1" dirty="0">
                <a:solidFill>
                  <a:srgbClr val="10202F"/>
                </a:solidFill>
                <a:latin typeface="Calibri" pitchFamily="34" charset="0"/>
                <a:ea typeface="Calibri" pitchFamily="34" charset="-122"/>
                <a:cs typeface="Calibri" pitchFamily="34" charset="-120"/>
              </a:rPr>
              <a:t>El cuello de botella rara vez está donde uno mira. </a:t>
            </a:r>
            <a:pPr indent="0" marL="0">
              <a:lnSpc>
                <a:spcPct val="118000"/>
              </a:lnSpc>
              <a:buNone/>
            </a:pPr>
            <a:r>
              <a:rPr lang="en-US" sz="1050" dirty="0">
                <a:solidFill>
                  <a:srgbClr val="5B6B7B"/>
                </a:solidFill>
                <a:latin typeface="Calibri" pitchFamily="34" charset="0"/>
                <a:ea typeface="Calibri" pitchFamily="34" charset="-122"/>
                <a:cs typeface="Calibri" pitchFamily="34" charset="-120"/>
              </a:rPr>
              <a:t>Teníamos una GPU 127 veces más rápida y el sistema estaba limitado por cómo repartía el trabajo.</a:t>
            </a:r>
            <a:endParaRPr lang="en-US" sz="1050" dirty="0"/>
          </a:p>
        </p:txBody>
      </p:sp>
      <p:sp>
        <p:nvSpPr>
          <p:cNvPr id="12" name="Text 10"/>
          <p:cNvSpPr/>
          <p:nvPr/>
        </p:nvSpPr>
        <p:spPr>
          <a:xfrm>
            <a:off x="6263640" y="1600200"/>
            <a:ext cx="5303520" cy="274320"/>
          </a:xfrm>
          <a:prstGeom prst="rect">
            <a:avLst/>
          </a:prstGeom>
          <a:noFill/>
          <a:ln/>
        </p:spPr>
        <p:txBody>
          <a:bodyPr wrap="square" lIns="0" tIns="0" rIns="0" bIns="0" rtlCol="0" anchor="ctr"/>
          <a:lstStyle/>
          <a:p>
            <a:pPr indent="0" marL="0">
              <a:buNone/>
            </a:pPr>
            <a:r>
              <a:rPr lang="en-US" sz="1250" b="1" dirty="0">
                <a:solidFill>
                  <a:srgbClr val="10202F"/>
                </a:solidFill>
                <a:latin typeface="Calibri" pitchFamily="34" charset="0"/>
                <a:ea typeface="Calibri" pitchFamily="34" charset="-122"/>
                <a:cs typeface="Calibri" pitchFamily="34" charset="-120"/>
              </a:rPr>
              <a:t>La reflexión incómoda</a:t>
            </a:r>
            <a:endParaRPr lang="en-US" sz="1250" dirty="0"/>
          </a:p>
        </p:txBody>
      </p:sp>
      <p:sp>
        <p:nvSpPr>
          <p:cNvPr id="13" name="Text 11"/>
          <p:cNvSpPr/>
          <p:nvPr/>
        </p:nvSpPr>
        <p:spPr>
          <a:xfrm>
            <a:off x="6263640" y="1965960"/>
            <a:ext cx="5303520" cy="3291840"/>
          </a:xfrm>
          <a:prstGeom prst="rect">
            <a:avLst/>
          </a:prstGeom>
          <a:noFill/>
          <a:ln/>
        </p:spPr>
        <p:txBody>
          <a:bodyPr wrap="square" lIns="0" tIns="0" rIns="0" bIns="0" rtlCol="0" anchor="ctr"/>
          <a:lstStyle/>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Una blockchain propia con Proof of Work </a:t>
            </a:r>
            <a:pPr indent="0" marL="0">
              <a:lnSpc>
                <a:spcPct val="115000"/>
              </a:lnSpc>
              <a:buNone/>
            </a:pPr>
            <a:r>
              <a:rPr lang="en-US" sz="1050" b="1" dirty="0">
                <a:solidFill>
                  <a:srgbClr val="10202F"/>
                </a:solidFill>
                <a:latin typeface="Calibri" pitchFamily="34" charset="0"/>
                <a:ea typeface="Calibri" pitchFamily="34" charset="-122"/>
                <a:cs typeface="Calibri" pitchFamily="34" charset="-120"/>
              </a:rPr>
              <a:t>no es la solución correcta para vender entradas</a:t>
            </a:r>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 El Proof of Work existe para lograr consenso entre partes que no confían entre sí, y acá hay un operador único que ya es la autoridad: se paga el costo del consenso descentralizado sin obtener su beneficio.</a:t>
            </a:r>
            <a:endParaRPr lang="en-US" sz="1050" dirty="0"/>
          </a:p>
          <a:p>
            <a:pPr indent="0" marL="0">
              <a:lnSpc>
                <a:spcPct val="115000"/>
              </a:lnSpc>
              <a:buNone/>
            </a:pPr>
            <a:endParaRPr lang="en-US" sz="1050" dirty="0"/>
          </a:p>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Lo que sí resuelve un problema real es el modelo de propiedad criptográfica: entradas que no se pueden duplicar ni usar dos veces, y un asistente que puede probar que la entrada es suya sin depender de la palabra del emisor.</a:t>
            </a:r>
            <a:endParaRPr lang="en-US" sz="1050" dirty="0"/>
          </a:p>
          <a:p>
            <a:pPr indent="0" marL="0">
              <a:lnSpc>
                <a:spcPct val="115000"/>
              </a:lnSpc>
              <a:buNone/>
            </a:pPr>
            <a:endParaRPr lang="en-US" sz="1050" dirty="0"/>
          </a:p>
          <a:p>
            <a:pPr indent="0" marL="0">
              <a:lnSpc>
                <a:spcPct val="115000"/>
              </a:lnSpc>
              <a:buNone/>
            </a:pPr>
            <a:r>
              <a:rPr lang="en-US" sz="1050" dirty="0">
                <a:solidFill>
                  <a:srgbClr val="5B6B7B"/>
                </a:solidFill>
                <a:latin typeface="Calibri" pitchFamily="34" charset="0"/>
                <a:ea typeface="Calibri" pitchFamily="34" charset="-122"/>
                <a:cs typeface="Calibri" pitchFamily="34" charset="-120"/>
              </a:rPr>
              <a:t>El valor de haberlo construido desde cero es entender qué aporta cada pieza — y cuál no hacía falta.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Tesera — Sistema de entradas con blockchain propia</dc:title>
  <dc:subject>PptxGenJS Presentation</dc:subject>
  <dc:creator>Equipo SDyPP — UNLU</dc:creator>
  <cp:lastModifiedBy>Equipo SDyPP — UNLU</cp:lastModifiedBy>
  <cp:revision>1</cp:revision>
  <dcterms:created xsi:type="dcterms:W3CDTF">2026-08-06T20:57:19Z</dcterms:created>
  <dcterms:modified xsi:type="dcterms:W3CDTF">2026-08-06T20:57:19Z</dcterms:modified>
</cp:coreProperties>
</file>