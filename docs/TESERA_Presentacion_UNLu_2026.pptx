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57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6B6D4"/>
                </a:solidFill>
              </a:defRPr>
            </a:pPr>
            <a:r>
              <a:t>TESERA</a:t>
            </a:r>
          </a:p>
          <a:p>
            <a:pPr>
              <a:defRPr sz="1800">
                <a:solidFill>
                  <a:srgbClr val="F3F4F6"/>
                </a:solidFill>
              </a:defRPr>
            </a:pPr>
            <a:r>
              <a:t>Sistema de venta de entradas donde cada entrada es un activo criptográfico en una blockchain propia con Proof of Work.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926080" cy="201168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Pilar 1 · CUDA y GPU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Aceleración de cómputo para fuerza bruta de MD5 y benchmarks contra CPU.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840480"/>
            <a:ext cx="2926080" cy="201168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Pilar 2 · Blockchain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Arquitectura distribuida en 5 iteraciones con coordinadores y colas.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3840480"/>
            <a:ext cx="2926080" cy="201168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Pilar 3 · Infraestructura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Despliegue multi-cluster en GKE, IaC y observabilidad completa.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CONTEXTO Y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El Problema de la Ticketing Tradicional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Una entrada NO es una fila en una base de datos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La venta de entradas sufre dos problemas principales:</a:t>
            </a:r>
            <a:br/>
            <a:br/>
            <a:r>
              <a:t>1. Duplicación: La misma entrada vendida o usada dos veces.</a:t>
            </a:r>
            <a:br/>
            <a:r>
              <a:t>2. Reventa fraudulenta: El comprador no puede verificar la propiedad real.</a:t>
            </a:r>
            <a:br/>
            <a:br/>
            <a:r>
              <a:t>En un sistema centralizado, validar una entrada exige confiar ciegamente en el emisor.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La Propuesta Tesera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Cada entrada pertenece a una clave pública y cada transferencia va firmada criptográficamente.</a:t>
            </a:r>
            <a:br/>
            <a:br/>
            <a:r>
              <a:t>✓ No se puede duplicar: Propiedad única en la cadena.</a:t>
            </a:r>
            <a:br/>
            <a:r>
              <a:t>✓ No se puede usar dos veces: Validar transfiere la entrada.</a:t>
            </a:r>
            <a:br/>
            <a:r>
              <a:t>✓ No requiere confianza: La firma se verifica sola.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VISIÓN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Cómo está compuesto 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3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347472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Pilar 1 · GPU CUDA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7 hitos progresivos: de 'hola mundo' a fuerza bruta MD5 con rango acotado.</a:t>
            </a:r>
            <a:br/>
            <a:br/>
            <a:r>
              <a:t>➜ Produce el binario que mina.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34747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Pilar 2 · Blockchain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5 iteraciones: de nodo monolítico a arquitectura con coordinador, repartidor y colas.</a:t>
            </a:r>
            <a:br/>
            <a:br/>
            <a:r>
              <a:t>➜ Produce la cadena y el consenso.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291840" cy="347472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Pilar 3 · Infraestructura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IaC en Google Cloud, 2 clústeres Kubernetes, 5 pipelines y observabilidad.</a:t>
            </a:r>
            <a:br/>
            <a:br/>
            <a:r>
              <a:t>➜ Produce el entorno operativo.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607040" cy="100584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>
                <a:solidFill>
                  <a:srgbClr val="F3F4F6"/>
                </a:solidFill>
              </a:defRPr>
            </a:pPr>
            <a:r>
              <a:t>Capa Integradora: Aplicación web que gestiona eventos y entradas, firma transacciones en el navegador y dialoga con la blockchain.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1 ·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De 'Hola Mundo' en CUDA a Minero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4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Hitos Progresivos (1 a 6)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Hitos 1 a 3: Entorno CUDA, bloques, threads y bibliotecas.</a:t>
            </a:r>
            <a:br/>
            <a:r>
              <a:t>• Hito 4: Implementación de MD5 en CUDA comparada contra Python.</a:t>
            </a:r>
            <a:br/>
            <a:r>
              <a:t>• Hitos 5 y 6: Fuerza bruta de nonce sin límite y benchmark de tiempo.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Hito 7 · Clave para el Sistema Distribuido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Fuerza bruta sobre un rango acotado [inicio, fin].</a:t>
            </a:r>
            <a:br/>
            <a:br/>
            <a:r>
              <a:t>¿Por qué es vital?</a:t>
            </a:r>
            <a:br/>
            <a:r>
              <a:t>Sin la capacidad de buscar en rangos acotados, no habría forma de dividir el espacio de nonces entre múltiples mineros. El Pilar 2 depende 100% de esta firma.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1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GPU contra CPU: Dónde conviene cada 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5 / 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627017">
                <a:tc>
                  <a:txBody>
                    <a:bodyPr/>
                    <a:lstStyle/>
                    <a:p>
                      <a:r>
                        <a:t>PREFIJO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NONCE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GPU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CPU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ACELERACIÓN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0,85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0,02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0,02×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00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0,92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0,06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0,07×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000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5.519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0,92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6,01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6,5×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0000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16.374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0,91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17,20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18,9×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00000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105.281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1,78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115,41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64,8×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t>000000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1.736.235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15,05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1.919,94 ms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127,6×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63840" y="1645920"/>
            <a:ext cx="3474720" cy="43891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Conclusiones del Benchmark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1. Prefijos cortos: Gana CPU por overhead de lanzamiento del kernel.</a:t>
            </a:r>
            <a:br/>
            <a:br/>
            <a:r>
              <a:t>2. Punto de cruce: Ocurre entre 2 y 3 ceros.</a:t>
            </a:r>
            <a:br/>
            <a:br/>
            <a:r>
              <a:t>3. Escalabilidad: En 6 ceros, la GPU es 127,6 veces más rápida que la CPU.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2 ·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Cinco Iteraciones de Evolución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6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43891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P1 · Monolítico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Un proceso acepta, mina y guarda en memoria.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2011680" cy="43891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P2 · Distribuido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Se separa el minado. Aparecen colas y workers.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645920"/>
            <a:ext cx="2011680" cy="43891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P3 · Persistencia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El estado pasa a Redis y sobrevive a reinicios.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199" y="1645920"/>
            <a:ext cx="2011680" cy="43891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P4 · Endurecido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Lock distribuido y dificultad dinámica.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1645920"/>
            <a:ext cx="2011680" cy="43891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P5 · Final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Repartidor, respaldo a CPU, tickets y observabilidad.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2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Servicios Principales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7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219456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NCT · Nodo Coordinador de Tareas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Autoridad. Expone API, verifica firmas, arma bloques, valida PoW y escribe en la cadena.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219456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TrP · Repartidor de Tareas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Divide el espacio de nonces, vigila la GPU y dispara el respaldo a CPU si la GPU cae.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210312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Worker GPU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Minero acelerado que envuelve el binario CUDA del Pilar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114800"/>
            <a:ext cx="5120640" cy="2103120"/>
          </a:xfrm>
          <a:prstGeom prst="rect">
            <a:avLst/>
          </a:prstGeom>
          <a:solidFill>
            <a:srgbClr val="1218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Worker CPU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Minero de respaldo en Python puro. Inicia apagado y se activa ante caídas.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2 · FLUJO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Qué pasa cuando se emiten entradas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8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201168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1. Firma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App firma en navegador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645920"/>
            <a:ext cx="3291840" cy="201168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2. Verifica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NCT encola transacción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645920"/>
            <a:ext cx="3291840" cy="201168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3. Bloque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NCT arma el bloque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3291840" cy="201168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4. Reparte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TrP divide el rango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023360"/>
            <a:ext cx="3291840" cy="201168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5. Mina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Workers buscan nonce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4023360"/>
            <a:ext cx="3291840" cy="201168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6. Confirma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NCT valida y aplica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2 · COMUNICACIÓN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Colas RabbitMQ y Estado en Redis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9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RabbitMQ (4 Colas Cifradas TLS)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tareas_pool: NCT ➔ TrP (bloque a minar)</a:t>
            </a:r>
            <a:br/>
            <a:r>
              <a:t>• tareas: TrP ➔ Mineros (fragmentos)</a:t>
            </a:r>
            <a:br/>
            <a:r>
              <a:t>• soluciones: Mineros ➔ NCT (nonce hallado)</a:t>
            </a:r>
            <a:br/>
            <a:r>
              <a:t>• heartbeat_gpu: GPU ➔ TrP (latido cada 10s)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Redis (Persistencia a Disco)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blockchain: Cadena de bloques completa</a:t>
            </a:r>
            <a:br/>
            <a:r>
              <a:t>• pending_transactions: Transacciones en espera</a:t>
            </a:r>
            <a:br/>
            <a:r>
              <a:t>• ticket_owner:{id}: Índice de propiedad de entradas</a:t>
            </a:r>
            <a:br/>
            <a:r>
              <a:t>• minando / heartbeat:{worker}: Lock y estados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2 · PROTOCOLO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Cómo se reparte el trabajo entre mineros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10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Modo Cooperativo (Utilizado)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El espacio se parte en fragmentos disjuntos. Cada minero barre un tramo único.</a:t>
            </a:r>
            <a:br/>
            <a:br/>
            <a:r>
              <a:t>• minero 1 ➔ [0 – 2.5M)</a:t>
            </a:r>
            <a:br/>
            <a:r>
              <a:t>• minero 2 ➔ [2.5M – 5M)</a:t>
            </a:r>
            <a:br/>
            <a:br/>
            <a:r>
              <a:t>Con N mineros se recorre N veces más rápido.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Modo Competitivo (Medido)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Todos reciben el rango completo y compiten.</a:t>
            </a:r>
            <a:br/>
            <a:br/>
            <a:r>
              <a:t>• minero 1 ➔ [0 – 10M)</a:t>
            </a:r>
            <a:br/>
            <a:r>
              <a:t>• minero 2 ➔ [0 – 10M)</a:t>
            </a:r>
            <a:br/>
            <a:br/>
            <a:r>
              <a:t>Útil en redes públicas sin confianza, pero no acelera la búsqueda.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2 · RESILIENCIA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Estrategias de Tolerancia a Fallos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11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Si Desaparece la GPU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1. GPU late cada 10s (expira a 30s).</a:t>
            </a:r>
            <a:br/>
            <a:r>
              <a:t>2. Tras 45s de inactividad (vencimiento + revisión), el Repartidor declara muerta la GPU.</a:t>
            </a:r>
            <a:br/>
            <a:r>
              <a:t>3. Reduce la dificultad y enciende mineros CPU.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Si Falla un Worker a Mitad de Trabajo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Confirmación diferida: El mensaje se reentrega si no hay ACK.</a:t>
            </a:r>
            <a:br/>
            <a:r>
              <a:t>• Reintento acotado: Mensaje inválido se descarta tras 1 reintento.</a:t>
            </a:r>
            <a:br/>
            <a:r>
              <a:t>• Tiempo límite: Se abandona el bloque si nadie responde.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APLICACIÓN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La capa que integra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12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292608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Para el Organizador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Crea eventos, emite entradas a la cadena y las valida en puerta.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292608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Para el Asistente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Compra entradas, las guarda de forma segura y puede revenderlas.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291840" cy="292608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Pagos &amp; Monitor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Pasarela real con reembolsos automáticos si falla la cadena.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607040" cy="1371600"/>
          </a:xfrm>
          <a:prstGeom prst="rect">
            <a:avLst/>
          </a:prstGeom>
          <a:solidFill>
            <a:srgbClr val="1218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Invariante de Diseño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Plata adentro significa entrada entregada, o plata de vuelta.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APLICACIÓN · CRIPTOGRAFÍA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Modelo Criptográfico de Identidad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13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Custodia de Clave Privada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Se genera en el navegador y nunca sale sin cifrar.</a:t>
            </a:r>
            <a:br/>
            <a:r>
              <a:t>• El servidor solo almacena el bloque cifrado con la contraseña del usuario.</a:t>
            </a:r>
            <a:br/>
            <a:r>
              <a:t>• Sin recuperación: Si olvida la contraseña, pierde la clave.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Firma y Canonización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Firma: Curva elíptica P-256 con SHA-256 (64 bytes).</a:t>
            </a:r>
            <a:br/>
            <a:r>
              <a:t>• JSON Canónico: Claves ordenadas estrictamente en cliente y servidor para asegurar coincidencia de hashes.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APLICACIÓN · CICLO DE VIDA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De la emisión a la puerta del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14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07040" cy="164592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Validar es Transferir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No existe un campo 'usada'. Al validar en puerta, la entrada se transfiere de vuelta al organizador. Un código usado no verificará porque el dueño ya no coincide.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2468880" cy="25603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1. Emisión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Organizador firma y emite a su nombre.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566160"/>
            <a:ext cx="2468880" cy="25603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2. Compra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Pago se confirma y transfiere al asistente.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566160"/>
            <a:ext cx="2468880" cy="256032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3. Reventa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Asistente transfiere a otro comprador.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3566160"/>
            <a:ext cx="2377440" cy="256032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4. Validación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Entrada vuelve al organizador.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3 · INFRAESTRUCTURA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Dos Clústeres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15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Clúster Propio (Google GKE)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Aloja todo el sistema principal:</a:t>
            </a:r>
            <a:br/>
            <a:r>
              <a:t>• Aplicación web y Postgres</a:t>
            </a:r>
            <a:br/>
            <a:r>
              <a:t>• Coordinador, Repartidor y Redis</a:t>
            </a:r>
            <a:br/>
            <a:r>
              <a:t>• Colas RabbitMQ y Observabilidad</a:t>
            </a:r>
            <a:br/>
            <a:r>
              <a:t>• 3 Node Pools diferenciados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Clúster del Docente (GPU)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Aloja la capacidad acelerada:</a:t>
            </a:r>
            <a:br/>
            <a:r>
              <a:t>• Servidor GPU y mineros de placas físicas</a:t>
            </a:r>
            <a:br/>
            <a:r>
              <a:t>• Conectado por IP pública mediante TLS cifrado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3 ·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Cómo están declarados los 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16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070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Inventario Total de Cargas de Trabajo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14 Deployments (Frontend, NCT, TrP, Worker CPU)</a:t>
            </a:r>
            <a:br/>
            <a:r>
              <a:t>• 3 StatefulSets (Postgres, Redis, RabbitMQ)</a:t>
            </a:r>
            <a:br/>
            <a:r>
              <a:t>• 2 DaemonSets (Agentes de observabilidad)</a:t>
            </a:r>
            <a:br/>
            <a:r>
              <a:t>• 12 Services, 1 Ingress Certificado y HPA de autoscaling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3 ·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Deployment o StatefulSet: Por qué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17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Deployment (Sin Estado)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Réplicas anónimas e intercambiables. Si una cae, Kubernetes levanta otra en cualquier nodo.</a:t>
            </a:r>
            <a:br/>
            <a:br/>
            <a:r>
              <a:t>Aplicado a: Frontend, Coordinador, Repartidor y Workers.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StatefulSet (Con Estado)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Nombre estable y discos propios por réplica. Evita que dos procesos pisen los mismos archivos de datos.</a:t>
            </a:r>
            <a:br/>
            <a:br/>
            <a:r>
              <a:t>Aplicado a: Postgres, Redis y RabbitMQ.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3 ·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Aislamiento de Cargas por Node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18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pool infra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Sin marcas. Aloja Redis, RabbitMQ y DNS interno del clúster.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pool apps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Marcado y tolerado. Aloja la app web y servicios blockchain.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pool monitoring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Aislado. Aloja el conjunto de observabilidad (~3GB RAM) sin competir con la BD.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3 ·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Escalado Automático en Dos Niveles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19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Nivel Pod (HPA)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Escala réplicas por uso de procesador:</a:t>
            </a:r>
            <a:br/>
            <a:r>
              <a:t>• Frontend: de 2 a 6 réplicas</a:t>
            </a:r>
            <a:br/>
            <a:r>
              <a:t>• NCT: de 2 a 4 réplicas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Nivel Nodo (Cluster Autoscaler)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Agrega máquinas cuando los pods no tienen lugar:</a:t>
            </a:r>
            <a:br/>
            <a:r>
              <a:t>• pool apps: de 2 a 5 nodos</a:t>
            </a:r>
            <a:br/>
            <a:r>
              <a:t>• pool infra: de 1 a 2 nodos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3 · 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Endurecimiento de Contenedores y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20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Seguridad en Contenedores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Ningún contenedor corre como root.</a:t>
            </a:r>
            <a:br/>
            <a:r>
              <a:t>• Sin capacidades del kernel y sin escalado de privilegios.</a:t>
            </a:r>
            <a:br/>
            <a:r>
              <a:t>• Límites de recursos explícitos en las 12 cargas.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Exposición y Secretos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Ingress como única puerta pública con HTTPS HTTPS.</a:t>
            </a:r>
            <a:br/>
            <a:r>
              <a:t>• Autenticación por Identidad Federada (Workload Identity) sin llaves estáticas.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PILAR 3 · AUTOMATIZACIÓN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Infraestructura como Código y 5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21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Infraestructura como Código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Redes, clústeres, node pools y permisos declarados en código. Levantar el entorno completo es un comando automatizado.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Las 5 Tuberías CI/CD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1. Infraestructura Cloud</a:t>
            </a:r>
            <a:br/>
            <a:r>
              <a:t>2. Servicios Base (Redis/Queues)</a:t>
            </a:r>
            <a:br/>
            <a:r>
              <a:t>3. Aplicaciones Web y Blockchain</a:t>
            </a:r>
            <a:br/>
            <a:r>
              <a:t>4. Mineros GPU</a:t>
            </a:r>
            <a:br/>
            <a:r>
              <a:t>5. Conjunto de Observabilidad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OBSERVABILIDAD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Los Tres Pilares de Telemetría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22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Métricas · Prometheus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Scrapeo cada 15s. 19 métricas propias de negocio.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Logs · Alloy + Loki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Agente por nodo. Recolección estructurada consultable por campo.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Trazas · Tempo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Trazabilidad distribuida atravesando colas RabbitMQ.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OBSERVABILIDAD ·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Qué medimos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23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Del Coordinador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nct_blocks_total</a:t>
            </a:r>
            <a:br/>
            <a:r>
              <a:t>nct_block_mining_seconds</a:t>
            </a:r>
            <a:br/>
            <a:r>
              <a:t>nct_pending_transactions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Del Repartidor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trp_chunks_published_total</a:t>
            </a:r>
            <a:br/>
            <a:r>
              <a:t>trp_gpu_alive</a:t>
            </a:r>
            <a:br/>
            <a:r>
              <a:t>trp_fallback_active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De los Mineros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worker_hashes_total</a:t>
            </a:r>
            <a:br/>
            <a:r>
              <a:t>gpu_mine_duration_seconds</a:t>
            </a:r>
            <a:br/>
            <a:r>
              <a:t>worker_task_latency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OBSERVABILIDAD · TRAZAS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Seguir una operación a través de colas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24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070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Inyección de Contexto en Mensajes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Desafío: En colas de mensajes se pierde el vínculo entre productor y consumidor.</a:t>
            </a:r>
            <a:br/>
            <a:br/>
            <a:r>
              <a:t>Solución: El repartidor inyecta el contexto de traza en el mensaje RabbitMQ y el minero lo extrae. En Grafana se visualiza el recorrido completo end-to-end.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OBSERVABILIDAD · ALERTAS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Reglas de Alerta y Monitoreo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25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Reglas de Alerta Clave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Servidor GPU caído</a:t>
            </a:r>
            <a:br/>
            <a:r>
              <a:t>• Cadena de bloques estancada</a:t>
            </a:r>
            <a:br/>
            <a:r>
              <a:t>• Respaldo CPU prolongado</a:t>
            </a:r>
            <a:br/>
            <a:r>
              <a:t>• Exceso de timeouts en minado</a:t>
            </a:r>
            <a:br/>
            <a:r>
              <a:t>• Caída de Redis o Postgres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Tableros en Grafana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Bloques minados y dificultad exigida</a:t>
            </a:r>
            <a:br/>
            <a:r>
              <a:t>• Hashes por segundo (GPU vs CPU)</a:t>
            </a:r>
            <a:br/>
            <a:r>
              <a:t>• Latencia de colas y tiempo de validación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RESULTADOS MEDIDOS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Cuánto cuesta minar según la dificultad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26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070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Tiempos Medidos vs Calculados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• 4 ceros: 0,1 s (Medido)</a:t>
            </a:r>
            <a:br/>
            <a:r>
              <a:t>• 5 ceros: 1,2 s (Medido)</a:t>
            </a:r>
            <a:br/>
            <a:r>
              <a:t>• 6 ceros: 18,6 s (Medido con 1 minero) ➔ 4,6 s (Con 4 mineros)</a:t>
            </a:r>
            <a:br/>
            <a:r>
              <a:t>• 7 ceros: 4,9 min (Calculado)</a:t>
            </a:r>
            <a:br/>
            <a:br/>
            <a:r>
              <a:t>Rendimiento por minero GPU: 904.373 Hashes/segundo.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RESULTADOS MEDIDOS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Qué gobierna el rendimiento del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27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Fragmentación (Impacto Principal)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Reducir el tamaño del fragmento del 25% al 10% aceleró el minado 5,05 veces.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Cantidad de Mineros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Duplicar mineros (de 1 a 2) aceleró el proceso 2,13 veces.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RESULTADOS MEDIDOS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Defectos corregidos al medir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28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Defecto 1: Espacio Acotado Insuficiente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El rango estaba fijo en 10M cuando la dificultad requería 16,8M. Se ajustó dinámicamente el tamaño del rango.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Defecto 2: Falta de Cancelación Obsoleta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Al hallar solución, los demás fragmentos seguían procesándose. Al implementar cancelación, el tiempo bajó de 250,9s a 37,6s (6,3x más rápido).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RESULTADOS MEDIDOS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Comportamiento bajo carga extrema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29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10.000 / 10.000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Transacciones confirmadas sin ninguna pérdida de datos.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37,5 TX/s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Rendimiento sostenido durante la prueba de volumen.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2918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7,39 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Latencia P95 bajo carga masiva de 10k transacciones.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Lecciones Aprendidas 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30 /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Medir Produce Diagnósticos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El cuello de botella rara vez está en el cómputo puro. Pese a tener una GPU 127x más rápida, la aceleración real se logró optimizando el reparto de trabajo y colas.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218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3F4F6"/>
                </a:solidFill>
              </a:defRPr>
            </a:pPr>
            <a:r>
              <a:t>Reflexión Crítica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Una blockchain PoW no es la solución requerida para vender entradas con un operador centralizado. Sin embargo, el modelo de propiedad criptográfica subyacente resuelve de forma definitiva la duplicación y reventa fraudulenta.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